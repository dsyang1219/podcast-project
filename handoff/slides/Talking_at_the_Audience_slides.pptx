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r with host ideology (DIME, n = 112)</c:v>
                </c:pt>
              </c:strCache>
            </c:strRef>
          </c:tx>
          <c:spPr>
            <a:solidFill>
              <a:srgbClr val="CF7272"/>
            </a:solidFill>
            <a:ln>
              <a:noFill/>
            </a:ln>
          </c:spPr>
          <c:dPt>
            <c:idx val="4"/>
            <c:spPr>
              <a:solidFill>
                <a:srgbClr val="737B87"/>
              </a:solidFill>
            </c:spPr>
          </c:dPt>
          <c:dPt>
            <c:idx val="5"/>
            <c:spPr>
              <a:solidFill>
                <a:srgbClr val="737B87"/>
              </a:solidFill>
            </c:spPr>
          </c:dPt>
          <c:dPt>
            <c:idx val="6"/>
            <c:spPr>
              <a:solidFill>
                <a:srgbClr val="737B87"/>
              </a:solidFill>
            </c:spPr>
          </c:dPt>
          <c:cat>
            <c:strRef>
              <c:f>Sheet1!$A$2:$A$8</c:f>
              <c:strCache>
                <c:ptCount val="7"/>
                <c:pt idx="0">
                  <c:v>Listener-directed address (composite)</c:v>
                </c:pt>
                <c:pt idx="1">
                  <c:v>Imperatives (syntactic)</c:v>
                </c:pt>
                <c:pt idx="2">
                  <c:v>Second-person address</c:v>
                </c:pt>
                <c:pt idx="3">
                  <c:v>Out-group pronouns</c:v>
                </c:pt>
                <c:pt idx="4">
                  <c:v>Insult</c:v>
                </c:pt>
                <c:pt idx="5">
                  <c:v>Hedging</c:v>
                </c:pt>
                <c:pt idx="6">
                  <c:v>Profanity</c:v>
                </c:pt>
              </c:strCache>
            </c:strRef>
          </c:cat>
          <c:val>
            <c:numRef>
              <c:f>Sheet1!$B$2:$B$8</c:f>
              <c:numCache>
                <c:formatCode>General</c:formatCode>
                <c:ptCount val="7"/>
                <c:pt idx="0">
                  <c:v>0.43</c:v>
                </c:pt>
                <c:pt idx="1">
                  <c:v>0.39</c:v>
                </c:pt>
                <c:pt idx="2">
                  <c:v>0.39</c:v>
                </c:pt>
                <c:pt idx="3">
                  <c:v>0.29</c:v>
                </c:pt>
                <c:pt idx="4">
                  <c:v>0.0</c:v>
                </c:pt>
                <c:pt idx="5">
                  <c:v>-0.13</c:v>
                </c:pt>
                <c:pt idx="6">
                  <c:v>-0.17</c:v>
                </c:pt>
              </c:numCache>
            </c:numRef>
          </c:val>
        </c:ser>
        <c:dLbls>
          <c:numFmt formatCode="+0.00;-0.00;0.00" sourceLinked="0"/>
          <c:txPr>
            <a:bodyPr/>
            <a:lstStyle/>
            <a:p>
              <a:pPr>
                <a:defRPr sz="1100">
                  <a:solidFill>
                    <a:srgbClr val="E7E9EC"/>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axMin"/>
        </c:scaling>
        <c:delete val="0"/>
        <c:axPos val="l"/>
        <c:majorTickMark val="out"/>
        <c:minorTickMark val="none"/>
        <c:tickLblPos val="low"/>
        <c:spPr>
          <a:ln>
            <a:solidFill>
              <a:srgbClr val="2C323A"/>
            </a:solidFill>
          </a:ln>
        </c:spPr>
        <c:txPr>
          <a:bodyPr/>
          <a:lstStyle/>
          <a:p>
            <a:pPr>
              <a:defRPr sz="1200">
                <a:solidFill>
                  <a:srgbClr val="E7E9EC"/>
                </a:solidFill>
              </a:defRPr>
            </a:pPr>
          </a:p>
        </c:txPr>
        <c:crossAx val="-2113994440"/>
        <c:crosses val="autoZero"/>
        <c:auto val="1"/>
        <c:lblAlgn val="ctr"/>
        <c:lblOffset val="100"/>
        <c:noMultiLvlLbl val="0"/>
      </c:catAx>
      <c:valAx>
        <c:axId val="-2113994440"/>
        <c:scaling>
          <c:max val="0.6"/>
          <c:min val="-0.3"/>
        </c:scaling>
        <c:delete val="0"/>
        <c:axPos val="b"/>
        <c:majorGridlines>
          <c:spPr>
            <a:ln>
              <a:solidFill>
                <a:srgbClr val="2C323A"/>
              </a:solidFill>
            </a:ln>
          </c:spPr>
        </c:majorGridlines>
        <c:numFmt formatCode="+0.00;-0.00;0.00" sourceLinked="0"/>
        <c:majorTickMark val="out"/>
        <c:minorTickMark val="none"/>
        <c:tickLblPos val="nextTo"/>
        <c:spPr>
          <a:ln>
            <a:noFill/>
          </a:ln>
        </c:spPr>
        <c:txPr>
          <a:bodyPr/>
          <a:lstStyle/>
          <a:p>
            <a:pPr>
              <a:defRPr sz="1100">
                <a:solidFill>
                  <a:srgbClr val="B2B8C1"/>
                </a:solidFill>
              </a:defRPr>
            </a:pPr>
          </a:p>
        </c:txPr>
        <c:crossAx val="-2068027336"/>
        <c:crosses val="autoZero"/>
      </c:valAx>
    </c:plotArea>
    <c:dispBlanksAs val="gap"/>
  </c:chart>
  <c:txPr>
    <a:bodyPr/>
    <a:lstStyle/>
    <a:p>
      <a:pPr>
        <a:defRPr sz="1200">
          <a:solidFill>
            <a:srgbClr val="B2B8C1"/>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institutional cynicism, SD units</c:v>
                </c:pt>
              </c:strCache>
            </c:strRef>
          </c:tx>
          <c:spPr>
            <a:solidFill>
              <a:srgbClr val="CF7272"/>
            </a:solidFill>
            <a:ln>
              <a:noFill/>
            </a:ln>
          </c:spPr>
          <c:dPt>
            <c:idx val="1"/>
            <c:spPr>
              <a:solidFill>
                <a:srgbClr val="737B87"/>
              </a:solidFill>
            </c:spPr>
          </c:dPt>
          <c:dPt>
            <c:idx val="2"/>
            <c:spPr>
              <a:solidFill>
                <a:srgbClr val="737B87"/>
              </a:solidFill>
            </c:spPr>
          </c:dPt>
          <c:dPt>
            <c:idx val="3"/>
            <c:spPr>
              <a:solidFill>
                <a:srgbClr val="3E5266"/>
              </a:solidFill>
            </c:spPr>
          </c:dPt>
          <c:dPt>
            <c:idx val="4"/>
            <c:spPr>
              <a:solidFill>
                <a:srgbClr val="3E5266"/>
              </a:solidFill>
            </c:spPr>
          </c:dPt>
          <c:dPt>
            <c:idx val="5"/>
            <c:spPr>
              <a:solidFill>
                <a:srgbClr val="3E5266"/>
              </a:solidFill>
            </c:spPr>
          </c:dPt>
          <c:dPt>
            <c:idx val="6"/>
            <c:spPr>
              <a:solidFill>
                <a:srgbClr val="3E5266"/>
              </a:solidFill>
            </c:spPr>
          </c:dPt>
          <c:dPt>
            <c:idx val="7"/>
            <c:spPr>
              <a:solidFill>
                <a:srgbClr val="3E5266"/>
              </a:solidFill>
            </c:spPr>
          </c:dPt>
          <c:cat>
            <c:strRef>
              <c:f>Sheet1!$A$2:$A$9</c:f>
              <c:strCache>
                <c:ptCount val="8"/>
                <c:pt idx="0">
                  <c:v>Podcast-only diet (4.3% of adults)</c:v>
                </c:pt>
                <c:pt idx="1">
                  <c:v>Platform-only diet (16.6%)</c:v>
                </c:pt>
                <c:pt idx="2">
                  <c:v>Podcast + mainstream (5.5%)</c:v>
                </c:pt>
                <c:pt idx="3">
                  <c:v>Any podcast named vs other news consumers</c:v>
                </c:pt>
                <c:pt idx="4">
                  <c:v>   within Democrats &amp; leaners</c:v>
                </c:pt>
                <c:pt idx="5">
                  <c:v>   within Republicans &amp; leaners</c:v>
                </c:pt>
                <c:pt idx="6">
                  <c:v>   low education</c:v>
                </c:pt>
                <c:pt idx="7">
                  <c:v>   high education</c:v>
                </c:pt>
              </c:strCache>
            </c:strRef>
          </c:cat>
          <c:val>
            <c:numRef>
              <c:f>Sheet1!$B$2:$B$9</c:f>
              <c:numCache>
                <c:formatCode>General</c:formatCode>
                <c:ptCount val="8"/>
                <c:pt idx="0">
                  <c:v>0.269</c:v>
                </c:pt>
                <c:pt idx="1">
                  <c:v>0.178</c:v>
                </c:pt>
                <c:pt idx="2">
                  <c:v>0.132</c:v>
                </c:pt>
                <c:pt idx="3">
                  <c:v>0.218</c:v>
                </c:pt>
                <c:pt idx="4">
                  <c:v>0.188</c:v>
                </c:pt>
                <c:pt idx="5">
                  <c:v>0.152</c:v>
                </c:pt>
                <c:pt idx="6">
                  <c:v>0.34</c:v>
                </c:pt>
                <c:pt idx="7">
                  <c:v>0.35</c:v>
                </c:pt>
              </c:numCache>
            </c:numRef>
          </c:val>
        </c:ser>
        <c:dLbls>
          <c:numFmt formatCode="+0.00;-0.00;0.00" sourceLinked="0"/>
          <c:txPr>
            <a:bodyPr/>
            <a:lstStyle/>
            <a:p>
              <a:pPr>
                <a:defRPr sz="1100">
                  <a:solidFill>
                    <a:srgbClr val="E7E9EC"/>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axMin"/>
        </c:scaling>
        <c:delete val="0"/>
        <c:axPos val="l"/>
        <c:majorTickMark val="out"/>
        <c:minorTickMark val="none"/>
        <c:tickLblPos val="low"/>
        <c:spPr>
          <a:ln>
            <a:solidFill>
              <a:srgbClr val="2C323A"/>
            </a:solidFill>
          </a:ln>
        </c:spPr>
        <c:txPr>
          <a:bodyPr/>
          <a:lstStyle/>
          <a:p>
            <a:pPr>
              <a:defRPr sz="1200">
                <a:solidFill>
                  <a:srgbClr val="E7E9EC"/>
                </a:solidFill>
              </a:defRPr>
            </a:pPr>
          </a:p>
        </c:txPr>
        <c:crossAx val="-2113994440"/>
        <c:crosses val="autoZero"/>
        <c:auto val="1"/>
        <c:lblAlgn val="ctr"/>
        <c:lblOffset val="100"/>
        <c:noMultiLvlLbl val="0"/>
      </c:catAx>
      <c:valAx>
        <c:axId val="-2113994440"/>
        <c:scaling>
          <c:max val="0.45"/>
          <c:min val="0.0"/>
        </c:scaling>
        <c:delete val="0"/>
        <c:axPos val="b"/>
        <c:majorGridlines>
          <c:spPr>
            <a:ln>
              <a:solidFill>
                <a:srgbClr val="2C323A"/>
              </a:solidFill>
            </a:ln>
          </c:spPr>
        </c:majorGridlines>
        <c:numFmt formatCode="+0.00;-0.00;0.00" sourceLinked="0"/>
        <c:majorTickMark val="out"/>
        <c:minorTickMark val="none"/>
        <c:tickLblPos val="nextTo"/>
        <c:spPr>
          <a:ln>
            <a:noFill/>
          </a:ln>
        </c:spPr>
        <c:txPr>
          <a:bodyPr/>
          <a:lstStyle/>
          <a:p>
            <a:pPr>
              <a:defRPr sz="1100">
                <a:solidFill>
                  <a:srgbClr val="B2B8C1"/>
                </a:solidFill>
              </a:defRPr>
            </a:pPr>
          </a:p>
        </c:txPr>
        <c:crossAx val="-2068027336"/>
        <c:crosses val="autoZero"/>
      </c:valAx>
    </c:plotArea>
    <c:dispBlanksAs val="gap"/>
  </c:chart>
  <c:txPr>
    <a:bodyPr/>
    <a:lstStyle/>
    <a:p>
      <a:pPr>
        <a:defRPr sz="1200">
          <a:solidFill>
            <a:srgbClr val="B2B8C1"/>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W155, Sept 2024</c:v>
                </c:pt>
              </c:strCache>
            </c:strRef>
          </c:tx>
          <c:spPr>
            <a:solidFill>
              <a:srgbClr val="3E5266"/>
            </a:solidFill>
            <a:ln>
              <a:noFill/>
            </a:ln>
          </c:spPr>
          <c:cat>
            <c:strRef>
              <c:f>Sheet1!$A$2:$A$5</c:f>
              <c:strCache>
                <c:ptCount val="4"/>
                <c:pt idx="0">
                  <c:v>national news organisations</c:v>
                </c:pt>
                <c:pt idx="1">
                  <c:v>local news organisations</c:v>
                </c:pt>
                <c:pt idx="2">
                  <c:v>social media sites</c:v>
                </c:pt>
                <c:pt idx="3">
                  <c:v>friends, family, acquaintances</c:v>
                </c:pt>
              </c:strCache>
            </c:strRef>
          </c:cat>
          <c:val>
            <c:numRef>
              <c:f>Sheet1!$B$2:$B$5</c:f>
              <c:numCache>
                <c:formatCode>General</c:formatCode>
                <c:ptCount val="4"/>
                <c:pt idx="0">
                  <c:v>-0.066</c:v>
                </c:pt>
                <c:pt idx="1">
                  <c:v>-0.067</c:v>
                </c:pt>
                <c:pt idx="2">
                  <c:v>0.14</c:v>
                </c:pt>
                <c:pt idx="3">
                  <c:v>0.011</c:v>
                </c:pt>
              </c:numCache>
            </c:numRef>
          </c:val>
        </c:ser>
        <c:ser>
          <c:idx val="1"/>
          <c:order val="1"/>
          <c:tx>
            <c:strRef>
              <c:f>Sheet1!$C$1</c:f>
              <c:strCache>
                <c:ptCount val="1"/>
                <c:pt idx="0">
                  <c:v>W165, March 2025</c:v>
                </c:pt>
              </c:strCache>
            </c:strRef>
          </c:tx>
          <c:spPr>
            <a:solidFill>
              <a:srgbClr val="7A2E2E"/>
            </a:solidFill>
            <a:ln>
              <a:noFill/>
            </a:ln>
          </c:spPr>
          <c:cat>
            <c:strRef>
              <c:f>Sheet1!$A$2:$A$5</c:f>
              <c:strCache>
                <c:ptCount val="4"/>
                <c:pt idx="0">
                  <c:v>national news organisations</c:v>
                </c:pt>
                <c:pt idx="1">
                  <c:v>local news organisations</c:v>
                </c:pt>
                <c:pt idx="2">
                  <c:v>social media sites</c:v>
                </c:pt>
                <c:pt idx="3">
                  <c:v>friends, family, acquaintances</c:v>
                </c:pt>
              </c:strCache>
            </c:strRef>
          </c:cat>
          <c:val>
            <c:numRef>
              <c:f>Sheet1!$C$2:$C$5</c:f>
              <c:numCache>
                <c:formatCode>General</c:formatCode>
                <c:ptCount val="4"/>
                <c:pt idx="0">
                  <c:v>-0.083</c:v>
                </c:pt>
                <c:pt idx="1">
                  <c:v>-0.083</c:v>
                </c:pt>
                <c:pt idx="2">
                  <c:v>0.154</c:v>
                </c:pt>
                <c:pt idx="3">
                  <c:v>0.024</c:v>
                </c:pt>
              </c:numCache>
            </c:numRef>
          </c:val>
        </c:ser>
        <c:dLbls>
          <c:numFmt formatCode="+0.000;-0.000;0.000" sourceLinked="0"/>
          <c:txPr>
            <a:bodyPr/>
            <a:lstStyle/>
            <a:p>
              <a:pPr>
                <a:defRPr sz="1100">
                  <a:solidFill>
                    <a:srgbClr val="14171C"/>
                  </a:solidFill>
                </a:defRPr>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axMin"/>
        </c:scaling>
        <c:delete val="0"/>
        <c:axPos val="l"/>
        <c:majorTickMark val="out"/>
        <c:minorTickMark val="none"/>
        <c:tickLblPos val="low"/>
        <c:spPr>
          <a:ln>
            <a:solidFill>
              <a:srgbClr val="D6DBE1"/>
            </a:solidFill>
          </a:ln>
        </c:spPr>
        <c:txPr>
          <a:bodyPr/>
          <a:lstStyle/>
          <a:p>
            <a:pPr>
              <a:defRPr sz="1200">
                <a:solidFill>
                  <a:srgbClr val="14171C"/>
                </a:solidFill>
              </a:defRPr>
            </a:pPr>
          </a:p>
        </c:txPr>
        <c:crossAx val="-2113994440"/>
        <c:crosses val="autoZero"/>
        <c:auto val="1"/>
        <c:lblAlgn val="ctr"/>
        <c:lblOffset val="100"/>
        <c:noMultiLvlLbl val="0"/>
      </c:catAx>
      <c:valAx>
        <c:axId val="-2113994440"/>
        <c:scaling>
          <c:max val="0.2"/>
          <c:min val="-0.12"/>
        </c:scaling>
        <c:delete val="0"/>
        <c:axPos val="b"/>
        <c:majorGridlines>
          <c:spPr>
            <a:ln>
              <a:solidFill>
                <a:srgbClr val="D6DBE1"/>
              </a:solidFill>
            </a:ln>
          </c:spPr>
        </c:majorGridlines>
        <c:numFmt formatCode="+0.000;-0.000;0.000" sourceLinked="0"/>
        <c:majorTickMark val="out"/>
        <c:minorTickMark val="none"/>
        <c:tickLblPos val="nextTo"/>
        <c:spPr>
          <a:ln>
            <a:noFill/>
          </a:ln>
        </c:spPr>
        <c:txPr>
          <a:bodyPr/>
          <a:lstStyle/>
          <a:p>
            <a:pPr>
              <a:defRPr sz="1100">
                <a:solidFill>
                  <a:srgbClr val="434A55"/>
                </a:solidFill>
              </a:defRPr>
            </a:pPr>
          </a:p>
        </c:txPr>
        <c:crossAx val="-2068027336"/>
        <c:crosses val="autoZero"/>
      </c:valAx>
    </c:plotArea>
    <c:legend>
      <c:legendPos val="b"/>
      <c:overlay val="0"/>
      <c:txPr>
        <a:bodyPr/>
        <a:lstStyle/>
        <a:p>
          <a:pPr>
            <a:defRPr sz="1200">
              <a:solidFill>
                <a:srgbClr val="434A55"/>
              </a:solidFill>
              <a:latin typeface="Calibri"/>
            </a:defRPr>
          </a:pPr>
        </a:p>
      </c:txPr>
    </c:legend>
    <c:dispBlanksAs val="gap"/>
  </c:chart>
  <c:txPr>
    <a:bodyPr/>
    <a:lstStyle/>
    <a:p>
      <a:pPr>
        <a:defRPr sz="1200">
          <a:solidFill>
            <a:srgbClr val="434A55"/>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Podcast-only vs mainstream-only</c:v>
                </c:pt>
              </c:strCache>
            </c:strRef>
          </c:tx>
          <c:spPr>
            <a:solidFill>
              <a:srgbClr val="7A2E2E"/>
            </a:solidFill>
            <a:ln>
              <a:noFill/>
            </a:ln>
          </c:spPr>
          <c:cat>
            <c:strRef>
              <c:f>Sheet1!$A$2:$A$6</c:f>
              <c:strCache>
                <c:ptCount val="5"/>
                <c:pt idx="0">
                  <c:v>Media should take direction from government</c:v>
                </c:pt>
                <c:pt idx="1">
                  <c:v>Expand presidential power</c:v>
                </c:pt>
                <c:pt idx="2">
                  <c:v>Bar radicals from office</c:v>
                </c:pt>
                <c:pt idx="3">
                  <c:v>Radicals should be able to protest</c:v>
                </c:pt>
                <c:pt idx="4">
                  <c:v>Strong partisan identification</c:v>
                </c:pt>
              </c:strCache>
            </c:strRef>
          </c:cat>
          <c:val>
            <c:numRef>
              <c:f>Sheet1!$B$2:$B$6</c:f>
              <c:numCache>
                <c:formatCode>General</c:formatCode>
                <c:ptCount val="5"/>
                <c:pt idx="0">
                  <c:v>-0.35</c:v>
                </c:pt>
                <c:pt idx="1">
                  <c:v>-0.17</c:v>
                </c:pt>
                <c:pt idx="2">
                  <c:v>-0.18</c:v>
                </c:pt>
                <c:pt idx="3">
                  <c:v>0.17</c:v>
                </c:pt>
                <c:pt idx="4">
                  <c:v>0.0</c:v>
                </c:pt>
              </c:numCache>
            </c:numRef>
          </c:val>
        </c:ser>
        <c:ser>
          <c:idx val="1"/>
          <c:order val="1"/>
          <c:tx>
            <c:strRef>
              <c:f>Sheet1!$C$1</c:f>
              <c:strCache>
                <c:ptCount val="1"/>
                <c:pt idx="0">
                  <c:v>Platform-only vs mainstream-only</c:v>
                </c:pt>
              </c:strCache>
            </c:strRef>
          </c:tx>
          <c:spPr>
            <a:solidFill>
              <a:srgbClr val="737B87"/>
            </a:solidFill>
            <a:ln>
              <a:noFill/>
            </a:ln>
          </c:spPr>
          <c:cat>
            <c:strRef>
              <c:f>Sheet1!$A$2:$A$6</c:f>
              <c:strCache>
                <c:ptCount val="5"/>
                <c:pt idx="0">
                  <c:v>Media should take direction from government</c:v>
                </c:pt>
                <c:pt idx="1">
                  <c:v>Expand presidential power</c:v>
                </c:pt>
                <c:pt idx="2">
                  <c:v>Bar radicals from office</c:v>
                </c:pt>
                <c:pt idx="3">
                  <c:v>Radicals should be able to protest</c:v>
                </c:pt>
                <c:pt idx="4">
                  <c:v>Strong partisan identification</c:v>
                </c:pt>
              </c:strCache>
            </c:strRef>
          </c:cat>
          <c:val>
            <c:numRef>
              <c:f>Sheet1!$C$2:$C$6</c:f>
              <c:numCache>
                <c:formatCode>General</c:formatCode>
                <c:ptCount val="5"/>
                <c:pt idx="0">
                  <c:v>0.0</c:v>
                </c:pt>
                <c:pt idx="1">
                  <c:v>0.0</c:v>
                </c:pt>
                <c:pt idx="2">
                  <c:v>0.0</c:v>
                </c:pt>
                <c:pt idx="3">
                  <c:v>0.0</c:v>
                </c:pt>
                <c:pt idx="4">
                  <c:v>0.0</c:v>
                </c:pt>
              </c:numCache>
            </c:numRef>
          </c:val>
        </c:ser>
        <c:dLbls>
          <c:numFmt formatCode="+0.00;-0.00;0.00" sourceLinked="0"/>
          <c:txPr>
            <a:bodyPr/>
            <a:lstStyle/>
            <a:p>
              <a:pPr>
                <a:defRPr sz="1100">
                  <a:solidFill>
                    <a:srgbClr val="14171C"/>
                  </a:solidFill>
                </a:defRPr>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axMin"/>
        </c:scaling>
        <c:delete val="0"/>
        <c:axPos val="l"/>
        <c:majorTickMark val="out"/>
        <c:minorTickMark val="none"/>
        <c:tickLblPos val="low"/>
        <c:spPr>
          <a:ln>
            <a:solidFill>
              <a:srgbClr val="D6DBE1"/>
            </a:solidFill>
          </a:ln>
        </c:spPr>
        <c:txPr>
          <a:bodyPr/>
          <a:lstStyle/>
          <a:p>
            <a:pPr>
              <a:defRPr sz="1200">
                <a:solidFill>
                  <a:srgbClr val="14171C"/>
                </a:solidFill>
              </a:defRPr>
            </a:pPr>
          </a:p>
        </c:txPr>
        <c:crossAx val="-2113994440"/>
        <c:crosses val="autoZero"/>
        <c:auto val="1"/>
        <c:lblAlgn val="ctr"/>
        <c:lblOffset val="100"/>
        <c:noMultiLvlLbl val="0"/>
      </c:catAx>
      <c:valAx>
        <c:axId val="-2113994440"/>
        <c:scaling>
          <c:max val="0.3"/>
          <c:min val="-0.45"/>
        </c:scaling>
        <c:delete val="0"/>
        <c:axPos val="b"/>
        <c:majorGridlines>
          <c:spPr>
            <a:ln>
              <a:solidFill>
                <a:srgbClr val="D6DBE1"/>
              </a:solidFill>
            </a:ln>
          </c:spPr>
        </c:majorGridlines>
        <c:numFmt formatCode="+0.00;-0.00;0.00" sourceLinked="0"/>
        <c:majorTickMark val="out"/>
        <c:minorTickMark val="none"/>
        <c:tickLblPos val="nextTo"/>
        <c:spPr>
          <a:ln>
            <a:noFill/>
          </a:ln>
        </c:spPr>
        <c:txPr>
          <a:bodyPr/>
          <a:lstStyle/>
          <a:p>
            <a:pPr>
              <a:defRPr sz="1100">
                <a:solidFill>
                  <a:srgbClr val="434A55"/>
                </a:solidFill>
              </a:defRPr>
            </a:pPr>
          </a:p>
        </c:txPr>
        <c:crossAx val="-2068027336"/>
        <c:crosses val="autoZero"/>
      </c:valAx>
    </c:plotArea>
    <c:legend>
      <c:legendPos val="b"/>
      <c:overlay val="0"/>
      <c:txPr>
        <a:bodyPr/>
        <a:lstStyle/>
        <a:p>
          <a:pPr>
            <a:defRPr sz="1200">
              <a:solidFill>
                <a:srgbClr val="434A55"/>
              </a:solidFill>
              <a:latin typeface="Calibri"/>
            </a:defRPr>
          </a:pPr>
        </a:p>
      </c:txPr>
    </c:legend>
    <c:dispBlanksAs val="gap"/>
  </c:chart>
  <c:txPr>
    <a:bodyPr/>
    <a:lstStyle/>
    <a:p>
      <a:pPr>
        <a:defRPr sz="1200">
          <a:solidFill>
            <a:srgbClr val="434A55"/>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audience education, SD per SD of address</c:v>
                </c:pt>
              </c:strCache>
            </c:strRef>
          </c:tx>
          <c:spPr>
            <a:solidFill>
              <a:srgbClr val="CF7272"/>
            </a:solidFill>
            <a:ln>
              <a:noFill/>
            </a:ln>
          </c:spPr>
          <c:dPt>
            <c:idx val="1"/>
            <c:spPr>
              <a:solidFill>
                <a:srgbClr val="3E5266"/>
              </a:solidFill>
            </c:spPr>
          </c:dPt>
          <c:dPt>
            <c:idx val="2"/>
            <c:spPr>
              <a:solidFill>
                <a:srgbClr val="3E5266"/>
              </a:solidFill>
            </c:spPr>
          </c:dPt>
          <c:dPt>
            <c:idx val="3"/>
            <c:spPr>
              <a:solidFill>
                <a:srgbClr val="3E5266"/>
              </a:solidFill>
            </c:spPr>
          </c:dPt>
          <c:cat>
            <c:strRef>
              <c:f>Sheet1!$A$2:$A$6</c:f>
              <c:strCache>
                <c:ptCount val="5"/>
                <c:pt idx="0">
                  <c:v>Corpus frame (54 shows, n = 535)</c:v>
                </c:pt>
                <c:pt idx="1">
                  <c:v>  discovery listeners only (51 / 385)</c:v>
                </c:pt>
                <c:pt idx="2">
                  <c:v>  fresh corpus listeners only (10 / 150)</c:v>
                </c:pt>
                <c:pt idx="3">
                  <c:v>Out-of-frame political podcasts (6 / 290)</c:v>
                </c:pt>
                <c:pt idx="4">
                  <c:v>Full political-podcast frame (56 / 792)</c:v>
                </c:pt>
              </c:strCache>
            </c:strRef>
          </c:cat>
          <c:val>
            <c:numRef>
              <c:f>Sheet1!$B$2:$B$6</c:f>
              <c:numCache>
                <c:formatCode>General</c:formatCode>
                <c:ptCount val="5"/>
                <c:pt idx="0">
                  <c:v>-0.272</c:v>
                </c:pt>
                <c:pt idx="1">
                  <c:v>-0.285</c:v>
                </c:pt>
                <c:pt idx="2">
                  <c:v>-0.16</c:v>
                </c:pt>
                <c:pt idx="3">
                  <c:v>-0.082</c:v>
                </c:pt>
                <c:pt idx="4">
                  <c:v>-0.213</c:v>
                </c:pt>
              </c:numCache>
            </c:numRef>
          </c:val>
        </c:ser>
        <c:dLbls>
          <c:numFmt formatCode="+0.00;-0.00;0.00" sourceLinked="0"/>
          <c:txPr>
            <a:bodyPr/>
            <a:lstStyle/>
            <a:p>
              <a:pPr>
                <a:defRPr sz="1100">
                  <a:solidFill>
                    <a:srgbClr val="E7E9EC"/>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axMin"/>
        </c:scaling>
        <c:delete val="0"/>
        <c:axPos val="l"/>
        <c:majorTickMark val="out"/>
        <c:minorTickMark val="none"/>
        <c:tickLblPos val="low"/>
        <c:spPr>
          <a:ln>
            <a:solidFill>
              <a:srgbClr val="2C323A"/>
            </a:solidFill>
          </a:ln>
        </c:spPr>
        <c:txPr>
          <a:bodyPr/>
          <a:lstStyle/>
          <a:p>
            <a:pPr>
              <a:defRPr sz="1200">
                <a:solidFill>
                  <a:srgbClr val="E7E9EC"/>
                </a:solidFill>
              </a:defRPr>
            </a:pPr>
          </a:p>
        </c:txPr>
        <c:crossAx val="-2113994440"/>
        <c:crosses val="autoZero"/>
        <c:auto val="1"/>
        <c:lblAlgn val="ctr"/>
        <c:lblOffset val="100"/>
        <c:noMultiLvlLbl val="0"/>
      </c:catAx>
      <c:valAx>
        <c:axId val="-2113994440"/>
        <c:scaling>
          <c:max val="0.0"/>
          <c:min val="-0.35"/>
        </c:scaling>
        <c:delete val="0"/>
        <c:axPos val="b"/>
        <c:majorGridlines>
          <c:spPr>
            <a:ln>
              <a:solidFill>
                <a:srgbClr val="2C323A"/>
              </a:solidFill>
            </a:ln>
          </c:spPr>
        </c:majorGridlines>
        <c:numFmt formatCode="+0.00;-0.00;0.00" sourceLinked="0"/>
        <c:majorTickMark val="out"/>
        <c:minorTickMark val="none"/>
        <c:tickLblPos val="nextTo"/>
        <c:spPr>
          <a:ln>
            <a:noFill/>
          </a:ln>
        </c:spPr>
        <c:txPr>
          <a:bodyPr/>
          <a:lstStyle/>
          <a:p>
            <a:pPr>
              <a:defRPr sz="1100">
                <a:solidFill>
                  <a:srgbClr val="B2B8C1"/>
                </a:solidFill>
              </a:defRPr>
            </a:pPr>
          </a:p>
        </c:txPr>
        <c:crossAx val="-2068027336"/>
        <c:crosses val="autoZero"/>
      </c:valAx>
    </c:plotArea>
    <c:dispBlanksAs val="gap"/>
  </c:chart>
  <c:txPr>
    <a:bodyPr/>
    <a:lstStyle/>
    <a:p>
      <a:pPr>
        <a:defRPr sz="1200">
          <a:solidFill>
            <a:srgbClr val="B2B8C1"/>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percentage points per step of podcast-news frequency</c:v>
                </c:pt>
              </c:strCache>
            </c:strRef>
          </c:tx>
          <c:spPr>
            <a:solidFill>
              <a:srgbClr val="7A2E2E"/>
            </a:solidFill>
            <a:ln>
              <a:noFill/>
            </a:ln>
          </c:spPr>
          <c:dPt>
            <c:idx val="5"/>
            <c:spPr>
              <a:solidFill>
                <a:srgbClr val="737B87"/>
              </a:solidFill>
            </c:spPr>
          </c:dPt>
          <c:dPt>
            <c:idx val="6"/>
            <c:spPr>
              <a:solidFill>
                <a:srgbClr val="737B87"/>
              </a:solidFill>
            </c:spPr>
          </c:dPt>
          <c:cat>
            <c:strRef>
              <c:f>Sheet1!$A$2:$A$8</c:f>
              <c:strCache>
                <c:ptCount val="7"/>
                <c:pt idx="0">
                  <c:v>feel a personal connection to an influencer</c:v>
                </c:pt>
                <c:pt idx="1">
                  <c:v>follow or subscribe</c:v>
                </c:pt>
                <c:pt idx="2">
                  <c:v>influencers helped me understand</c:v>
                </c:pt>
                <c:pt idx="3">
                  <c:v>get opinions and takes from them</c:v>
                </c:pt>
                <c:pt idx="4">
                  <c:v>their opinions mostly agree with mine</c:v>
                </c:pt>
                <c:pt idx="5">
                  <c:v>get basic facts from them</c:v>
                </c:pt>
                <c:pt idx="6">
                  <c:v>their news is different from other news</c:v>
                </c:pt>
              </c:strCache>
            </c:strRef>
          </c:cat>
          <c:val>
            <c:numRef>
              <c:f>Sheet1!$B$2:$B$8</c:f>
              <c:numCache>
                <c:formatCode>General</c:formatCode>
                <c:ptCount val="7"/>
                <c:pt idx="0">
                  <c:v>4.1</c:v>
                </c:pt>
                <c:pt idx="1">
                  <c:v>6.0</c:v>
                </c:pt>
                <c:pt idx="2">
                  <c:v>5.8</c:v>
                </c:pt>
                <c:pt idx="3">
                  <c:v>3.5</c:v>
                </c:pt>
                <c:pt idx="4">
                  <c:v>2.6</c:v>
                </c:pt>
                <c:pt idx="5">
                  <c:v>1.2</c:v>
                </c:pt>
                <c:pt idx="6">
                  <c:v>0.0</c:v>
                </c:pt>
              </c:numCache>
            </c:numRef>
          </c:val>
        </c:ser>
        <c:dLbls>
          <c:numFmt formatCode="+0.0;-0.0;0.0" sourceLinked="0"/>
          <c:txPr>
            <a:bodyPr/>
            <a:lstStyle/>
            <a:p>
              <a:pPr>
                <a:defRPr sz="1100">
                  <a:solidFill>
                    <a:srgbClr val="14171C"/>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axMin"/>
        </c:scaling>
        <c:delete val="0"/>
        <c:axPos val="l"/>
        <c:majorTickMark val="out"/>
        <c:minorTickMark val="none"/>
        <c:tickLblPos val="low"/>
        <c:spPr>
          <a:ln>
            <a:solidFill>
              <a:srgbClr val="D6DBE1"/>
            </a:solidFill>
          </a:ln>
        </c:spPr>
        <c:txPr>
          <a:bodyPr/>
          <a:lstStyle/>
          <a:p>
            <a:pPr>
              <a:defRPr sz="1200">
                <a:solidFill>
                  <a:srgbClr val="14171C"/>
                </a:solidFill>
              </a:defRPr>
            </a:pPr>
          </a:p>
        </c:txPr>
        <c:crossAx val="-2113994440"/>
        <c:crosses val="autoZero"/>
        <c:auto val="1"/>
        <c:lblAlgn val="ctr"/>
        <c:lblOffset val="100"/>
        <c:noMultiLvlLbl val="0"/>
      </c:catAx>
      <c:valAx>
        <c:axId val="-2113994440"/>
        <c:scaling>
          <c:max val="7.0"/>
          <c:min val="0.0"/>
        </c:scaling>
        <c:delete val="0"/>
        <c:axPos val="b"/>
        <c:majorGridlines>
          <c:spPr>
            <a:ln>
              <a:solidFill>
                <a:srgbClr val="D6DBE1"/>
              </a:solidFill>
            </a:ln>
          </c:spPr>
        </c:majorGridlines>
        <c:numFmt formatCode="+0.0;-0.0;0.0" sourceLinked="0"/>
        <c:majorTickMark val="out"/>
        <c:minorTickMark val="none"/>
        <c:tickLblPos val="nextTo"/>
        <c:spPr>
          <a:ln>
            <a:noFill/>
          </a:ln>
        </c:spPr>
        <c:txPr>
          <a:bodyPr/>
          <a:lstStyle/>
          <a:p>
            <a:pPr>
              <a:defRPr sz="1100">
                <a:solidFill>
                  <a:srgbClr val="434A55"/>
                </a:solidFill>
              </a:defRPr>
            </a:pPr>
          </a:p>
        </c:txPr>
        <c:crossAx val="-2068027336"/>
        <c:crosses val="autoZero"/>
      </c:valAx>
    </c:plotArea>
    <c:dispBlanksAs val="gap"/>
  </c:chart>
  <c:txPr>
    <a:bodyPr/>
    <a:lstStyle/>
    <a:p>
      <a:pPr>
        <a:defRPr sz="1200">
          <a:solidFill>
            <a:srgbClr val="434A55"/>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corpus shows (50)</c:v>
                </c:pt>
              </c:strCache>
            </c:strRef>
          </c:tx>
          <c:spPr>
            <a:solidFill>
              <a:srgbClr val="3E5266"/>
            </a:solidFill>
            <a:ln>
              <a:noFill/>
            </a:ln>
          </c:spPr>
          <c:cat>
            <c:strRef>
              <c:f>Sheet1!$A$2:$A$6</c:f>
              <c:strCache>
                <c:ptCount val="5"/>
                <c:pt idx="0">
                  <c:v>Election distrust</c:v>
                </c:pt>
                <c:pt idx="1">
                  <c:v>Institutional cynicism (8 items)</c:v>
                </c:pt>
                <c:pt idx="2">
                  <c:v>Disaffection</c:v>
                </c:pt>
                <c:pt idx="3">
                  <c:v>Economic grievance</c:v>
                </c:pt>
                <c:pt idx="4">
                  <c:v>Exclusivity</c:v>
                </c:pt>
              </c:strCache>
            </c:strRef>
          </c:cat>
          <c:val>
            <c:numRef>
              <c:f>Sheet1!$B$2:$B$6</c:f>
              <c:numCache>
                <c:formatCode>General</c:formatCode>
                <c:ptCount val="5"/>
                <c:pt idx="0">
                  <c:v>0.22</c:v>
                </c:pt>
                <c:pt idx="1">
                  <c:v>0.24</c:v>
                </c:pt>
                <c:pt idx="2">
                  <c:v>0.17</c:v>
                </c:pt>
                <c:pt idx="3">
                  <c:v>0.16</c:v>
                </c:pt>
                <c:pt idx="4">
                  <c:v>0.26</c:v>
                </c:pt>
              </c:numCache>
            </c:numRef>
          </c:val>
        </c:ser>
        <c:ser>
          <c:idx val="1"/>
          <c:order val="1"/>
          <c:tx>
            <c:strRef>
              <c:f>Sheet1!$C$1</c:f>
              <c:strCache>
                <c:ptCount val="1"/>
                <c:pt idx="0">
                  <c:v>out-of-frame political podcasts (6)</c:v>
                </c:pt>
              </c:strCache>
            </c:strRef>
          </c:tx>
          <c:spPr>
            <a:solidFill>
              <a:srgbClr val="CF7272"/>
            </a:solidFill>
            <a:ln>
              <a:noFill/>
            </a:ln>
          </c:spPr>
          <c:cat>
            <c:strRef>
              <c:f>Sheet1!$A$2:$A$6</c:f>
              <c:strCache>
                <c:ptCount val="5"/>
                <c:pt idx="0">
                  <c:v>Election distrust</c:v>
                </c:pt>
                <c:pt idx="1">
                  <c:v>Institutional cynicism (8 items)</c:v>
                </c:pt>
                <c:pt idx="2">
                  <c:v>Disaffection</c:v>
                </c:pt>
                <c:pt idx="3">
                  <c:v>Economic grievance</c:v>
                </c:pt>
                <c:pt idx="4">
                  <c:v>Exclusivity</c:v>
                </c:pt>
              </c:strCache>
            </c:strRef>
          </c:cat>
          <c:val>
            <c:numRef>
              <c:f>Sheet1!$C$2:$C$6</c:f>
              <c:numCache>
                <c:formatCode>General</c:formatCode>
                <c:ptCount val="5"/>
                <c:pt idx="0">
                  <c:v>0.28</c:v>
                </c:pt>
                <c:pt idx="1">
                  <c:v>0.23</c:v>
                </c:pt>
                <c:pt idx="2">
                  <c:v>0.27</c:v>
                </c:pt>
                <c:pt idx="3">
                  <c:v>0.19</c:v>
                </c:pt>
                <c:pt idx="4">
                  <c:v>0.04</c:v>
                </c:pt>
              </c:numCache>
            </c:numRef>
          </c:val>
        </c:ser>
        <c:ser>
          <c:idx val="2"/>
          <c:order val="2"/>
          <c:tx>
            <c:strRef>
              <c:f>Sheet1!$D$1</c:f>
              <c:strCache>
                <c:ptCount val="1"/>
                <c:pt idx="0">
                  <c:v>pooled, net of populism + intensity</c:v>
                </c:pt>
              </c:strCache>
            </c:strRef>
          </c:tx>
          <c:spPr>
            <a:solidFill>
              <a:srgbClr val="7F8792"/>
            </a:solidFill>
            <a:ln>
              <a:noFill/>
            </a:ln>
          </c:spPr>
          <c:cat>
            <c:strRef>
              <c:f>Sheet1!$A$2:$A$6</c:f>
              <c:strCache>
                <c:ptCount val="5"/>
                <c:pt idx="0">
                  <c:v>Election distrust</c:v>
                </c:pt>
                <c:pt idx="1">
                  <c:v>Institutional cynicism (8 items)</c:v>
                </c:pt>
                <c:pt idx="2">
                  <c:v>Disaffection</c:v>
                </c:pt>
                <c:pt idx="3">
                  <c:v>Economic grievance</c:v>
                </c:pt>
                <c:pt idx="4">
                  <c:v>Exclusivity</c:v>
                </c:pt>
              </c:strCache>
            </c:strRef>
          </c:cat>
          <c:val>
            <c:numRef>
              <c:f>Sheet1!$D$2:$D$6</c:f>
              <c:numCache>
                <c:formatCode>General</c:formatCode>
                <c:ptCount val="5"/>
                <c:pt idx="0">
                  <c:v>0.19</c:v>
                </c:pt>
                <c:pt idx="1">
                  <c:v>0.16</c:v>
                </c:pt>
                <c:pt idx="2">
                  <c:v>0.14</c:v>
                </c:pt>
                <c:pt idx="3">
                  <c:v>0.13</c:v>
                </c:pt>
                <c:pt idx="4">
                  <c:v>0.02</c:v>
                </c:pt>
              </c:numCache>
            </c:numRef>
          </c:val>
        </c:ser>
        <c:dLbls>
          <c:numFmt formatCode="+0.00;-0.00;0.00" sourceLinked="0"/>
          <c:txPr>
            <a:bodyPr/>
            <a:lstStyle/>
            <a:p>
              <a:pPr>
                <a:defRPr sz="1000">
                  <a:solidFill>
                    <a:srgbClr val="E7E9EC"/>
                  </a:solidFill>
                </a:defRPr>
              </a:pPr>
            </a:p>
          </c:txPr>
          <c:dLblPos val="outEnd"/>
          <c:showLegendKey val="0"/>
          <c:showVal val="1"/>
          <c:showCatName val="0"/>
          <c:showSerName val="0"/>
          <c:showPercent val="0"/>
          <c:showBubbleSize val="0"/>
          <c:showLeaderLines val="1"/>
        </c:dLbls>
        <c:gapWidth val="50"/>
        <c:overlap val="-5"/>
        <c:axId val="-2068027336"/>
        <c:axId val="-2113994440"/>
      </c:barChart>
      <c:catAx>
        <c:axId val="-2068027336"/>
        <c:scaling>
          <c:orientation val="maxMin"/>
        </c:scaling>
        <c:delete val="0"/>
        <c:axPos val="l"/>
        <c:majorTickMark val="out"/>
        <c:minorTickMark val="none"/>
        <c:tickLblPos val="low"/>
        <c:spPr>
          <a:ln>
            <a:solidFill>
              <a:srgbClr val="2C323A"/>
            </a:solidFill>
          </a:ln>
        </c:spPr>
        <c:txPr>
          <a:bodyPr/>
          <a:lstStyle/>
          <a:p>
            <a:pPr>
              <a:defRPr sz="1100">
                <a:solidFill>
                  <a:srgbClr val="E7E9EC"/>
                </a:solidFill>
              </a:defRPr>
            </a:pPr>
          </a:p>
        </c:txPr>
        <c:crossAx val="-2113994440"/>
        <c:crosses val="autoZero"/>
        <c:auto val="1"/>
        <c:lblAlgn val="ctr"/>
        <c:lblOffset val="100"/>
        <c:noMultiLvlLbl val="0"/>
      </c:catAx>
      <c:valAx>
        <c:axId val="-2113994440"/>
        <c:scaling>
          <c:max val="0.35"/>
          <c:min val="0.0"/>
        </c:scaling>
        <c:delete val="0"/>
        <c:axPos val="b"/>
        <c:majorGridlines>
          <c:spPr>
            <a:ln>
              <a:solidFill>
                <a:srgbClr val="2C323A"/>
              </a:solidFill>
            </a:ln>
          </c:spPr>
        </c:majorGridlines>
        <c:numFmt formatCode="+0.00;-0.00;0.00" sourceLinked="0"/>
        <c:majorTickMark val="out"/>
        <c:minorTickMark val="none"/>
        <c:tickLblPos val="nextTo"/>
        <c:spPr>
          <a:ln>
            <a:noFill/>
          </a:ln>
        </c:spPr>
        <c:txPr>
          <a:bodyPr/>
          <a:lstStyle/>
          <a:p>
            <a:pPr>
              <a:defRPr sz="1000">
                <a:solidFill>
                  <a:srgbClr val="B2B8C1"/>
                </a:solidFill>
              </a:defRPr>
            </a:pPr>
          </a:p>
        </c:txPr>
        <c:crossAx val="-2068027336"/>
        <c:crosses val="autoZero"/>
      </c:valAx>
    </c:plotArea>
    <c:legend>
      <c:legendPos val="b"/>
      <c:overlay val="0"/>
      <c:txPr>
        <a:bodyPr/>
        <a:lstStyle/>
        <a:p>
          <a:pPr>
            <a:defRPr sz="1100">
              <a:solidFill>
                <a:srgbClr val="B2B8C1"/>
              </a:solidFill>
              <a:latin typeface="Calibri"/>
            </a:defRPr>
          </a:pPr>
        </a:p>
      </c:txPr>
    </c:legend>
    <c:dispBlanksAs val="gap"/>
  </c:chart>
  <c:txPr>
    <a:bodyPr/>
    <a:lstStyle/>
    <a:p>
      <a:pPr>
        <a:defRPr sz="1100">
          <a:solidFill>
            <a:srgbClr val="B2B8C1"/>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 Political podcasts: a huge news source we have barely measured.</a:t>
            </a:r>
          </a:p>
          <a:p>
            <a:r>
              <a:t>• 3 claims, in order:</a:t>
            </a:r>
          </a:p>
          <a:p>
            <a:r>
              <a:t>  1. Left and right differ in HOW hosts address listeners, not in hostility.</a:t>
            </a:r>
          </a:p>
          <a:p>
            <a:r>
              <a:t>  2. People who get political news from podcasts are distinctively cynical about institutions.</a:t>
            </a:r>
          </a:p>
          <a:p>
            <a:r>
              <a:t>  3. The way a host talks to you predicts who you are.</a:t>
            </a:r>
          </a:p>
          <a:p>
            <a:r>
              <a:t>• Everything that follows is evidence for those 3 claims.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 The largest political shows out-draw cable news programs.</a:t>
            </a:r>
          </a:p>
          <a:p>
            <a:r>
              <a:t>• Nearly all research on partisan media is about television and print: incivility, outrage, horse-race coverage.</a:t>
            </a:r>
          </a:p>
          <a:p>
            <a:r>
              <a:t>• Podcasts are a different form: long, intimate, 1 voice speaking directly to you for hours a week.</a:t>
            </a:r>
          </a:p>
          <a:p>
            <a:r>
              <a:t>• Common assumption: right-leaning shows are angrier. Never measured at scale.</a:t>
            </a:r>
          </a:p>
          <a:p>
            <a:r>
              <a:t>• 2 gaps:</a:t>
            </a:r>
          </a:p>
          <a:p>
            <a:r>
              <a:t>  – Content: no transcribed, validated collection of the field.</a:t>
            </a:r>
          </a:p>
          <a:p>
            <a:r>
              <a:t>  – Audience: nobody could link a specific show's language to that show's own listeners.</a:t>
            </a:r>
          </a:p>
          <a:p>
            <a:r>
              <a:t>• The survey linkage is what makes this paper different.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 Question 1: how do left- and right-leaning hosts differ in how they talk?</a:t>
            </a:r>
          </a:p>
          <a:p>
            <a:r>
              <a:t>• Question 2: who listens to political podcasts, compared with other news consumers?</a:t>
            </a:r>
          </a:p>
          <a:p>
            <a:r>
              <a:t>• Question 3: does a show's way of addressing the listener predict who its audience is and what they believe?</a:t>
            </a:r>
          </a:p>
          <a:p>
            <a:r>
              <a:t>• Flag now: question 3 is where the work is exploratory. Questions 1 and 2 are on firmer ground.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(optional if short on time)</a:t>
            </a:r>
          </a:p>
          <a:p>
            <a:r>
              <a:t>• Media malaise / spiral of cynicism (Robinson 1976; Cappella &amp; Jamieson 1997; Ladd 2012): news diets outside institutional journalism go with lower trust. We find that.</a:t>
            </a:r>
          </a:p>
          <a:p>
            <a:r>
              <a:t>• Incivility and outrage (Mutz &amp; Reeves 2005; Sobieraj &amp; Berry 2011): the right is more hostile. We do NOT find that.</a:t>
            </a:r>
          </a:p>
          <a:p>
            <a:r>
              <a:t>• Para-social interaction (Horton &amp; Wohl 1956): direct personal address builds a 1-sided relationship with a performer. Fits what we see.</a:t>
            </a:r>
          </a:p>
          <a:p>
            <a:r>
              <a:t>• Populist communication (Rooduijn &amp; Pauwels 2011; Fawzi 2019) enters as a competing explanation we test alongside, not one we rule out.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 Starting point: the Apple Podcasts US Politics chart, ranks 1–250, frozen on 13 July 2026.</a:t>
            </a:r>
          </a:p>
          <a:p>
            <a:r>
              <a:t>• Filter applied in a fixed order: 250 → 219 (14 not US politics, 12 with under 10 hours of audio, 5 with no usable feed) → 204 in the final set.</a:t>
            </a:r>
          </a:p>
          <a:p>
            <a:r>
              <a:t>• 29,421 episodes transcribed; 1.38 million passages of 750 characters; median episode 47 minutes.</a:t>
            </a:r>
          </a:p>
          <a:p>
            <a:r>
              <a:t>• Scope: the biggest political shows (Shapiro, The Daily, Tucker) are filed under other Apple categories, so they are not in the collection. We bring 6 of them back later as an outside test.</a:t>
            </a:r>
          </a:p>
          <a:p/>
          <a:p>
            <a:r>
              <a:t>WHAT I DID, IN PLAIN TERMS</a:t>
            </a:r>
          </a:p>
          <a:p>
            <a:r>
              <a:t>• Transcription: an open-source speech-to-text model (Whisper, the large-v3-turbo version) running on 2 university GPU machines at about 100 times real time; roughly 260 GPU-hours in total. Audio only, English only, no attempt to tell speakers apart.</a:t>
            </a:r>
          </a:p>
          <a:p>
            <a:r>
              <a:t>• Which episodes: every episode before 2018 (there are few, and old feeds disappear), then a fixed number of episodes per show per quarter from 2018 on, chosen by a fixed random rule so the sample can be extended without reshuffling.</a:t>
            </a:r>
          </a:p>
          <a:p>
            <a:r>
              <a:t>• Ideology labels: a language-model classifier read 152,152 passages and labelled each as left, right or neither; a show's score is the balance across its passages. Hosts were also looked up in a database of political donations (DIME) to get an independent ideology score for 112 shows.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 Kettering–Gallup Democracy for All, Year 1 (July–August 2025): 20,338 respondents; 45% from a probability-based panel; weighted to the population.</a:t>
            </a:r>
          </a:p>
          <a:p>
            <a:r>
              <a:t>  – Asked people to type their top 3 news sources → 51,082 typed answers. People typed the names of shows. That is the key asset.</a:t>
            </a:r>
          </a:p>
          <a:p>
            <a:r>
              <a:t>  – Matched: 385 respondents by exact show title, 150 more by catching misspellings and abbreviations, and 290 listeners of 6 large political podcasts outside the collection = 792 listeners across 56 political podcasts.</a:t>
            </a:r>
          </a:p>
          <a:p>
            <a:r>
              <a:t>• Pew American Trends Panel, 3 waves (July 2024 – March 2025): about 9,000 people per wave. Podcast use asked in mid-2024, trust in institutions asked 2 to 8 months later. No show names, but time order.</a:t>
            </a:r>
          </a:p>
          <a:p/>
          <a:p>
            <a:r>
              <a:t>WHAT I DID, IN PLAIN TERMS</a:t>
            </a:r>
          </a:p>
          <a:p>
            <a:r>
              <a:t>• Outcome in Kettering: 8 survey questions about institutions (do leaders get held accountable, does government serve people like me, are elections run well, is press freedom working, and so on), each put on a common scale, averaged into one cynicism score. The 8 items hang together well (reliability 0.84).</a:t>
            </a:r>
          </a:p>
          <a:p>
            <a:r>
              <a:t>• News-diet groups for everyone in the survey: sorted each typed source into podcast, mainstream outlet, or social platform, then grouped people as podcast-only, podcast plus mainstream, mainstream-only, or platform-only.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 Listener-directed address = average of 3 measures, each a rate per 10,000 words, put on a common scale across shows:</a:t>
            </a:r>
          </a:p>
          <a:p>
            <a:r>
              <a:t>  1. grammatical commands: a bare verb starting a clause with no subject ("Look at this", "Remember that"), found with a sentence parser</a:t>
            </a:r>
          </a:p>
          <a:p>
            <a:r>
              <a:t>  2. a fixed list of instruction words: look, listen, remember, understand, think about it</a:t>
            </a:r>
          </a:p>
          <a:p>
            <a:r>
              <a:t>  3. the words you, your, yourself</a:t>
            </a:r>
          </a:p>
          <a:p>
            <a:r>
              <a:t>• Read the example on the slide.</a:t>
            </a:r>
          </a:p>
          <a:p>
            <a:r>
              <a:t>• Every measure existed before this study; we wrote no word list ourselves.</a:t>
            </a:r>
          </a:p>
          <a:p>
            <a:r>
              <a:t>• Breaking the measure apart: "you need to / you should" is the piece most tied to host ideology (correlation +0.44); the filler "you know" is unrelated (0.00); a standard persuasion measure from linguistics is also unrelated (−0.12). It is talking TO the listener that carries the signal.</a:t>
            </a:r>
          </a:p>
          <a:p/>
          <a:p>
            <a:r>
              <a:t>WHAT I DID, IN PLAIN TERMS</a:t>
            </a:r>
          </a:p>
          <a:p>
            <a:r>
              <a:t>• Scored every 750-character passage, then averaged up to the show, weighting by passage length, and expressed each show relative to the other 194 shows.</a:t>
            </a:r>
          </a:p>
          <a:p>
            <a:r>
              <a:t>• Advertising was flagged but kept in for these measures (removing it is only needed for the topic model).</a:t>
            </a:r>
          </a:p>
          <a:p>
            <a:r>
              <a:t>• Known limit: in interview shows, "you" is often the guest. This collection is mostly monologue and co-host shows, and we add a format control where it matters.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 4 checks on the ideology label:</a:t>
            </a:r>
          </a:p>
          <a:p>
            <a:r>
              <a:t>  – Against hosts' political donations: correlation 0.68 (112 shows).</a:t>
            </a:r>
          </a:p>
          <a:p>
            <a:r>
              <a:t>  – Against editorial ratings: agreement 0.75 (25 shows); against expert ratings: 0.77 (26 shows).</a:t>
            </a:r>
          </a:p>
          <a:p>
            <a:r>
              <a:t>  – Against the party of each show's own listeners in the survey: correlation 0.91 across 22 shows; the label picks the audience's majority party correctly in 21 of 22.</a:t>
            </a:r>
          </a:p>
          <a:p>
            <a:r>
              <a:t>• Left-labelled shows average 76% Democratic audiences; right-labelled shows 91% Republican.</a:t>
            </a:r>
          </a:p>
          <a:p>
            <a:r>
              <a:t>• Text, money and listeners agree.</a:t>
            </a:r>
          </a:p>
          <a:p/>
          <a:p>
            <a:r>
              <a:t>WHAT I DID, IN PLAIN TERMS</a:t>
            </a:r>
          </a:p>
          <a:p>
            <a:r>
              <a:t>• For each show with at least 5 listeners in the survey, took the share of its listeners who are Republican minus the share who are Democratic, and correlated that with the show's label.</a:t>
            </a:r>
          </a:p>
          <a:p>
            <a:r>
              <a:t>• Not yet done: having 2 human coders check 200 individual passages against the language model. Planned before submission.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(optional; keep for a methods-minded room)</a:t>
            </a:r>
          </a:p>
          <a:p>
            <a:r>
              <a:t>• The problem: the exposure is a property of the SHOW, and a few shows hold most of the listeners (the 4 largest = 47% of the 792). Treating 792 listeners as 792 independent observations overstates how much we know; really we have closer to 9 independent units.</a:t>
            </a:r>
          </a:p>
          <a:p>
            <a:r>
              <a:t>• What we do about it, 3 ways:</a:t>
            </a:r>
          </a:p>
          <a:p>
            <a:r>
              <a:t>  1. Clustered standard errors with a small-sample correction. "Standard error" = how much an estimate would wobble on a fresh sample. Clustering means listeners of the same show are treated as one group. The correction reports the honest effective number of groups (about 9), and p-values are computed against that.</a:t>
            </a:r>
          </a:p>
          <a:p>
            <a:r>
              <a:t>  2. A bootstrap check. In plain terms: pretend address has no effect; take each show's leftover errors from that model and flip their signs with a coin toss, one coin per show; rebuild a fake outcome; refit; repeat 2,000 times. That shows what results look like when nothing is going on, respecting that listeners of the same show move together. The p-value is how often a fake result beats the real one.</a:t>
            </a:r>
          </a:p>
          <a:p>
            <a:r>
              <a:t>  3. A shuffle test at the show level: randomly reassign address scores across shows and re-run.</a:t>
            </a:r>
          </a:p>
          <a:p>
            <a:r>
              <a:t>• The first two must agree; they do on every estimate.</a:t>
            </a:r>
          </a:p>
          <a:p>
            <a:r>
              <a:t>• The outside test was written down and time-stamped before any audio was fetched.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 Chart: how strongly each speech measure correlates with the host's donation-based ideology.</a:t>
            </a:r>
          </a:p>
          <a:p>
            <a:r>
              <a:t>  – Combined address measure +0.43; grammatical commands +0.39; you/your +0.39; "they/them" out-group pronouns +0.29</a:t>
            </a:r>
          </a:p>
          <a:p>
            <a:r>
              <a:t>  – Insult 0.00; hedging −0.13; profanity −0.17</a:t>
            </a:r>
          </a:p>
          <a:p>
            <a:r>
              <a:t>• Right-leaning hosts speak to the audience in the second person and issue more instructions. They are not more insulting.</a:t>
            </a:r>
          </a:p>
          <a:p>
            <a:r>
              <a:t>• Size of the left–right gap on address: 0.78 standard deviations (a standard deviation = the typical spread among shows), after controlling for format. Very unlikely by chance (p &lt; 0.0001).</a:t>
            </a:r>
          </a:p>
          <a:p>
            <a:r>
              <a:t>• Insult tracks how EXTREME a show is (correlation +0.55) but not which side it is on.</a:t>
            </a:r>
          </a:p>
          <a:p>
            <a:r>
              <a:t>• A classifier using only speech-style features tells left from right shows 80% of the time between shows, and barely above chance within a show → style is a property of the show.</a:t>
            </a:r>
          </a:p>
          <a:p/>
          <a:p>
            <a:r>
              <a:t>WHAT I DID, IN PLAIN TERMS</a:t>
            </a:r>
          </a:p>
          <a:p>
            <a:r>
              <a:t>• Correlated each show-level measure with the host's donation score (112 shows with a score).</a:t>
            </a:r>
          </a:p>
          <a:p>
            <a:r>
              <a:t>• Compared left shows (125) with right shows (69) on each measure; to get p-values, shuffled the left/right labels across shows 10,000 times and asked how often a gap as big as the real one appears. Corrected for testing many measures at once.</a:t>
            </a:r>
          </a:p>
          <a:p>
            <a:r>
              <a:t>• Format control: right shows are 84% solo-hosted, left shows 58%, so every comparison was re-run holding solo vs multi-host constant.</a:t>
            </a:r>
          </a:p>
          <a:p>
            <a:r>
              <a:t>• Classifier: a simple logistic regression on the style measures, always tested on a show it had not seen.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 8 political shocks 2020–2025: 2 presidential elections, 1 midterm, the inauguration, the assassination attempt, Biden's withdrawal, January 6, the Dobbs decision.</a:t>
            </a:r>
          </a:p>
          <a:p>
            <a:r>
              <a:t>• Within each show, address does not shift around any of them, on either side; every change is at most 0.08 standard deviations.</a:t>
            </a:r>
          </a:p>
          <a:p>
            <a:r>
              <a:t>• The 2024 election "shift" is no bigger than what we see at 60 randomly chosen dates (p = 0.57).</a:t>
            </a:r>
          </a:p>
          <a:p>
            <a:r>
              <a:t>• Across 75 topics, a show's address barely varies by subject (spread of 0.04 standard deviations); the most "you"-heavy passages are ad reads.</a:t>
            </a:r>
          </a:p>
          <a:p>
            <a:r>
              <a:t>• Hosts do not ramp it up before elections and do not change it by subject. It is how they talk.</a:t>
            </a:r>
          </a:p>
          <a:p>
            <a:r>
              <a:t>• Why it matters: a stable trait can steer who chooses a show; a reaction to the news could not.</a:t>
            </a:r>
          </a:p>
          <a:p/>
          <a:p>
            <a:r>
              <a:t>WHAT I DID, IN PLAIN TERMS</a:t>
            </a:r>
          </a:p>
          <a:p>
            <a:r>
              <a:t>• Event study: for each show, compared address in the 8 weeks before and after each event, with each show as its own control; ran the same comparison at 60 random dates to see what "nothing happened" looks like.</a:t>
            </a:r>
          </a:p>
          <a:p>
            <a:r>
              <a:t>• Topics: a standard topic model (75 topics) on the ad-cleaned passages; adding topic shares to a model of address explains an extra 0.5% of variation.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 People who name a political podcast as a news source score 0.22 standard deviations higher on the cynicism scale than other news consumers (18,257 people; p = 5 × 10⁻¹³).</a:t>
            </a:r>
          </a:p>
          <a:p>
            <a:r>
              <a:t>• Controls: party, political attention, age, education, gender, race, income, social-media hours, platforms used, urban vs rural, survey mode, number of sources named. The estimate moves 3% across the whole list.</a:t>
            </a:r>
          </a:p>
          <a:p>
            <a:r>
              <a:t>• Diet groups versus mainstream-only: podcast-only +0.27; platform-only +0.18; podcast plus mainstream +0.13.</a:t>
            </a:r>
          </a:p>
          <a:p>
            <a:r>
              <a:t>• Within Democrats +0.19; within Republicans +0.15. Lower education +0.34; higher education +0.35 (no difference, p = 0.91) → not "podcasts prey on the less educated".</a:t>
            </a:r>
          </a:p>
          <a:p>
            <a:r>
              <a:t>• The gradient: each additional mainstream source a person names is worth −0.10 standard deviations; each additional podcast +0.08.</a:t>
            </a:r>
          </a:p>
          <a:p>
            <a:r>
              <a:t>• Podcast-only exceeds platform-only by +0.14 standard deviations, give or take 0.05; a formal test rejects "these two are the same".</a:t>
            </a:r>
          </a:p>
          <a:p/>
          <a:p>
            <a:r>
              <a:t>WHAT I DID, IN PLAIN TERMS</a:t>
            </a:r>
          </a:p>
          <a:p>
            <a:r>
              <a:t>• Ordinary linear regression of the cynicism score on the diet group plus the controls, using the survey weights, with standard errors that do not assume equal spread across people.</a:t>
            </a:r>
          </a:p>
          <a:p>
            <a:r>
              <a:t>• "Mainstream" = a fixed list of 27 outlets (CNN, Fox, NPR, New York Times, and so on).</a:t>
            </a:r>
          </a:p>
          <a:p>
            <a:r>
              <a:t>• Checked that unrelated items (tolerance of political violence, loneliness) do not move, which they do not.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 Pew: each step up in how often someone got news from podcasts in mid-2024 goes with, months later:</a:t>
            </a:r>
          </a:p>
          <a:p>
            <a:r>
              <a:t>  – trust in national news −0.066 (September 2024) and −0.083 (March 2025)</a:t>
            </a:r>
          </a:p>
          <a:p>
            <a:r>
              <a:t>  – trust in local news −0.067 and −0.083</a:t>
            </a:r>
          </a:p>
          <a:p>
            <a:r>
              <a:t>  – trust in social media +0.140 and +0.154</a:t>
            </a:r>
          </a:p>
          <a:p>
            <a:r>
              <a:t>  – trust in friends and family +0.011 and +0.024 (no real change)</a:t>
            </a:r>
          </a:p>
          <a:p>
            <a:r>
              <a:t>• People who said podcasts were their MAIN election-news source: trust in national news −0.34 standard deviations in March 2025.</a:t>
            </a:r>
          </a:p>
          <a:p>
            <a:r>
              <a:t>• The SHAPE is the point: institutions down, informal channels up, personal relationships flat. A general "grumpy respondent" pattern could not do that.</a:t>
            </a:r>
          </a:p>
          <a:p>
            <a:r>
              <a:t>• This is time order, not proof of cause. People choose their podcasts.</a:t>
            </a:r>
          </a:p>
          <a:p/>
          <a:p>
            <a:r>
              <a:t>WHAT I DID, IN PLAIN TERMS</a:t>
            </a:r>
          </a:p>
          <a:p>
            <a:r>
              <a:t>• Linked the same people across the 3 waves; regressed each later trust item on earlier podcast use with Pew's controls and weights.</a:t>
            </a:r>
          </a:p>
          <a:p>
            <a:r>
              <a:t>• The stricter measure of exposure (podcasts as main source) gives effects 3 to 4 times larger.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 Podcast-only listeners versus mainstream-only, on questions about democratic norms:</a:t>
            </a:r>
          </a:p>
          <a:p>
            <a:r>
              <a:t>  – media should take direction from government: −0.35 standard deviations (they disagree more); expand presidential power −0.17; bar radicals from office −0.18; radicals should be allowed to protest +0.17</a:t>
            </a:r>
          </a:p>
          <a:p>
            <a:r>
              <a:t>  – no more strongly partisan (0.00); not lonelier; not less likely to be registered</a:t>
            </a:r>
          </a:p>
          <a:p>
            <a:r>
              <a:t>• Platform-only listeners: none of that civil-liberties pattern; instead weaker national identity, money strain, lower registration, more tolerance of political violence.</a:t>
            </a:r>
          </a:p>
          <a:p>
            <a:r>
              <a:t>• Podcast-only = engaged and anti-institutional. Platform-only = disengaged.</a:t>
            </a:r>
          </a:p>
          <a:p/>
          <a:p>
            <a:r>
              <a:t>WHAT I DID, IN PLAIN TERMS</a:t>
            </a:r>
          </a:p>
          <a:p>
            <a:r>
              <a:t>• Ran the same weighted regression for all 115 usable survey questions, one at a time, for each diet group; corrected for the number of tests so that chance findings are filtered out (40 questions still differ for the podcast-only group).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 How much less educated is a show's audience, per 1 standard deviation more address, with party and show ideology held constant:</a:t>
            </a:r>
          </a:p>
          <a:p>
            <a:r>
              <a:t>  – main collection −0.27 (54 shows, 535 listeners; p = 0.004 by clustered standard errors, 0.002 by bootstrap)</a:t>
            </a:r>
          </a:p>
          <a:p>
            <a:r>
              <a:t>  – original discovery sample −0.29; newly matched listeners −0.16; the 6 outside political podcasts −0.08; everything together −0.21 (p = 0.006 / below 0.001)</a:t>
            </a:r>
          </a:p>
          <a:p>
            <a:r>
              <a:t>• Unchanged when age, gender, income, race, urban–rural and attention are added (−0.28).</a:t>
            </a:r>
          </a:p>
          <a:p>
            <a:r>
              <a:t>• Holds within left shows (−0.29) and within right shows (−0.19); holds when any of the 12 largest shows is dropped; at the show level the correlation is −0.57.</a:t>
            </a:r>
          </a:p>
          <a:p>
            <a:r>
              <a:t>• It is education specifically: income, age and gender show nothing.</a:t>
            </a:r>
          </a:p>
          <a:p>
            <a:r>
              <a:t>• People who name the show as their FIRST source show it more strongly (−0.35) than people who name it second or third (−0.20). That is what audience selection looks like.</a:t>
            </a:r>
          </a:p>
          <a:p>
            <a:r>
              <a:t>• Reading: a fit between style and audience. Direct, instructive, second-person speech is the "involved" spoken register, and it reaches people with less schooling regardless of party. This is about who a style reaches, not what it does to them.</a:t>
            </a:r>
          </a:p>
          <a:p/>
          <a:p>
            <a:r>
              <a:t>WHAT I DID, IN PLAIN TERMS</a:t>
            </a:r>
          </a:p>
          <a:p>
            <a:r>
              <a:t>• Regression of each listener's education level on their show's address score, plus party and show ideology, with listeners grouped by show for the standard errors (small-sample corrected) and the coin-flip bootstrap (1,000 rounds) as a second check; repeated dropping one show at a time.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(optional)</a:t>
            </a:r>
          </a:p>
          <a:p>
            <a:r>
              <a:t>• Pew, among people who regularly get news from online personalities (2,012 people), percentage-point change per step of podcast-news frequency:</a:t>
            </a:r>
          </a:p>
          <a:p>
            <a:r>
              <a:t>  – feel a personal connection +4.1; follow or subscribe +6.0; "helped me understand" +5.8; get opinions from them +3.5; "their opinions agree with mine" +2.6</a:t>
            </a:r>
          </a:p>
          <a:p>
            <a:r>
              <a:t>  – get basic facts from them +1.2 (not significant); "their news is different" no change</a:t>
            </a:r>
          </a:p>
          <a:p>
            <a:r>
              <a:t>• "Personal connection" rises 26% → 31% → 32% → 39% across the frequency levels; same in both parties.</a:t>
            </a:r>
          </a:p>
          <a:p>
            <a:r>
              <a:t>• The relationship and opinion items move; the information items do not. That is the listener-side fingerprint of direct address.</a:t>
            </a:r>
          </a:p>
          <a:p/>
          <a:p>
            <a:r>
              <a:t>WHAT I DID, IN PLAIN TERMS</a:t>
            </a:r>
          </a:p>
          <a:p>
            <a:r>
              <a:t>• 7 yes/no items, each regressed on podcast-news frequency with weights and controls; corrected for running 7 tests.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 say "exploratory" BEFORE the numbers</a:t>
            </a:r>
          </a:p>
          <a:p>
            <a:r>
              <a:t>• Population here: political podcasts, defined by content = at least 15% of a show's passages are about politics (the collection's own 10th percentile), applied the same way to shows inside and outside the collection → 56 shows, 792 listeners.</a:t>
            </a:r>
          </a:p>
          <a:p>
            <a:r>
              <a:t>• Per 1 standard deviation more address: election distrust +0.27 standard deviations (p below 0.001 both ways); institutional cynicism +0.22 (p = 0.005 / below 0.001); disaffection +0.16; economic grievance +0.18; relying on no institutional source +0.09 (not significant).</a:t>
            </a:r>
          </a:p>
          <a:p>
            <a:r>
              <a:t>• Chart: blue = the 50 shows in the collection, red = the 6 large outside shows; they agree. Grey = the pooled estimate after also controlling for populist vocabulary and ideological extremity: election distrust +0.19 (p = 0.018) and cynicism +0.16 (p = 0.037) survive.</a:t>
            </a:r>
          </a:p>
          <a:p>
            <a:r>
              <a:t>• Robust: between +0.20 and +0.29 at every content threshold from 8% to 30%; dropping any single show leaves +0.25 to +0.30. The 6 outside shows alone point the same way but are too few to stand on their own.</a:t>
            </a:r>
          </a:p>
          <a:p>
            <a:r>
              <a:t>• Why exploratory: the outside test was written down in advance for 10 shows chosen by chart absence, and it did NOT pass on those 10. 2 of the 10 turned out not to be political podcasts by content (3% and 5% political passages). The content definition came AFTER that. Year 2 of the Kettering study will test it with the definition fixed in advance.</a:t>
            </a:r>
          </a:p>
          <a:p/>
          <a:p>
            <a:r>
              <a:t>WHAT I DID, IN PLAIN TERMS</a:t>
            </a:r>
          </a:p>
          <a:p>
            <a:r>
              <a:t>• Regression of each listener's outcome on their show's address score, controlling for party, attention, age, education, gender, race, income, urban–rural, use of right-wing platforms, the show's ideology, and whether the show is inside or outside the collection; listeners grouped by show for standard errors; bootstrap with 2,000 rounds.</a:t>
            </a:r>
          </a:p>
          <a:p>
            <a:r>
              <a:t>• Election distrust = average of 2 items: "elections are administered well" (reversed) and "officials acted improperly when results were surprising".</a:t>
            </a:r>
          </a:p>
          <a:p>
            <a:r>
              <a:t>• The 2 competing explanations: a published populism dictionary (words like corrupt, elite, betrayed) counted per 10,000 words; and ideological extremity = the share of a show's passages the language model labelled as clearly left or clearly right.</a:t>
            </a:r>
          </a:p>
          <a:p>
            <a:r>
              <a:t>• Political content = share of 750-character passages containing 3 or more political terms; the collection's median show is 32%.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 3 tests were written down, with hypothesis, data, model and pass/fail rule, and time-stamped before their data were examined. All 3 failed on their own rules:</a:t>
            </a:r>
          </a:p>
          <a:p>
            <a:r>
              <a:t>  1. Outside test: address → cynicism among 749 new listeners of 10 large shows absent from the chart. Estimate −0.001. Leaving out Rogan: +0.22, p = 0.08. Did not pass.</a:t>
            </a:r>
          </a:p>
          <a:p>
            <a:r>
              <a:t>  2. Inside test: 150 new listeners of shows in the collection, found by catching misspellings. Estimate −0.06. Did not pass.</a:t>
            </a:r>
          </a:p>
          <a:p>
            <a:r>
              <a:t>  3. A free-text question ("what does democracy mean to you"). p = 0.125. Did not pass.</a:t>
            </a:r>
          </a:p>
          <a:p>
            <a:r>
              <a:t>• Everything after those tests (the content-based definition, the education result, the comparison with populist content) was found by searching, is labelled exploratory, and the search is disclosed in the paper.</a:t>
            </a:r>
          </a:p>
          <a:p>
            <a:r>
              <a:t>• The 3 speech features (address, populist vocabulary, extremity) are correlated with each other at 0.4 to 0.5; with about 56 shows we can rank them only as far as the previous slide shows.</a:t>
            </a:r>
          </a:p>
          <a:p>
            <a:r>
              <a:t>• Why this slide: a reviewer will find the time-stamped files. Better they hear it from us.</a:t>
            </a:r>
          </a:p>
          <a:p>
            <a:r>
              <a:t>• The framing: an idea generated in the first sample → tested → not confirmed on the pre-set frame → recovered on a content-based frame → to be confirmed in Year 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 Association, not effect: people choose their podcasts. The Pew time order is necessary but not sufficient. No sign that more listening goes with stronger attitudes; it does go with a sharper education pattern, which is what selection predicts.</a:t>
            </a:r>
          </a:p>
          <a:p>
            <a:r>
              <a:t>• Scope: shows on the Politics chart plus the 6 largest political podcasts outside it; the content-based definition of "political podcast" was set after the fact and will be fixed in advance for Year 2.</a:t>
            </a:r>
          </a:p>
          <a:p>
            <a:r>
              <a:t>• Address is sensitive to format: in interview shows "you" is often the guest. The left–right gap survives removing question-form "you"; comparing LEVELS across formats needs speaker separation, which the archived audio allows.</a:t>
            </a:r>
          </a:p>
          <a:p>
            <a:r>
              <a:t>• The 3 speech features are correlated (0.4–0.5).</a:t>
            </a:r>
          </a:p>
          <a:p>
            <a:r>
              <a:t>• Validation still open: passage-level ideology labels not yet human-checked; the advertising-detection test set (886 sentences) was labelled by a language model, human relabelling pending.</a:t>
            </a:r>
          </a:p>
          <a:p>
            <a:r>
              <a:t>• Few effective clusters, reported honestly.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 same 3 claims as the opening</a:t>
            </a:r>
          </a:p>
          <a:p>
            <a:r>
              <a:t>1. How the sides differ: in how hosts address the listener, not in hostility (gap of 0.78 standard deviations versus a correlation of 0.00); a stable trait of the show; validated against donations, experts and listeners' own party.</a:t>
            </a:r>
          </a:p>
          <a:p>
            <a:r>
              <a:t>2. Who listens: +0.22 standard deviations of institutional cynicism, in 2 national panels, 1 with time order, in both parties, at every education level; civil-libertarian, not disengaged.</a:t>
            </a:r>
          </a:p>
          <a:p>
            <a:r>
              <a:t>3. What address predicts: within political podcasts, hosts who talk AT the listener reach less-educated audiences (robust, 4 samples) who distrust elections and institutions (exploratory, to be confirmed in Year 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 Before submission: 2 human coders check 200 passages; human relabelling of the 886-sentence advertising test set; disclosure section; freeze the episode counts.</a:t>
            </a:r>
          </a:p>
          <a:p>
            <a:r>
              <a:t>• Year 2 pre-registration: content-based definition fixed in advance; election distrust as the main outcome; populist vocabulary and extremity as controls; ask for interview dates so we can compare the same show across weeks.</a:t>
            </a:r>
          </a:p>
          <a:p>
            <a:r>
              <a:t>• Measurement: separate speakers in the archived audio for interview shows; extend the collection to 10 episodes per show per quarter (running now).</a:t>
            </a:r>
          </a:p>
          <a:p>
            <a:r>
              <a:t>• The causal study: a survey experiment. Play people the same segment with and without the second-person, instructive language, at random, then ask the trust and efficacy questions. Cheap, uses the measure this paper validates, and the only design that says whether address does anything to a listener rather than who it attracts.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 Thank you. Questions.</a:t>
            </a:r>
          </a:p>
          <a:p/>
          <a:p>
            <a:r>
              <a:t>LIKELY QUESTIONS</a:t>
            </a:r>
          </a:p>
          <a:p>
            <a:r>
              <a:t>• Isn't "you" just the guest in interview shows?</a:t>
            </a:r>
          </a:p>
          <a:p>
            <a:r>
              <a:t>  – Real limit, stated in the paper. The collection is mostly monologue and co-host shows. The question-form "you" (the part most likely aimed at a guest) is unrelated to host ideology (correlation +0.03), and removing it leaves the validation unchanged. Comparing levels across formats needs speaker separation; the archived audio allows it.</a:t>
            </a:r>
          </a:p>
          <a:p>
            <a:r>
              <a:t>• Isn't the population finding just selection?</a:t>
            </a:r>
          </a:p>
          <a:p>
            <a:r>
              <a:t>  – We never claim otherwise. But it survives 12 controls (moves 3%), holds within parties and within education levels, replicates with podcast use measured 2–8 months before the outcome, and has a shape (institutions down, informal up, personal flat) a general-distrust story cannot produce.</a:t>
            </a:r>
          </a:p>
          <a:p>
            <a:r>
              <a:t>• You changed the population after the pre-set test failed.</a:t>
            </a:r>
          </a:p>
          <a:p>
            <a:r>
              <a:t>  – Yes. The rule is symmetric, objective, and works at any threshold from 8% to 30%, and a 3%-political show is not a political podcast. But it came after → exploratory → Year 2 fixes it in advance. That is why slide 18 exists.</a:t>
            </a:r>
          </a:p>
          <a:p>
            <a:r>
              <a:t>• Why not populist content or extremity instead?</a:t>
            </a:r>
          </a:p>
          <a:p>
            <a:r>
              <a:t>  – We cannot rule them in or out: the 3 features are correlated 0.4–0.5. Within political podcasts, address is the one whose link to election distrust and cynicism survives the other 2 in the same model, but with 56 shows that is a ranking, not a verdict. Year 2 carries all 3.</a:t>
            </a:r>
          </a:p>
          <a:p>
            <a:r>
              <a:t>• What do the effect sizes mean in plain terms?</a:t>
            </a:r>
          </a:p>
          <a:p>
            <a:r>
              <a:t>  – 0.22 standard deviations of cynicism ≈ the gap between Democrats and Republicans on the same scale in this period. 0.27 standard deviations of education per unit of address ≈ a third of the way from "some college" to "bachelor's degree".</a:t>
            </a:r>
          </a:p>
          <a:p>
            <a:r>
              <a:t>• Why language-model labels rather than human coders?</a:t>
            </a:r>
          </a:p>
          <a:p>
            <a:r>
              <a:t>  – Show-level labels are checked 4 ways, including against the party of real listeners, which the model never saw. Passage-level human coding (200 passages, 2 coders) is scheduled before submission.</a:t>
            </a:r>
          </a:p>
          <a:p>
            <a:r>
              <a:t>• Is 204 shows enough?</a:t>
            </a:r>
          </a:p>
          <a:p>
            <a:r>
              <a:t>  – For the left–right style gap, yes: 0.78 standard deviations, shuffle-test p below 1 in 100,000. For the audience link the limit is listeners per show, which is why we report the honest cluster count and why Year 2 matters.</a:t>
            </a:r>
          </a:p>
          <a:p>
            <a:r>
              <a:t>• What is the bootstrap, simply?</a:t>
            </a:r>
          </a:p>
          <a:p>
            <a:r>
              <a:t>  – Pretend address has no effect, create 2,000 fake datasets by flipping each show's errors as a block with a coin toss, refit each time, and count how often a fake result beats the real one. It respects that listeners of the same show move together.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only if asked</a:t>
            </a:r>
          </a:p>
          <a:p>
            <a:r>
              <a:t>• Starting list: Apple US Politics chart, ranks 1–250, frozen 13 July 2026 (250 is as deep as Apple's chart goes).</a:t>
            </a:r>
          </a:p>
          <a:p>
            <a:r>
              <a:t>• Filter: 2 with no feed address, 2 unreachable, 1 unreadable, 14 not US politics, 12 under 10 hours of audio → 219; 15 not in the topic-model sample → 204.</a:t>
            </a:r>
          </a:p>
          <a:p>
            <a:r>
              <a:t>• Which episodes: every episode before 2018; then a fixed number per show per quarter, chosen by a fixed random rule.</a:t>
            </a:r>
          </a:p>
          <a:p>
            <a:r>
              <a:t>• Transcription: Whisper large-v3-turbo, batches of 64 audio segments (batches of 128 gave identical text 1.24× faster; a lower-precision setting changed 0.76% of words and was rejected), English only, silence trimmed automatically, no speaker separation; 2 university GPU machines.</a:t>
            </a:r>
          </a:p>
          <a:p>
            <a:r>
              <a:t>• Style measures: every 750-character chunk, split at sentence ends, nothing dropped; ads flagged. Topic model: advertising and boilerplate sentences removed first (5.9% of words; the detector had to reach 90% precision on ads and under 2% false alarms on real content before it was allowed to run; it hit 0.7%), then passages of about 500 content words (37,942 of them).</a:t>
            </a:r>
          </a:p>
          <a:p>
            <a:r>
              <a:t>• Ideology: language-model classifier in 2 stages (is this political? if so, which side?); hosts matched to the donation database in 3 stages, with every manual decision logged.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only if asked</a:t>
            </a:r>
          </a:p>
          <a:p>
            <a:r>
              <a:t>• On the 56-show frame, 57% of shows have fewer than 5 listeners and the 4 largest (MeidasTouch 134, Shapiro 94, NBC Nightly News 72, The Daily 71) hold 47% of all listeners.</a:t>
            </a:r>
          </a:p>
          <a:p>
            <a:r>
              <a:t>• Standard clustered errors are too optimistic here: 1 estimate went from p = 0.0009 the standard way to p = 0.17 under the bootstrap.</a:t>
            </a:r>
          </a:p>
          <a:p>
            <a:r>
              <a:t>• So every show-linked estimate uses:</a:t>
            </a:r>
          </a:p>
          <a:p>
            <a:r>
              <a:t>  1. Small-sample-corrected clustered standard errors (the Bell–McCaffrey correction), with the degrees of freedom computed honestly, about 9, meaning the estimate is really based on about 9 independent groups.</a:t>
            </a:r>
          </a:p>
          <a:p>
            <a:r>
              <a:t>  2. The coin-flip bootstrap, step by step:</a:t>
            </a:r>
          </a:p>
          <a:p>
            <a:r>
              <a:t>     a. Fit the model without address; keep each listener's leftover error.</a:t>
            </a:r>
          </a:p>
          <a:p>
            <a:r>
              <a:t>     b. In each of 2,000 rounds, toss 1 coin per SHOW; on tails, flip the sign of every error in that show.</a:t>
            </a:r>
          </a:p>
          <a:p>
            <a:r>
              <a:t>     c. Add the flipped errors back to the no-address predictions → a fake outcome in which address truly does nothing.</a:t>
            </a:r>
          </a:p>
          <a:p>
            <a:r>
              <a:t>     d. Refit the full model on the fake outcome; record how big the address effect looks.</a:t>
            </a:r>
          </a:p>
          <a:p>
            <a:r>
              <a:t>     e. p = share of the 2,000 fake effects at least as extreme as the real one.</a:t>
            </a:r>
          </a:p>
          <a:p>
            <a:r>
              <a:t>  3. A show-level shuffle test as a third check; plus dropping each show in turn, and varying the political-content threshold.</a:t>
            </a:r>
          </a:p>
          <a:p>
            <a:r>
              <a:t>• Scales: the cynicism score is standardized on the whole survey, never on the listener subset; address is standardized on the 194 shows in the collection, and the 6 outside shows are scored against that same yardstick.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731520" y="6400800"/>
            <a:ext cx="8229600" cy="274320"/>
          </a:xfrm>
          <a:prstGeom prst="rect">
            <a:avLst/>
          </a:prstGeom>
          <a:noFill/>
        </p:spPr>
        <p:txBody>
          <a:bodyPr wrap="square" anchor="t" lIns="0" rIns="0" tIns="0" bIns="0">
            <a:spAutoFit/>
          </a:bodyPr>
          <a:lstStyle/>
          <a:p>
            <a:pPr algn="l">
              <a:lnSpc>
                <a:spcPct val="115000"/>
              </a:lnSpc>
              <a:spcAft>
                <a:spcPts val="600"/>
              </a:spcAft>
            </a:pPr>
            <a:r>
              <a:rPr sz="1000" b="0" i="0">
                <a:solidFill>
                  <a:srgbClr val="737B87"/>
                </a:solidFill>
                <a:latin typeface="Calibri"/>
              </a:rPr>
              <a:t>Talking at the Audience  ·  Yang &amp; Alvarez  ·  Linde Center, Caltech</a:t>
            </a:r>
          </a:p>
        </p:txBody>
      </p:sp>
      <p:sp>
        <p:nvSpPr>
          <p:cNvPr id="3" name="TextBox 2"/>
          <p:cNvSpPr txBox="1"/>
          <p:nvPr/>
        </p:nvSpPr>
        <p:spPr>
          <a:xfrm>
            <a:off x="10545775" y="6400800"/>
            <a:ext cx="914400" cy="274320"/>
          </a:xfrm>
          <a:prstGeom prst="rect">
            <a:avLst/>
          </a:prstGeom>
          <a:noFill/>
        </p:spPr>
        <p:txBody>
          <a:bodyPr wrap="square" anchor="t" lIns="0" rIns="0" tIns="0" bIns="0">
            <a:spAutoFit/>
          </a:bodyPr>
          <a:lstStyle/>
          <a:p>
            <a:pPr algn="r">
              <a:lnSpc>
                <a:spcPct val="115000"/>
              </a:lnSpc>
              <a:spcAft>
                <a:spcPts val="600"/>
              </a:spcAft>
            </a:pPr>
            <a:r>
              <a:rPr sz="1000" b="0" i="0">
                <a:solidFill>
                  <a:srgbClr val="737B87"/>
                </a:solidFill>
                <a:latin typeface="Calibri"/>
              </a:rPr>
              <a:t>1</a:t>
            </a:r>
          </a:p>
        </p:txBody>
      </p:sp>
      <p:sp>
        <p:nvSpPr>
          <p:cNvPr id="4" name="TextBox 3"/>
          <p:cNvSpPr txBox="1"/>
          <p:nvPr/>
        </p:nvSpPr>
        <p:spPr>
          <a:xfrm>
            <a:off x="731520" y="1828800"/>
            <a:ext cx="10058400" cy="365760"/>
          </a:xfrm>
          <a:prstGeom prst="rect">
            <a:avLst/>
          </a:prstGeom>
          <a:noFill/>
        </p:spPr>
        <p:txBody>
          <a:bodyPr wrap="square" anchor="t" lIns="0" rIns="0" tIns="0" bIns="0">
            <a:spAutoFit/>
          </a:bodyPr>
          <a:lstStyle/>
          <a:p>
            <a:pPr algn="l">
              <a:lnSpc>
                <a:spcPct val="115000"/>
              </a:lnSpc>
              <a:spcAft>
                <a:spcPts val="600"/>
              </a:spcAft>
            </a:pPr>
            <a:r>
              <a:rPr sz="1200" b="1" i="0">
                <a:solidFill>
                  <a:srgbClr val="CF7272"/>
                </a:solidFill>
                <a:latin typeface="Calibri"/>
              </a:rPr>
              <a:t>PAPER TALK  ·  SEPTEMBER 2026</a:t>
            </a:r>
          </a:p>
        </p:txBody>
      </p:sp>
      <p:sp>
        <p:nvSpPr>
          <p:cNvPr id="5" name="TextBox 4"/>
          <p:cNvSpPr txBox="1"/>
          <p:nvPr/>
        </p:nvSpPr>
        <p:spPr>
          <a:xfrm>
            <a:off x="731520" y="2194560"/>
            <a:ext cx="10515600" cy="1463040"/>
          </a:xfrm>
          <a:prstGeom prst="rect">
            <a:avLst/>
          </a:prstGeom>
          <a:noFill/>
        </p:spPr>
        <p:txBody>
          <a:bodyPr wrap="square" anchor="t" lIns="0" rIns="0" tIns="0" bIns="0">
            <a:spAutoFit/>
          </a:bodyPr>
          <a:lstStyle/>
          <a:p>
            <a:pPr algn="l">
              <a:lnSpc>
                <a:spcPct val="115000"/>
              </a:lnSpc>
              <a:spcAft>
                <a:spcPts val="600"/>
              </a:spcAft>
            </a:pPr>
            <a:r>
              <a:rPr sz="5600" b="0" i="0">
                <a:solidFill>
                  <a:srgbClr val="E7E9EC"/>
                </a:solidFill>
                <a:latin typeface="Georgia"/>
              </a:rPr>
              <a:t>Talking at the Audience</a:t>
            </a:r>
          </a:p>
        </p:txBody>
      </p:sp>
      <p:sp>
        <p:nvSpPr>
          <p:cNvPr id="6" name="TextBox 5"/>
          <p:cNvSpPr txBox="1"/>
          <p:nvPr/>
        </p:nvSpPr>
        <p:spPr>
          <a:xfrm>
            <a:off x="731520" y="3429000"/>
            <a:ext cx="10058400" cy="1097280"/>
          </a:xfrm>
          <a:prstGeom prst="rect">
            <a:avLst/>
          </a:prstGeom>
          <a:noFill/>
        </p:spPr>
        <p:txBody>
          <a:bodyPr wrap="square" anchor="t" lIns="0" rIns="0" tIns="0" bIns="0">
            <a:spAutoFit/>
          </a:bodyPr>
          <a:lstStyle/>
          <a:p>
            <a:pPr algn="l">
              <a:lnSpc>
                <a:spcPct val="115000"/>
              </a:lnSpc>
              <a:spcAft>
                <a:spcPts val="600"/>
              </a:spcAft>
            </a:pPr>
            <a:r>
              <a:rPr sz="2200" b="0" i="0">
                <a:solidFill>
                  <a:srgbClr val="B2B8C1"/>
                </a:solidFill>
                <a:latin typeface="Georgia"/>
              </a:rPr>
              <a:t>Listener-directed address in political podcasts, and the institutional cynicism of the people who listen</a:t>
            </a:r>
          </a:p>
        </p:txBody>
      </p:sp>
      <p:sp>
        <p:nvSpPr>
          <p:cNvPr id="7" name="TextBox 6"/>
          <p:cNvSpPr txBox="1"/>
          <p:nvPr/>
        </p:nvSpPr>
        <p:spPr>
          <a:xfrm>
            <a:off x="731520" y="4937760"/>
            <a:ext cx="10058400" cy="822960"/>
          </a:xfrm>
          <a:prstGeom prst="rect">
            <a:avLst/>
          </a:prstGeom>
          <a:noFill/>
        </p:spPr>
        <p:txBody>
          <a:bodyPr wrap="square" anchor="t" lIns="0" rIns="0" tIns="0" bIns="0">
            <a:spAutoFit/>
          </a:bodyPr>
          <a:lstStyle/>
          <a:p>
            <a:pPr algn="l">
              <a:lnSpc>
                <a:spcPct val="115000"/>
              </a:lnSpc>
              <a:spcAft>
                <a:spcPts val="600"/>
              </a:spcAft>
            </a:pPr>
            <a:r>
              <a:rPr sz="1600" b="1" i="0">
                <a:solidFill>
                  <a:srgbClr val="E7E9EC"/>
                </a:solidFill>
                <a:latin typeface="Calibri"/>
              </a:rPr>
              <a:t>Danielle Yang</a:t>
            </a:r>
            <a:r>
              <a:rPr sz="1600" b="0" i="0">
                <a:solidFill>
                  <a:srgbClr val="B2B8C1"/>
                </a:solidFill>
                <a:latin typeface="Calibri"/>
              </a:rPr>
              <a:t>   with R. Michael Alvarez</a:t>
            </a:r>
          </a:p>
          <a:p>
            <a:pPr algn="l">
              <a:lnSpc>
                <a:spcPct val="115000"/>
              </a:lnSpc>
              <a:spcAft>
                <a:spcPts val="600"/>
              </a:spcAft>
            </a:pPr>
            <a:r>
              <a:rPr sz="1400" b="0" i="0">
                <a:solidFill>
                  <a:srgbClr val="7F8792"/>
                </a:solidFill>
                <a:latin typeface="Calibri"/>
              </a:rPr>
              <a:t>Linde Center for Science, Society, and Policy · Caltech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1F3F5"/>
        </a:solidFill>
        <a:effectLst/>
      </p:bgPr>
    </p:bg>
    <p:spTree>
      <p:nvGrpSpPr>
        <p:cNvPr id="1" name=""/>
        <p:cNvGrpSpPr/>
        <p:nvPr/>
      </p:nvGrpSpPr>
      <p:grpSpPr/>
      <p:sp>
        <p:nvSpPr>
          <p:cNvPr id="2" name="TextBox 1"/>
          <p:cNvSpPr txBox="1"/>
          <p:nvPr/>
        </p:nvSpPr>
        <p:spPr>
          <a:xfrm>
            <a:off x="731520" y="6400800"/>
            <a:ext cx="8229600" cy="274320"/>
          </a:xfrm>
          <a:prstGeom prst="rect">
            <a:avLst/>
          </a:prstGeom>
          <a:noFill/>
        </p:spPr>
        <p:txBody>
          <a:bodyPr wrap="square" anchor="t" lIns="0" rIns="0" tIns="0" bIns="0">
            <a:spAutoFit/>
          </a:bodyPr>
          <a:lstStyle/>
          <a:p>
            <a:pPr algn="l">
              <a:lnSpc>
                <a:spcPct val="115000"/>
              </a:lnSpc>
              <a:spcAft>
                <a:spcPts val="600"/>
              </a:spcAft>
            </a:pPr>
            <a:r>
              <a:rPr sz="1000" b="0" i="0">
                <a:solidFill>
                  <a:srgbClr val="737B87"/>
                </a:solidFill>
                <a:latin typeface="Calibri"/>
              </a:rPr>
              <a:t>Talking at the Audience  ·  Yang &amp; Alvarez  ·  Linde Center, Caltech</a:t>
            </a:r>
          </a:p>
        </p:txBody>
      </p:sp>
      <p:sp>
        <p:nvSpPr>
          <p:cNvPr id="3" name="TextBox 2"/>
          <p:cNvSpPr txBox="1"/>
          <p:nvPr/>
        </p:nvSpPr>
        <p:spPr>
          <a:xfrm>
            <a:off x="10545775" y="6400800"/>
            <a:ext cx="914400" cy="274320"/>
          </a:xfrm>
          <a:prstGeom prst="rect">
            <a:avLst/>
          </a:prstGeom>
          <a:noFill/>
        </p:spPr>
        <p:txBody>
          <a:bodyPr wrap="square" anchor="t" lIns="0" rIns="0" tIns="0" bIns="0">
            <a:spAutoFit/>
          </a:bodyPr>
          <a:lstStyle/>
          <a:p>
            <a:pPr algn="r">
              <a:lnSpc>
                <a:spcPct val="115000"/>
              </a:lnSpc>
              <a:spcAft>
                <a:spcPts val="600"/>
              </a:spcAft>
            </a:pPr>
            <a:r>
              <a:rPr sz="1000" b="0" i="0">
                <a:solidFill>
                  <a:srgbClr val="737B87"/>
                </a:solidFill>
                <a:latin typeface="Calibri"/>
              </a:rPr>
              <a:t>2</a:t>
            </a:r>
          </a:p>
        </p:txBody>
      </p:sp>
      <p:sp>
        <p:nvSpPr>
          <p:cNvPr id="4" name="TextBox 3"/>
          <p:cNvSpPr txBox="1"/>
          <p:nvPr/>
        </p:nvSpPr>
        <p:spPr>
          <a:xfrm>
            <a:off x="731520" y="411480"/>
            <a:ext cx="7315200" cy="274320"/>
          </a:xfrm>
          <a:prstGeom prst="rect">
            <a:avLst/>
          </a:prstGeom>
          <a:noFill/>
        </p:spPr>
        <p:txBody>
          <a:bodyPr wrap="square" anchor="t" lIns="0" rIns="0" tIns="0" bIns="0">
            <a:spAutoFit/>
          </a:bodyPr>
          <a:lstStyle/>
          <a:p>
            <a:pPr algn="l">
              <a:lnSpc>
                <a:spcPct val="115000"/>
              </a:lnSpc>
              <a:spcAft>
                <a:spcPts val="600"/>
              </a:spcAft>
            </a:pPr>
            <a:r>
              <a:rPr sz="1100" b="1" i="0">
                <a:solidFill>
                  <a:srgbClr val="7A2E2E"/>
                </a:solidFill>
                <a:latin typeface="Calibri"/>
              </a:rPr>
              <a:t>MOTIVATION</a:t>
            </a:r>
          </a:p>
        </p:txBody>
      </p:sp>
      <p:sp>
        <p:nvSpPr>
          <p:cNvPr id="5" name="TextBox 4"/>
          <p:cNvSpPr txBox="1"/>
          <p:nvPr/>
        </p:nvSpPr>
        <p:spPr>
          <a:xfrm>
            <a:off x="731520" y="731520"/>
            <a:ext cx="10728655" cy="1097280"/>
          </a:xfrm>
          <a:prstGeom prst="rect">
            <a:avLst/>
          </a:prstGeom>
          <a:noFill/>
        </p:spPr>
        <p:txBody>
          <a:bodyPr wrap="square" anchor="t" lIns="0" rIns="0" tIns="0" bIns="0">
            <a:spAutoFit/>
          </a:bodyPr>
          <a:lstStyle/>
          <a:p>
            <a:pPr algn="l">
              <a:lnSpc>
                <a:spcPct val="105000"/>
              </a:lnSpc>
              <a:spcAft>
                <a:spcPts val="600"/>
              </a:spcAft>
            </a:pPr>
            <a:r>
              <a:rPr sz="3400" b="0" i="0">
                <a:solidFill>
                  <a:srgbClr val="14171C"/>
                </a:solidFill>
                <a:latin typeface="Georgia"/>
              </a:rPr>
              <a:t>A major political medium, mostly unmeasured</a:t>
            </a:r>
          </a:p>
        </p:txBody>
      </p:sp>
      <p:sp>
        <p:nvSpPr>
          <p:cNvPr id="6" name="Rectangle 5"/>
          <p:cNvSpPr/>
          <p:nvPr/>
        </p:nvSpPr>
        <p:spPr>
          <a:xfrm>
            <a:off x="731520" y="1417320"/>
            <a:ext cx="822960" cy="28000"/>
          </a:xfrm>
          <a:prstGeom prst="rect">
            <a:avLst/>
          </a:prstGeom>
          <a:solidFill>
            <a:srgbClr val="7A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011680"/>
            <a:ext cx="6035040" cy="3840480"/>
          </a:xfrm>
          <a:prstGeom prst="rect">
            <a:avLst/>
          </a:prstGeom>
          <a:noFill/>
        </p:spPr>
        <p:txBody>
          <a:bodyPr wrap="square" lIns="0" rIns="0" tIns="0" bIns="0">
            <a:spAutoFit/>
          </a:bodyPr>
          <a:lstStyle/>
          <a:p>
            <a:pPr>
              <a:lnSpc>
                <a:spcPct val="112000"/>
              </a:lnSpc>
              <a:spcAft>
                <a:spcPts val="800"/>
              </a:spcAft>
            </a:pPr>
            <a:r>
              <a:rPr sz="1700">
                <a:solidFill>
                  <a:srgbClr val="7A2E2E"/>
                </a:solidFill>
                <a:latin typeface="Calibri"/>
              </a:rPr>
              <a:t>•  </a:t>
            </a:r>
            <a:r>
              <a:rPr sz="1700" b="0" i="0">
                <a:solidFill>
                  <a:srgbClr val="14171C"/>
                </a:solidFill>
                <a:latin typeface="Calibri"/>
              </a:rPr>
              <a:t>Podcasts are now a primary political news source for millions of Americans, and the largest political shows out-draw cable news.</a:t>
            </a:r>
          </a:p>
          <a:p>
            <a:pPr>
              <a:lnSpc>
                <a:spcPct val="112000"/>
              </a:lnSpc>
              <a:spcAft>
                <a:spcPts val="800"/>
              </a:spcAft>
            </a:pPr>
            <a:r>
              <a:rPr sz="1700">
                <a:solidFill>
                  <a:srgbClr val="7A2E2E"/>
                </a:solidFill>
                <a:latin typeface="Calibri"/>
              </a:rPr>
              <a:t>•  </a:t>
            </a:r>
            <a:r>
              <a:rPr sz="1700" b="0" i="0">
                <a:solidFill>
                  <a:srgbClr val="14171C"/>
                </a:solidFill>
                <a:latin typeface="Calibri"/>
              </a:rPr>
              <a:t>Almost all of what we know about partisan media comes from television and print: incivility, outrage, strategy framing.</a:t>
            </a:r>
          </a:p>
          <a:p>
            <a:pPr>
              <a:lnSpc>
                <a:spcPct val="112000"/>
              </a:lnSpc>
              <a:spcAft>
                <a:spcPts val="800"/>
              </a:spcAft>
            </a:pPr>
            <a:r>
              <a:rPr sz="1700">
                <a:solidFill>
                  <a:srgbClr val="7A2E2E"/>
                </a:solidFill>
                <a:latin typeface="Calibri"/>
              </a:rPr>
              <a:t>•  </a:t>
            </a:r>
            <a:r>
              <a:rPr sz="1700" b="0" i="0">
                <a:solidFill>
                  <a:srgbClr val="14171C"/>
                </a:solidFill>
                <a:latin typeface="Calibri"/>
              </a:rPr>
              <a:t>Podcasts are different in form: long, intimate, one voice speaking directly to a listener for hours a week.</a:t>
            </a:r>
          </a:p>
          <a:p>
            <a:pPr>
              <a:lnSpc>
                <a:spcPct val="112000"/>
              </a:lnSpc>
              <a:spcAft>
                <a:spcPts val="800"/>
              </a:spcAft>
            </a:pPr>
            <a:r>
              <a:rPr sz="1700">
                <a:solidFill>
                  <a:srgbClr val="7A2E2E"/>
                </a:solidFill>
                <a:latin typeface="Calibri"/>
              </a:rPr>
              <a:t>•  </a:t>
            </a:r>
            <a:r>
              <a:rPr sz="1700" b="0" i="0">
                <a:solidFill>
                  <a:srgbClr val="14171C"/>
                </a:solidFill>
                <a:latin typeface="Calibri"/>
              </a:rPr>
              <a:t>The common assumption is that the right-leaning shows are angrier. Nobody had measured it at scale.</a:t>
            </a:r>
          </a:p>
          <a:p>
            <a:pPr>
              <a:lnSpc>
                <a:spcPct val="112000"/>
              </a:lnSpc>
              <a:spcAft>
                <a:spcPts val="800"/>
              </a:spcAft>
            </a:pPr>
            <a:r>
              <a:rPr sz="1700">
                <a:solidFill>
                  <a:srgbClr val="7A2E2E"/>
                </a:solidFill>
                <a:latin typeface="Calibri"/>
              </a:rPr>
              <a:t>•  </a:t>
            </a:r>
            <a:r>
              <a:rPr sz="1700" b="0" i="0">
                <a:solidFill>
                  <a:srgbClr val="14171C"/>
                </a:solidFill>
                <a:latin typeface="Calibri"/>
              </a:rPr>
              <a:t>And nobody had linked what hosts say to who is actually listening and what those listeners believe.</a:t>
            </a:r>
          </a:p>
        </p:txBody>
      </p:sp>
      <p:sp>
        <p:nvSpPr>
          <p:cNvPr id="8" name="Rectangle 7"/>
          <p:cNvSpPr/>
          <p:nvPr/>
        </p:nvSpPr>
        <p:spPr>
          <a:xfrm>
            <a:off x="7223760" y="2011680"/>
            <a:ext cx="4206240" cy="3566160"/>
          </a:xfrm>
          <a:prstGeom prst="rect">
            <a:avLst/>
          </a:prstGeom>
          <a:solidFill>
            <a:srgbClr val="FAFBFC"/>
          </a:solidFill>
          <a:ln w="9525">
            <a:solidFill>
              <a:srgbClr val="D6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79" y="2194560"/>
            <a:ext cx="3657600" cy="365760"/>
          </a:xfrm>
          <a:prstGeom prst="rect">
            <a:avLst/>
          </a:prstGeom>
          <a:noFill/>
        </p:spPr>
        <p:txBody>
          <a:bodyPr wrap="square" anchor="t" lIns="0" rIns="0" tIns="0" bIns="0">
            <a:spAutoFit/>
          </a:bodyPr>
          <a:lstStyle/>
          <a:p>
            <a:pPr algn="l">
              <a:lnSpc>
                <a:spcPct val="115000"/>
              </a:lnSpc>
              <a:spcAft>
                <a:spcPts val="600"/>
              </a:spcAft>
            </a:pPr>
            <a:r>
              <a:rPr sz="1100" b="1" i="0">
                <a:solidFill>
                  <a:srgbClr val="7A2E2E"/>
                </a:solidFill>
                <a:latin typeface="Calibri"/>
              </a:rPr>
              <a:t>TWO GAPS THIS PAPER FILLS</a:t>
            </a:r>
          </a:p>
        </p:txBody>
      </p:sp>
      <p:sp>
        <p:nvSpPr>
          <p:cNvPr id="10" name="TextBox 9"/>
          <p:cNvSpPr txBox="1"/>
          <p:nvPr/>
        </p:nvSpPr>
        <p:spPr>
          <a:xfrm>
            <a:off x="7498079" y="2606040"/>
            <a:ext cx="3657600" cy="2926080"/>
          </a:xfrm>
          <a:prstGeom prst="rect">
            <a:avLst/>
          </a:prstGeom>
          <a:noFill/>
        </p:spPr>
        <p:txBody>
          <a:bodyPr wrap="square" anchor="t" lIns="0" rIns="0" tIns="0" bIns="0">
            <a:spAutoFit/>
          </a:bodyPr>
          <a:lstStyle/>
          <a:p>
            <a:pPr algn="l">
              <a:lnSpc>
                <a:spcPct val="115000"/>
              </a:lnSpc>
              <a:spcAft>
                <a:spcPts val="1400"/>
              </a:spcAft>
            </a:pPr>
            <a:r>
              <a:rPr sz="1500" b="1" i="0">
                <a:solidFill>
                  <a:srgbClr val="434A55"/>
                </a:solidFill>
                <a:latin typeface="Calibri"/>
              </a:rPr>
              <a:t>1  Content. </a:t>
            </a:r>
            <a:r>
              <a:rPr sz="1500" b="0" i="0">
                <a:solidFill>
                  <a:srgbClr val="434A55"/>
                </a:solidFill>
                <a:latin typeface="Calibri"/>
              </a:rPr>
              <a:t>A transcribed, validated corpus of the political podcast field, with register measured on it.</a:t>
            </a:r>
          </a:p>
          <a:p>
            <a:pPr algn="l">
              <a:lnSpc>
                <a:spcPct val="115000"/>
              </a:lnSpc>
              <a:spcAft>
                <a:spcPts val="1400"/>
              </a:spcAft>
            </a:pPr>
            <a:r>
              <a:rPr sz="1500" b="1" i="0">
                <a:solidFill>
                  <a:srgbClr val="434A55"/>
                </a:solidFill>
                <a:latin typeface="Calibri"/>
              </a:rPr>
              <a:t>2  Audience. </a:t>
            </a:r>
            <a:r>
              <a:rPr sz="1500" b="0" i="0">
                <a:solidFill>
                  <a:srgbClr val="434A55"/>
                </a:solidFill>
                <a:latin typeface="Calibri"/>
              </a:rPr>
              <a:t>The corpus linked to two national probability surveys, so shows can be matched to their own listeners.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F3F5"/>
        </a:solidFill>
        <a:effectLst/>
      </p:bgPr>
    </p:bg>
    <p:spTree>
      <p:nvGrpSpPr>
        <p:cNvPr id="1" name=""/>
        <p:cNvGrpSpPr/>
        <p:nvPr/>
      </p:nvGrpSpPr>
      <p:grpSpPr/>
      <p:sp>
        <p:nvSpPr>
          <p:cNvPr id="2" name="TextBox 1"/>
          <p:cNvSpPr txBox="1"/>
          <p:nvPr/>
        </p:nvSpPr>
        <p:spPr>
          <a:xfrm>
            <a:off x="731520" y="6400800"/>
            <a:ext cx="8229600" cy="274320"/>
          </a:xfrm>
          <a:prstGeom prst="rect">
            <a:avLst/>
          </a:prstGeom>
          <a:noFill/>
        </p:spPr>
        <p:txBody>
          <a:bodyPr wrap="square" anchor="t" lIns="0" rIns="0" tIns="0" bIns="0">
            <a:spAutoFit/>
          </a:bodyPr>
          <a:lstStyle/>
          <a:p>
            <a:pPr algn="l">
              <a:lnSpc>
                <a:spcPct val="115000"/>
              </a:lnSpc>
              <a:spcAft>
                <a:spcPts val="600"/>
              </a:spcAft>
            </a:pPr>
            <a:r>
              <a:rPr sz="1000" b="0" i="0">
                <a:solidFill>
                  <a:srgbClr val="737B87"/>
                </a:solidFill>
                <a:latin typeface="Calibri"/>
              </a:rPr>
              <a:t>Talking at the Audience  ·  Yang &amp; Alvarez  ·  Linde Center, Caltech</a:t>
            </a:r>
          </a:p>
        </p:txBody>
      </p:sp>
      <p:sp>
        <p:nvSpPr>
          <p:cNvPr id="3" name="TextBox 2"/>
          <p:cNvSpPr txBox="1"/>
          <p:nvPr/>
        </p:nvSpPr>
        <p:spPr>
          <a:xfrm>
            <a:off x="10545775" y="6400800"/>
            <a:ext cx="914400" cy="274320"/>
          </a:xfrm>
          <a:prstGeom prst="rect">
            <a:avLst/>
          </a:prstGeom>
          <a:noFill/>
        </p:spPr>
        <p:txBody>
          <a:bodyPr wrap="square" anchor="t" lIns="0" rIns="0" tIns="0" bIns="0">
            <a:spAutoFit/>
          </a:bodyPr>
          <a:lstStyle/>
          <a:p>
            <a:pPr algn="r">
              <a:lnSpc>
                <a:spcPct val="115000"/>
              </a:lnSpc>
              <a:spcAft>
                <a:spcPts val="600"/>
              </a:spcAft>
            </a:pPr>
            <a:r>
              <a:rPr sz="1000" b="0" i="0">
                <a:solidFill>
                  <a:srgbClr val="737B87"/>
                </a:solidFill>
                <a:latin typeface="Calibri"/>
              </a:rPr>
              <a:t>3</a:t>
            </a:r>
          </a:p>
        </p:txBody>
      </p:sp>
      <p:sp>
        <p:nvSpPr>
          <p:cNvPr id="4" name="TextBox 3"/>
          <p:cNvSpPr txBox="1"/>
          <p:nvPr/>
        </p:nvSpPr>
        <p:spPr>
          <a:xfrm>
            <a:off x="731520" y="411480"/>
            <a:ext cx="7315200" cy="274320"/>
          </a:xfrm>
          <a:prstGeom prst="rect">
            <a:avLst/>
          </a:prstGeom>
          <a:noFill/>
        </p:spPr>
        <p:txBody>
          <a:bodyPr wrap="square" anchor="t" lIns="0" rIns="0" tIns="0" bIns="0">
            <a:spAutoFit/>
          </a:bodyPr>
          <a:lstStyle/>
          <a:p>
            <a:pPr algn="l">
              <a:lnSpc>
                <a:spcPct val="115000"/>
              </a:lnSpc>
              <a:spcAft>
                <a:spcPts val="600"/>
              </a:spcAft>
            </a:pPr>
            <a:r>
              <a:rPr sz="1100" b="1" i="0">
                <a:solidFill>
                  <a:srgbClr val="7A2E2E"/>
                </a:solidFill>
                <a:latin typeface="Calibri"/>
              </a:rPr>
              <a:t>RESEARCH QUESTIONS</a:t>
            </a:r>
          </a:p>
        </p:txBody>
      </p:sp>
      <p:sp>
        <p:nvSpPr>
          <p:cNvPr id="5" name="TextBox 4"/>
          <p:cNvSpPr txBox="1"/>
          <p:nvPr/>
        </p:nvSpPr>
        <p:spPr>
          <a:xfrm>
            <a:off x="731520" y="731520"/>
            <a:ext cx="10728655" cy="1097280"/>
          </a:xfrm>
          <a:prstGeom prst="rect">
            <a:avLst/>
          </a:prstGeom>
          <a:noFill/>
        </p:spPr>
        <p:txBody>
          <a:bodyPr wrap="square" anchor="t" lIns="0" rIns="0" tIns="0" bIns="0">
            <a:spAutoFit/>
          </a:bodyPr>
          <a:lstStyle/>
          <a:p>
            <a:pPr algn="l">
              <a:lnSpc>
                <a:spcPct val="105000"/>
              </a:lnSpc>
              <a:spcAft>
                <a:spcPts val="600"/>
              </a:spcAft>
            </a:pPr>
            <a:r>
              <a:rPr sz="3400" b="0" i="0">
                <a:solidFill>
                  <a:srgbClr val="14171C"/>
                </a:solidFill>
                <a:latin typeface="Georgia"/>
              </a:rPr>
              <a:t>Three questions</a:t>
            </a:r>
          </a:p>
        </p:txBody>
      </p:sp>
      <p:sp>
        <p:nvSpPr>
          <p:cNvPr id="6" name="Rectangle 5"/>
          <p:cNvSpPr/>
          <p:nvPr/>
        </p:nvSpPr>
        <p:spPr>
          <a:xfrm>
            <a:off x="731520" y="1417320"/>
            <a:ext cx="822960" cy="28000"/>
          </a:xfrm>
          <a:prstGeom prst="rect">
            <a:avLst/>
          </a:prstGeom>
          <a:solidFill>
            <a:srgbClr val="7A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011680"/>
            <a:ext cx="914400" cy="548640"/>
          </a:xfrm>
          <a:prstGeom prst="rect">
            <a:avLst/>
          </a:prstGeom>
          <a:noFill/>
        </p:spPr>
        <p:txBody>
          <a:bodyPr wrap="square" anchor="t" lIns="0" rIns="0" tIns="0" bIns="0">
            <a:spAutoFit/>
          </a:bodyPr>
          <a:lstStyle/>
          <a:p>
            <a:pPr algn="l">
              <a:lnSpc>
                <a:spcPct val="115000"/>
              </a:lnSpc>
              <a:spcAft>
                <a:spcPts val="600"/>
              </a:spcAft>
            </a:pPr>
            <a:r>
              <a:rPr sz="2200" b="0" i="0">
                <a:solidFill>
                  <a:srgbClr val="7A2E2E"/>
                </a:solidFill>
                <a:latin typeface="Georgia"/>
              </a:rPr>
              <a:t>RQ1</a:t>
            </a:r>
          </a:p>
        </p:txBody>
      </p:sp>
      <p:sp>
        <p:nvSpPr>
          <p:cNvPr id="8" name="TextBox 7"/>
          <p:cNvSpPr txBox="1"/>
          <p:nvPr/>
        </p:nvSpPr>
        <p:spPr>
          <a:xfrm>
            <a:off x="1737360" y="1993392"/>
            <a:ext cx="9601200" cy="548640"/>
          </a:xfrm>
          <a:prstGeom prst="rect">
            <a:avLst/>
          </a:prstGeom>
          <a:noFill/>
        </p:spPr>
        <p:txBody>
          <a:bodyPr wrap="square" anchor="t" lIns="0" rIns="0" tIns="0" bIns="0">
            <a:spAutoFit/>
          </a:bodyPr>
          <a:lstStyle/>
          <a:p>
            <a:pPr algn="l">
              <a:lnSpc>
                <a:spcPct val="115000"/>
              </a:lnSpc>
              <a:spcAft>
                <a:spcPts val="600"/>
              </a:spcAft>
            </a:pPr>
            <a:r>
              <a:rPr sz="2000" b="0" i="0">
                <a:solidFill>
                  <a:srgbClr val="14171C"/>
                </a:solidFill>
                <a:latin typeface="Georgia"/>
              </a:rPr>
              <a:t>How do left- and right-leaning political podcasts differ in how hosts talk?</a:t>
            </a:r>
          </a:p>
        </p:txBody>
      </p:sp>
      <p:sp>
        <p:nvSpPr>
          <p:cNvPr id="9" name="TextBox 8"/>
          <p:cNvSpPr txBox="1"/>
          <p:nvPr/>
        </p:nvSpPr>
        <p:spPr>
          <a:xfrm>
            <a:off x="1737360" y="2560320"/>
            <a:ext cx="9601200" cy="548640"/>
          </a:xfrm>
          <a:prstGeom prst="rect">
            <a:avLst/>
          </a:prstGeom>
          <a:noFill/>
        </p:spPr>
        <p:txBody>
          <a:bodyPr wrap="square" anchor="t" lIns="0" rIns="0" tIns="0" bIns="0">
            <a:spAutoFit/>
          </a:bodyPr>
          <a:lstStyle/>
          <a:p>
            <a:pPr algn="l">
              <a:lnSpc>
                <a:spcPct val="115000"/>
              </a:lnSpc>
              <a:spcAft>
                <a:spcPts val="600"/>
              </a:spcAft>
            </a:pPr>
            <a:r>
              <a:rPr sz="1400" b="0" i="0">
                <a:solidFill>
                  <a:srgbClr val="434A55"/>
                </a:solidFill>
                <a:latin typeface="Calibri"/>
              </a:rPr>
              <a:t>Hostility? Moral language? Or something about the relationship the host sets up with the listener?</a:t>
            </a:r>
          </a:p>
        </p:txBody>
      </p:sp>
      <p:sp>
        <p:nvSpPr>
          <p:cNvPr id="10" name="TextBox 9"/>
          <p:cNvSpPr txBox="1"/>
          <p:nvPr/>
        </p:nvSpPr>
        <p:spPr>
          <a:xfrm>
            <a:off x="731520" y="3383280"/>
            <a:ext cx="914400" cy="548640"/>
          </a:xfrm>
          <a:prstGeom prst="rect">
            <a:avLst/>
          </a:prstGeom>
          <a:noFill/>
        </p:spPr>
        <p:txBody>
          <a:bodyPr wrap="square" anchor="t" lIns="0" rIns="0" tIns="0" bIns="0">
            <a:spAutoFit/>
          </a:bodyPr>
          <a:lstStyle/>
          <a:p>
            <a:pPr algn="l">
              <a:lnSpc>
                <a:spcPct val="115000"/>
              </a:lnSpc>
              <a:spcAft>
                <a:spcPts val="600"/>
              </a:spcAft>
            </a:pPr>
            <a:r>
              <a:rPr sz="2200" b="0" i="0">
                <a:solidFill>
                  <a:srgbClr val="7A2E2E"/>
                </a:solidFill>
                <a:latin typeface="Georgia"/>
              </a:rPr>
              <a:t>RQ2</a:t>
            </a:r>
          </a:p>
        </p:txBody>
      </p:sp>
      <p:sp>
        <p:nvSpPr>
          <p:cNvPr id="11" name="TextBox 10"/>
          <p:cNvSpPr txBox="1"/>
          <p:nvPr/>
        </p:nvSpPr>
        <p:spPr>
          <a:xfrm>
            <a:off x="1737360" y="3364992"/>
            <a:ext cx="9601200" cy="548640"/>
          </a:xfrm>
          <a:prstGeom prst="rect">
            <a:avLst/>
          </a:prstGeom>
          <a:noFill/>
        </p:spPr>
        <p:txBody>
          <a:bodyPr wrap="square" anchor="t" lIns="0" rIns="0" tIns="0" bIns="0">
            <a:spAutoFit/>
          </a:bodyPr>
          <a:lstStyle/>
          <a:p>
            <a:pPr algn="l">
              <a:lnSpc>
                <a:spcPct val="115000"/>
              </a:lnSpc>
              <a:spcAft>
                <a:spcPts val="600"/>
              </a:spcAft>
            </a:pPr>
            <a:r>
              <a:rPr sz="2000" b="0" i="0">
                <a:solidFill>
                  <a:srgbClr val="14171C"/>
                </a:solidFill>
                <a:latin typeface="Georgia"/>
              </a:rPr>
              <a:t>Who listens to political podcasts, and how do they differ from other news consumers?</a:t>
            </a:r>
          </a:p>
        </p:txBody>
      </p:sp>
      <p:sp>
        <p:nvSpPr>
          <p:cNvPr id="12" name="TextBox 11"/>
          <p:cNvSpPr txBox="1"/>
          <p:nvPr/>
        </p:nvSpPr>
        <p:spPr>
          <a:xfrm>
            <a:off x="1737360" y="3931920"/>
            <a:ext cx="9601200" cy="548640"/>
          </a:xfrm>
          <a:prstGeom prst="rect">
            <a:avLst/>
          </a:prstGeom>
          <a:noFill/>
        </p:spPr>
        <p:txBody>
          <a:bodyPr wrap="square" anchor="t" lIns="0" rIns="0" tIns="0" bIns="0">
            <a:spAutoFit/>
          </a:bodyPr>
          <a:lstStyle/>
          <a:p>
            <a:pPr algn="l">
              <a:lnSpc>
                <a:spcPct val="115000"/>
              </a:lnSpc>
              <a:spcAft>
                <a:spcPts val="600"/>
              </a:spcAft>
            </a:pPr>
            <a:r>
              <a:rPr sz="1400" b="0" i="0">
                <a:solidFill>
                  <a:srgbClr val="434A55"/>
                </a:solidFill>
                <a:latin typeface="Calibri"/>
              </a:rPr>
              <a:t>Institutional trust, democratic norms, partisanship, participation — measured in national surveys.</a:t>
            </a:r>
          </a:p>
        </p:txBody>
      </p:sp>
      <p:sp>
        <p:nvSpPr>
          <p:cNvPr id="13" name="TextBox 12"/>
          <p:cNvSpPr txBox="1"/>
          <p:nvPr/>
        </p:nvSpPr>
        <p:spPr>
          <a:xfrm>
            <a:off x="731520" y="4754880"/>
            <a:ext cx="914400" cy="548640"/>
          </a:xfrm>
          <a:prstGeom prst="rect">
            <a:avLst/>
          </a:prstGeom>
          <a:noFill/>
        </p:spPr>
        <p:txBody>
          <a:bodyPr wrap="square" anchor="t" lIns="0" rIns="0" tIns="0" bIns="0">
            <a:spAutoFit/>
          </a:bodyPr>
          <a:lstStyle/>
          <a:p>
            <a:pPr algn="l">
              <a:lnSpc>
                <a:spcPct val="115000"/>
              </a:lnSpc>
              <a:spcAft>
                <a:spcPts val="600"/>
              </a:spcAft>
            </a:pPr>
            <a:r>
              <a:rPr sz="2200" b="0" i="0">
                <a:solidFill>
                  <a:srgbClr val="7A2E2E"/>
                </a:solidFill>
                <a:latin typeface="Georgia"/>
              </a:rPr>
              <a:t>RQ3</a:t>
            </a:r>
          </a:p>
        </p:txBody>
      </p:sp>
      <p:sp>
        <p:nvSpPr>
          <p:cNvPr id="14" name="TextBox 13"/>
          <p:cNvSpPr txBox="1"/>
          <p:nvPr/>
        </p:nvSpPr>
        <p:spPr>
          <a:xfrm>
            <a:off x="1737360" y="4736592"/>
            <a:ext cx="9601200" cy="548640"/>
          </a:xfrm>
          <a:prstGeom prst="rect">
            <a:avLst/>
          </a:prstGeom>
          <a:noFill/>
        </p:spPr>
        <p:txBody>
          <a:bodyPr wrap="square" anchor="t" lIns="0" rIns="0" tIns="0" bIns="0">
            <a:spAutoFit/>
          </a:bodyPr>
          <a:lstStyle/>
          <a:p>
            <a:pPr algn="l">
              <a:lnSpc>
                <a:spcPct val="115000"/>
              </a:lnSpc>
              <a:spcAft>
                <a:spcPts val="600"/>
              </a:spcAft>
            </a:pPr>
            <a:r>
              <a:rPr sz="2000" b="0" i="0">
                <a:solidFill>
                  <a:srgbClr val="14171C"/>
                </a:solidFill>
                <a:latin typeface="Georgia"/>
              </a:rPr>
              <a:t>Does a show's mode of address predict who its audience is and what they believe?</a:t>
            </a:r>
          </a:p>
        </p:txBody>
      </p:sp>
      <p:sp>
        <p:nvSpPr>
          <p:cNvPr id="15" name="TextBox 14"/>
          <p:cNvSpPr txBox="1"/>
          <p:nvPr/>
        </p:nvSpPr>
        <p:spPr>
          <a:xfrm>
            <a:off x="1737360" y="5303520"/>
            <a:ext cx="9601200" cy="548640"/>
          </a:xfrm>
          <a:prstGeom prst="rect">
            <a:avLst/>
          </a:prstGeom>
          <a:noFill/>
        </p:spPr>
        <p:txBody>
          <a:bodyPr wrap="square" anchor="t" lIns="0" rIns="0" tIns="0" bIns="0">
            <a:spAutoFit/>
          </a:bodyPr>
          <a:lstStyle/>
          <a:p>
            <a:pPr algn="l">
              <a:lnSpc>
                <a:spcPct val="115000"/>
              </a:lnSpc>
              <a:spcAft>
                <a:spcPts val="600"/>
              </a:spcAft>
            </a:pPr>
            <a:r>
              <a:rPr sz="1400" b="0" i="0">
                <a:solidFill>
                  <a:srgbClr val="434A55"/>
                </a:solidFill>
                <a:latin typeface="Calibri"/>
              </a:rPr>
              <a:t>The show-level link: register measured on transcripts, outcomes measured on the show's own listeners.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1F3F5"/>
        </a:solidFill>
        <a:effectLst/>
      </p:bgPr>
    </p:bg>
    <p:spTree>
      <p:nvGrpSpPr>
        <p:cNvPr id="1" name=""/>
        <p:cNvGrpSpPr/>
        <p:nvPr/>
      </p:nvGrpSpPr>
      <p:grpSpPr/>
      <p:sp>
        <p:nvSpPr>
          <p:cNvPr id="2" name="TextBox 1"/>
          <p:cNvSpPr txBox="1"/>
          <p:nvPr/>
        </p:nvSpPr>
        <p:spPr>
          <a:xfrm>
            <a:off x="731520" y="6400800"/>
            <a:ext cx="8229600" cy="274320"/>
          </a:xfrm>
          <a:prstGeom prst="rect">
            <a:avLst/>
          </a:prstGeom>
          <a:noFill/>
        </p:spPr>
        <p:txBody>
          <a:bodyPr wrap="square" anchor="t" lIns="0" rIns="0" tIns="0" bIns="0">
            <a:spAutoFit/>
          </a:bodyPr>
          <a:lstStyle/>
          <a:p>
            <a:pPr algn="l">
              <a:lnSpc>
                <a:spcPct val="115000"/>
              </a:lnSpc>
              <a:spcAft>
                <a:spcPts val="600"/>
              </a:spcAft>
            </a:pPr>
            <a:r>
              <a:rPr sz="1000" b="0" i="0">
                <a:solidFill>
                  <a:srgbClr val="737B87"/>
                </a:solidFill>
                <a:latin typeface="Calibri"/>
              </a:rPr>
              <a:t>Talking at the Audience  ·  Yang &amp; Alvarez  ·  Linde Center, Caltech</a:t>
            </a:r>
          </a:p>
        </p:txBody>
      </p:sp>
      <p:sp>
        <p:nvSpPr>
          <p:cNvPr id="3" name="TextBox 2"/>
          <p:cNvSpPr txBox="1"/>
          <p:nvPr/>
        </p:nvSpPr>
        <p:spPr>
          <a:xfrm>
            <a:off x="10545775" y="6400800"/>
            <a:ext cx="914400" cy="274320"/>
          </a:xfrm>
          <a:prstGeom prst="rect">
            <a:avLst/>
          </a:prstGeom>
          <a:noFill/>
        </p:spPr>
        <p:txBody>
          <a:bodyPr wrap="square" anchor="t" lIns="0" rIns="0" tIns="0" bIns="0">
            <a:spAutoFit/>
          </a:bodyPr>
          <a:lstStyle/>
          <a:p>
            <a:pPr algn="r">
              <a:lnSpc>
                <a:spcPct val="115000"/>
              </a:lnSpc>
              <a:spcAft>
                <a:spcPts val="600"/>
              </a:spcAft>
            </a:pPr>
            <a:r>
              <a:rPr sz="1000" b="0" i="0">
                <a:solidFill>
                  <a:srgbClr val="737B87"/>
                </a:solidFill>
                <a:latin typeface="Calibri"/>
              </a:rPr>
              <a:t>4</a:t>
            </a:r>
          </a:p>
        </p:txBody>
      </p:sp>
      <p:sp>
        <p:nvSpPr>
          <p:cNvPr id="4" name="TextBox 3"/>
          <p:cNvSpPr txBox="1"/>
          <p:nvPr/>
        </p:nvSpPr>
        <p:spPr>
          <a:xfrm>
            <a:off x="731520" y="411480"/>
            <a:ext cx="7315200" cy="274320"/>
          </a:xfrm>
          <a:prstGeom prst="rect">
            <a:avLst/>
          </a:prstGeom>
          <a:noFill/>
        </p:spPr>
        <p:txBody>
          <a:bodyPr wrap="square" anchor="t" lIns="0" rIns="0" tIns="0" bIns="0">
            <a:spAutoFit/>
          </a:bodyPr>
          <a:lstStyle/>
          <a:p>
            <a:pPr algn="l">
              <a:lnSpc>
                <a:spcPct val="115000"/>
              </a:lnSpc>
              <a:spcAft>
                <a:spcPts val="600"/>
              </a:spcAft>
            </a:pPr>
            <a:r>
              <a:rPr sz="1100" b="1" i="0">
                <a:solidFill>
                  <a:srgbClr val="7A2E2E"/>
                </a:solidFill>
                <a:latin typeface="Calibri"/>
              </a:rPr>
              <a:t>WHERE IT SITS</a:t>
            </a:r>
          </a:p>
        </p:txBody>
      </p:sp>
      <p:sp>
        <p:nvSpPr>
          <p:cNvPr id="5" name="TextBox 4"/>
          <p:cNvSpPr txBox="1"/>
          <p:nvPr/>
        </p:nvSpPr>
        <p:spPr>
          <a:xfrm>
            <a:off x="731520" y="731520"/>
            <a:ext cx="10728655" cy="1097280"/>
          </a:xfrm>
          <a:prstGeom prst="rect">
            <a:avLst/>
          </a:prstGeom>
          <a:noFill/>
        </p:spPr>
        <p:txBody>
          <a:bodyPr wrap="square" anchor="t" lIns="0" rIns="0" tIns="0" bIns="0">
            <a:spAutoFit/>
          </a:bodyPr>
          <a:lstStyle/>
          <a:p>
            <a:pPr algn="l">
              <a:lnSpc>
                <a:spcPct val="105000"/>
              </a:lnSpc>
              <a:spcAft>
                <a:spcPts val="600"/>
              </a:spcAft>
            </a:pPr>
            <a:r>
              <a:rPr sz="3400" b="0" i="0">
                <a:solidFill>
                  <a:srgbClr val="14171C"/>
                </a:solidFill>
                <a:latin typeface="Georgia"/>
              </a:rPr>
              <a:t>Three literatures, one prediction each</a:t>
            </a:r>
          </a:p>
        </p:txBody>
      </p:sp>
      <p:sp>
        <p:nvSpPr>
          <p:cNvPr id="6" name="Rectangle 5"/>
          <p:cNvSpPr/>
          <p:nvPr/>
        </p:nvSpPr>
        <p:spPr>
          <a:xfrm>
            <a:off x="731520" y="1417320"/>
            <a:ext cx="822960" cy="28000"/>
          </a:xfrm>
          <a:prstGeom prst="rect">
            <a:avLst/>
          </a:prstGeom>
          <a:solidFill>
            <a:srgbClr val="7A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731520" y="2011680"/>
          <a:ext cx="10698480" cy="2834640"/>
        </p:xfrm>
        <a:graphic>
          <a:graphicData uri="http://schemas.openxmlformats.org/drawingml/2006/table">
            <a:tbl>
              <a:tblPr firstRow="1" bandRow="1">
                <a:tableStyleId>{5C22544A-7EE6-4342-B048-85BDC9FD1C3A}</a:tableStyleId>
              </a:tblPr>
              <a:tblGrid>
                <a:gridCol w="2377440"/>
                <a:gridCol w="2743200"/>
                <a:gridCol w="3291840"/>
                <a:gridCol w="2286000"/>
              </a:tblGrid>
              <a:tr h="566928">
                <a:tc>
                  <a:txBody>
                    <a:bodyPr wrap="square"/>
                    <a:lstStyle/>
                    <a:p>
                      <a:r>
                        <a:rPr sz="1100" b="1">
                          <a:solidFill>
                            <a:srgbClr val="434A55"/>
                          </a:solidFill>
                          <a:latin typeface="Calibri"/>
                        </a:rPr>
                        <a:t>Literature</a:t>
                      </a:r>
                    </a:p>
                  </a:txBody>
                  <a:tcPr marL="73152" marR="73152" marT="27432" marB="27432">
                    <a:solidFill>
                      <a:srgbClr val="E4EAF0"/>
                    </a:solidFill>
                  </a:tcPr>
                </a:tc>
                <a:tc>
                  <a:txBody>
                    <a:bodyPr wrap="square"/>
                    <a:lstStyle/>
                    <a:p>
                      <a:pPr algn="l"/>
                      <a:r>
                        <a:rPr sz="1100" b="1">
                          <a:solidFill>
                            <a:srgbClr val="434A55"/>
                          </a:solidFill>
                          <a:latin typeface="Calibri"/>
                        </a:rPr>
                        <a:t>Anchor</a:t>
                      </a:r>
                    </a:p>
                  </a:txBody>
                  <a:tcPr marL="73152" marR="73152" marT="27432" marB="27432">
                    <a:solidFill>
                      <a:srgbClr val="E4EAF0"/>
                    </a:solidFill>
                  </a:tcPr>
                </a:tc>
                <a:tc>
                  <a:txBody>
                    <a:bodyPr wrap="square"/>
                    <a:lstStyle/>
                    <a:p>
                      <a:pPr algn="l"/>
                      <a:r>
                        <a:rPr sz="1100" b="1">
                          <a:solidFill>
                            <a:srgbClr val="434A55"/>
                          </a:solidFill>
                          <a:latin typeface="Calibri"/>
                        </a:rPr>
                        <a:t>What it predicts here</a:t>
                      </a:r>
                    </a:p>
                  </a:txBody>
                  <a:tcPr marL="73152" marR="73152" marT="27432" marB="27432">
                    <a:solidFill>
                      <a:srgbClr val="E4EAF0"/>
                    </a:solidFill>
                  </a:tcPr>
                </a:tc>
                <a:tc>
                  <a:txBody>
                    <a:bodyPr wrap="square"/>
                    <a:lstStyle/>
                    <a:p>
                      <a:pPr algn="l"/>
                      <a:r>
                        <a:rPr sz="1100" b="1">
                          <a:solidFill>
                            <a:srgbClr val="434A55"/>
                          </a:solidFill>
                          <a:latin typeface="Calibri"/>
                        </a:rPr>
                        <a:t>What we find</a:t>
                      </a:r>
                    </a:p>
                  </a:txBody>
                  <a:tcPr marL="73152" marR="73152" marT="27432" marB="27432">
                    <a:solidFill>
                      <a:srgbClr val="E4EAF0"/>
                    </a:solidFill>
                  </a:tcPr>
                </a:tc>
              </a:tr>
              <a:tr h="566928">
                <a:tc>
                  <a:txBody>
                    <a:bodyPr wrap="square"/>
                    <a:lstStyle/>
                    <a:p>
                      <a:r>
                        <a:rPr sz="1200" b="0">
                          <a:solidFill>
                            <a:srgbClr val="14171C"/>
                          </a:solidFill>
                          <a:latin typeface="Calibri"/>
                        </a:rPr>
                        <a:t>Media malaise / spiral of cynicism</a:t>
                      </a:r>
                    </a:p>
                  </a:txBody>
                  <a:tcPr marL="73152" marR="73152" marT="27432" marB="27432">
                    <a:solidFill>
                      <a:srgbClr val="FAFBFC"/>
                    </a:solidFill>
                  </a:tcPr>
                </a:tc>
                <a:tc>
                  <a:txBody>
                    <a:bodyPr wrap="square"/>
                    <a:lstStyle/>
                    <a:p>
                      <a:pPr algn="l"/>
                      <a:r>
                        <a:rPr sz="1200" b="0">
                          <a:solidFill>
                            <a:srgbClr val="14171C"/>
                          </a:solidFill>
                          <a:latin typeface="Calibri"/>
                        </a:rPr>
                        <a:t>Robinson 1976; Cappella &amp; Jamieson 1997; Ladd 2012</a:t>
                      </a:r>
                    </a:p>
                  </a:txBody>
                  <a:tcPr marL="73152" marR="73152" marT="27432" marB="27432">
                    <a:solidFill>
                      <a:srgbClr val="FAFBFC"/>
                    </a:solidFill>
                  </a:tcPr>
                </a:tc>
                <a:tc>
                  <a:txBody>
                    <a:bodyPr wrap="square"/>
                    <a:lstStyle/>
                    <a:p>
                      <a:pPr algn="l"/>
                      <a:r>
                        <a:rPr sz="1200" b="0">
                          <a:solidFill>
                            <a:srgbClr val="14171C"/>
                          </a:solidFill>
                          <a:latin typeface="Calibri"/>
                        </a:rPr>
                        <a:t>News diets outside institutional journalism go with lower institutional trust</a:t>
                      </a:r>
                    </a:p>
                  </a:txBody>
                  <a:tcPr marL="73152" marR="73152" marT="27432" marB="27432">
                    <a:solidFill>
                      <a:srgbClr val="FAFBFC"/>
                    </a:solidFill>
                  </a:tcPr>
                </a:tc>
                <a:tc>
                  <a:txBody>
                    <a:bodyPr wrap="square"/>
                    <a:lstStyle/>
                    <a:p>
                      <a:pPr algn="l"/>
                      <a:r>
                        <a:rPr sz="1200" b="0">
                          <a:solidFill>
                            <a:srgbClr val="14171C"/>
                          </a:solidFill>
                          <a:latin typeface="Calibri"/>
                        </a:rPr>
                        <a:t>Supported (RQ2)</a:t>
                      </a:r>
                    </a:p>
                  </a:txBody>
                  <a:tcPr marL="73152" marR="73152" marT="27432" marB="27432">
                    <a:solidFill>
                      <a:srgbClr val="FAFBFC"/>
                    </a:solidFill>
                  </a:tcPr>
                </a:tc>
              </a:tr>
              <a:tr h="566928">
                <a:tc>
                  <a:txBody>
                    <a:bodyPr wrap="square"/>
                    <a:lstStyle/>
                    <a:p>
                      <a:r>
                        <a:rPr sz="1200" b="0">
                          <a:solidFill>
                            <a:srgbClr val="14171C"/>
                          </a:solidFill>
                          <a:latin typeface="Calibri"/>
                        </a:rPr>
                        <a:t>Incivility and outrage</a:t>
                      </a:r>
                    </a:p>
                  </a:txBody>
                  <a:tcPr marL="73152" marR="73152" marT="27432" marB="27432">
                    <a:solidFill>
                      <a:srgbClr val="F1F3F5"/>
                    </a:solidFill>
                  </a:tcPr>
                </a:tc>
                <a:tc>
                  <a:txBody>
                    <a:bodyPr wrap="square"/>
                    <a:lstStyle/>
                    <a:p>
                      <a:pPr algn="l"/>
                      <a:r>
                        <a:rPr sz="1200" b="0">
                          <a:solidFill>
                            <a:srgbClr val="14171C"/>
                          </a:solidFill>
                          <a:latin typeface="Calibri"/>
                        </a:rPr>
                        <a:t>Mutz &amp; Reeves 2005; Sobieraj &amp; Berry 2011</a:t>
                      </a:r>
                    </a:p>
                  </a:txBody>
                  <a:tcPr marL="73152" marR="73152" marT="27432" marB="27432">
                    <a:solidFill>
                      <a:srgbClr val="F1F3F5"/>
                    </a:solidFill>
                  </a:tcPr>
                </a:tc>
                <a:tc>
                  <a:txBody>
                    <a:bodyPr wrap="square"/>
                    <a:lstStyle/>
                    <a:p>
                      <a:pPr algn="l"/>
                      <a:r>
                        <a:rPr sz="1200" b="0">
                          <a:solidFill>
                            <a:srgbClr val="14171C"/>
                          </a:solidFill>
                          <a:latin typeface="Calibri"/>
                        </a:rPr>
                        <a:t>Right-leaning shows are more hostile; hostility drives distrust</a:t>
                      </a:r>
                    </a:p>
                  </a:txBody>
                  <a:tcPr marL="73152" marR="73152" marT="27432" marB="27432">
                    <a:solidFill>
                      <a:srgbClr val="F1F3F5"/>
                    </a:solidFill>
                  </a:tcPr>
                </a:tc>
                <a:tc>
                  <a:txBody>
                    <a:bodyPr wrap="square"/>
                    <a:lstStyle/>
                    <a:p>
                      <a:pPr algn="l"/>
                      <a:r>
                        <a:rPr sz="1200" b="0">
                          <a:solidFill>
                            <a:srgbClr val="14171C"/>
                          </a:solidFill>
                          <a:latin typeface="Calibri"/>
                        </a:rPr>
                        <a:t>Not supported for the partisan contrast</a:t>
                      </a:r>
                    </a:p>
                  </a:txBody>
                  <a:tcPr marL="73152" marR="73152" marT="27432" marB="27432">
                    <a:solidFill>
                      <a:srgbClr val="F1F3F5"/>
                    </a:solidFill>
                  </a:tcPr>
                </a:tc>
              </a:tr>
              <a:tr h="566928">
                <a:tc>
                  <a:txBody>
                    <a:bodyPr wrap="square"/>
                    <a:lstStyle/>
                    <a:p>
                      <a:r>
                        <a:rPr sz="1200" b="0">
                          <a:solidFill>
                            <a:srgbClr val="14171C"/>
                          </a:solidFill>
                          <a:latin typeface="Calibri"/>
                        </a:rPr>
                        <a:t>Para-social interaction</a:t>
                      </a:r>
                    </a:p>
                  </a:txBody>
                  <a:tcPr marL="73152" marR="73152" marT="27432" marB="27432">
                    <a:solidFill>
                      <a:srgbClr val="FAFBFC"/>
                    </a:solidFill>
                  </a:tcPr>
                </a:tc>
                <a:tc>
                  <a:txBody>
                    <a:bodyPr wrap="square"/>
                    <a:lstStyle/>
                    <a:p>
                      <a:pPr algn="l"/>
                      <a:r>
                        <a:rPr sz="1200" b="0">
                          <a:solidFill>
                            <a:srgbClr val="14171C"/>
                          </a:solidFill>
                          <a:latin typeface="Calibri"/>
                        </a:rPr>
                        <a:t>Horton &amp; Wohl 1956</a:t>
                      </a:r>
                    </a:p>
                  </a:txBody>
                  <a:tcPr marL="73152" marR="73152" marT="27432" marB="27432">
                    <a:solidFill>
                      <a:srgbClr val="FAFBFC"/>
                    </a:solidFill>
                  </a:tcPr>
                </a:tc>
                <a:tc>
                  <a:txBody>
                    <a:bodyPr wrap="square"/>
                    <a:lstStyle/>
                    <a:p>
                      <a:pPr algn="l"/>
                      <a:r>
                        <a:rPr sz="1200" b="0">
                          <a:solidFill>
                            <a:srgbClr val="14171C"/>
                          </a:solidFill>
                          <a:latin typeface="Calibri"/>
                        </a:rPr>
                        <a:t>Direct personal address builds a one-sided relationship with the performer</a:t>
                      </a:r>
                    </a:p>
                  </a:txBody>
                  <a:tcPr marL="73152" marR="73152" marT="27432" marB="27432">
                    <a:solidFill>
                      <a:srgbClr val="FAFBFC"/>
                    </a:solidFill>
                  </a:tcPr>
                </a:tc>
                <a:tc>
                  <a:txBody>
                    <a:bodyPr wrap="square"/>
                    <a:lstStyle/>
                    <a:p>
                      <a:pPr algn="l"/>
                      <a:r>
                        <a:rPr sz="1200" b="0">
                          <a:solidFill>
                            <a:srgbClr val="14171C"/>
                          </a:solidFill>
                          <a:latin typeface="Calibri"/>
                        </a:rPr>
                        <a:t>Consistent: address, not hostility, is the partisan difference</a:t>
                      </a:r>
                    </a:p>
                  </a:txBody>
                  <a:tcPr marL="73152" marR="73152" marT="27432" marB="27432">
                    <a:solidFill>
                      <a:srgbClr val="FAFBFC"/>
                    </a:solidFill>
                  </a:tcPr>
                </a:tc>
              </a:tr>
              <a:tr h="566928">
                <a:tc>
                  <a:txBody>
                    <a:bodyPr wrap="square"/>
                    <a:lstStyle/>
                    <a:p>
                      <a:r>
                        <a:rPr sz="1200" b="0">
                          <a:solidFill>
                            <a:srgbClr val="14171C"/>
                          </a:solidFill>
                          <a:latin typeface="Calibri"/>
                        </a:rPr>
                        <a:t>Register variation</a:t>
                      </a:r>
                    </a:p>
                  </a:txBody>
                  <a:tcPr marL="73152" marR="73152" marT="27432" marB="27432">
                    <a:solidFill>
                      <a:srgbClr val="F1F3F5"/>
                    </a:solidFill>
                  </a:tcPr>
                </a:tc>
                <a:tc>
                  <a:txBody>
                    <a:bodyPr wrap="square"/>
                    <a:lstStyle/>
                    <a:p>
                      <a:pPr algn="l"/>
                      <a:r>
                        <a:rPr sz="1200" b="0">
                          <a:solidFill>
                            <a:srgbClr val="14171C"/>
                          </a:solidFill>
                          <a:latin typeface="Calibri"/>
                        </a:rPr>
                        <a:t>Biber 1988</a:t>
                      </a:r>
                    </a:p>
                  </a:txBody>
                  <a:tcPr marL="73152" marR="73152" marT="27432" marB="27432">
                    <a:solidFill>
                      <a:srgbClr val="F1F3F5"/>
                    </a:solidFill>
                  </a:tcPr>
                </a:tc>
                <a:tc>
                  <a:txBody>
                    <a:bodyPr wrap="square"/>
                    <a:lstStyle/>
                    <a:p>
                      <a:pPr algn="l"/>
                      <a:r>
                        <a:rPr sz="1200" b="0">
                          <a:solidFill>
                            <a:srgbClr val="14171C"/>
                          </a:solidFill>
                          <a:latin typeface="Calibri"/>
                        </a:rPr>
                        <a:t>Involved vs. informational style is a stable property of a speaker</a:t>
                      </a:r>
                    </a:p>
                  </a:txBody>
                  <a:tcPr marL="73152" marR="73152" marT="27432" marB="27432">
                    <a:solidFill>
                      <a:srgbClr val="F1F3F5"/>
                    </a:solidFill>
                  </a:tcPr>
                </a:tc>
                <a:tc>
                  <a:txBody>
                    <a:bodyPr wrap="square"/>
                    <a:lstStyle/>
                    <a:p>
                      <a:pPr algn="l"/>
                      <a:r>
                        <a:rPr sz="1200" b="0">
                          <a:solidFill>
                            <a:srgbClr val="14171C"/>
                          </a:solidFill>
                          <a:latin typeface="Calibri"/>
                        </a:rPr>
                        <a:t>Address is a stable show trait; reaches less-educated listeners</a:t>
                      </a:r>
                    </a:p>
                  </a:txBody>
                  <a:tcPr marL="73152" marR="73152" marT="27432" marB="27432">
                    <a:solidFill>
                      <a:srgbClr val="F1F3F5"/>
                    </a:solidFill>
                  </a:tcPr>
                </a:tc>
              </a:tr>
            </a:tbl>
          </a:graphicData>
        </a:graphic>
      </p:graphicFrame>
      <p:sp>
        <p:nvSpPr>
          <p:cNvPr id="8" name="TextBox 7"/>
          <p:cNvSpPr txBox="1"/>
          <p:nvPr/>
        </p:nvSpPr>
        <p:spPr>
          <a:xfrm>
            <a:off x="731520" y="5120640"/>
            <a:ext cx="10728655" cy="731520"/>
          </a:xfrm>
          <a:prstGeom prst="rect">
            <a:avLst/>
          </a:prstGeom>
          <a:noFill/>
        </p:spPr>
        <p:txBody>
          <a:bodyPr wrap="square" anchor="t" lIns="0" rIns="0" tIns="0" bIns="0">
            <a:spAutoFit/>
          </a:bodyPr>
          <a:lstStyle/>
          <a:p>
            <a:pPr algn="l">
              <a:lnSpc>
                <a:spcPct val="115000"/>
              </a:lnSpc>
              <a:spcAft>
                <a:spcPts val="600"/>
              </a:spcAft>
            </a:pPr>
            <a:r>
              <a:rPr sz="1300" b="0" i="0">
                <a:solidFill>
                  <a:srgbClr val="434A55"/>
                </a:solidFill>
                <a:latin typeface="Calibri"/>
              </a:rPr>
              <a:t>Populist communication (Rooduijn &amp; Pauwels 2011; Fawzi 2019) enters as a rival content feature, carried as a covariate rather than ruled out.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1F3F5"/>
        </a:solidFill>
        <a:effectLst/>
      </p:bgPr>
    </p:bg>
    <p:spTree>
      <p:nvGrpSpPr>
        <p:cNvPr id="1" name=""/>
        <p:cNvGrpSpPr/>
        <p:nvPr/>
      </p:nvGrpSpPr>
      <p:grpSpPr/>
      <p:sp>
        <p:nvSpPr>
          <p:cNvPr id="2" name="TextBox 1"/>
          <p:cNvSpPr txBox="1"/>
          <p:nvPr/>
        </p:nvSpPr>
        <p:spPr>
          <a:xfrm>
            <a:off x="731520" y="6400800"/>
            <a:ext cx="8229600" cy="274320"/>
          </a:xfrm>
          <a:prstGeom prst="rect">
            <a:avLst/>
          </a:prstGeom>
          <a:noFill/>
        </p:spPr>
        <p:txBody>
          <a:bodyPr wrap="square" anchor="t" lIns="0" rIns="0" tIns="0" bIns="0">
            <a:spAutoFit/>
          </a:bodyPr>
          <a:lstStyle/>
          <a:p>
            <a:pPr algn="l">
              <a:lnSpc>
                <a:spcPct val="115000"/>
              </a:lnSpc>
              <a:spcAft>
                <a:spcPts val="600"/>
              </a:spcAft>
            </a:pPr>
            <a:r>
              <a:rPr sz="1000" b="0" i="0">
                <a:solidFill>
                  <a:srgbClr val="737B87"/>
                </a:solidFill>
                <a:latin typeface="Calibri"/>
              </a:rPr>
              <a:t>Talking at the Audience  ·  Yang &amp; Alvarez  ·  Linde Center, Caltech</a:t>
            </a:r>
          </a:p>
        </p:txBody>
      </p:sp>
      <p:sp>
        <p:nvSpPr>
          <p:cNvPr id="3" name="TextBox 2"/>
          <p:cNvSpPr txBox="1"/>
          <p:nvPr/>
        </p:nvSpPr>
        <p:spPr>
          <a:xfrm>
            <a:off x="10545775" y="6400800"/>
            <a:ext cx="914400" cy="274320"/>
          </a:xfrm>
          <a:prstGeom prst="rect">
            <a:avLst/>
          </a:prstGeom>
          <a:noFill/>
        </p:spPr>
        <p:txBody>
          <a:bodyPr wrap="square" anchor="t" lIns="0" rIns="0" tIns="0" bIns="0">
            <a:spAutoFit/>
          </a:bodyPr>
          <a:lstStyle/>
          <a:p>
            <a:pPr algn="r">
              <a:lnSpc>
                <a:spcPct val="115000"/>
              </a:lnSpc>
              <a:spcAft>
                <a:spcPts val="600"/>
              </a:spcAft>
            </a:pPr>
            <a:r>
              <a:rPr sz="1000" b="0" i="0">
                <a:solidFill>
                  <a:srgbClr val="737B87"/>
                </a:solidFill>
                <a:latin typeface="Calibri"/>
              </a:rPr>
              <a:t>5</a:t>
            </a:r>
          </a:p>
        </p:txBody>
      </p:sp>
      <p:sp>
        <p:nvSpPr>
          <p:cNvPr id="4" name="TextBox 3"/>
          <p:cNvSpPr txBox="1"/>
          <p:nvPr/>
        </p:nvSpPr>
        <p:spPr>
          <a:xfrm>
            <a:off x="731520" y="411480"/>
            <a:ext cx="7315200" cy="274320"/>
          </a:xfrm>
          <a:prstGeom prst="rect">
            <a:avLst/>
          </a:prstGeom>
          <a:noFill/>
        </p:spPr>
        <p:txBody>
          <a:bodyPr wrap="square" anchor="t" lIns="0" rIns="0" tIns="0" bIns="0">
            <a:spAutoFit/>
          </a:bodyPr>
          <a:lstStyle/>
          <a:p>
            <a:pPr algn="l">
              <a:lnSpc>
                <a:spcPct val="115000"/>
              </a:lnSpc>
              <a:spcAft>
                <a:spcPts val="600"/>
              </a:spcAft>
            </a:pPr>
            <a:r>
              <a:rPr sz="1100" b="1" i="0">
                <a:solidFill>
                  <a:srgbClr val="7A2E2E"/>
                </a:solidFill>
                <a:latin typeface="Calibri"/>
              </a:rPr>
              <a:t>DATA</a:t>
            </a:r>
          </a:p>
        </p:txBody>
      </p:sp>
      <p:sp>
        <p:nvSpPr>
          <p:cNvPr id="5" name="TextBox 4"/>
          <p:cNvSpPr txBox="1"/>
          <p:nvPr/>
        </p:nvSpPr>
        <p:spPr>
          <a:xfrm>
            <a:off x="731520" y="731520"/>
            <a:ext cx="10728655" cy="1097280"/>
          </a:xfrm>
          <a:prstGeom prst="rect">
            <a:avLst/>
          </a:prstGeom>
          <a:noFill/>
        </p:spPr>
        <p:txBody>
          <a:bodyPr wrap="square" anchor="t" lIns="0" rIns="0" tIns="0" bIns="0">
            <a:spAutoFit/>
          </a:bodyPr>
          <a:lstStyle/>
          <a:p>
            <a:pPr algn="l">
              <a:lnSpc>
                <a:spcPct val="105000"/>
              </a:lnSpc>
              <a:spcAft>
                <a:spcPts val="600"/>
              </a:spcAft>
            </a:pPr>
            <a:r>
              <a:rPr sz="3400" b="0" i="0">
                <a:solidFill>
                  <a:srgbClr val="14171C"/>
                </a:solidFill>
                <a:latin typeface="Georgia"/>
              </a:rPr>
              <a:t>The corpus</a:t>
            </a:r>
          </a:p>
        </p:txBody>
      </p:sp>
      <p:sp>
        <p:nvSpPr>
          <p:cNvPr id="6" name="Rectangle 5"/>
          <p:cNvSpPr/>
          <p:nvPr/>
        </p:nvSpPr>
        <p:spPr>
          <a:xfrm>
            <a:off x="731520" y="1417320"/>
            <a:ext cx="822960" cy="28000"/>
          </a:xfrm>
          <a:prstGeom prst="rect">
            <a:avLst/>
          </a:prstGeom>
          <a:solidFill>
            <a:srgbClr val="7A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920240"/>
            <a:ext cx="2476423" cy="1234440"/>
          </a:xfrm>
          <a:prstGeom prst="rect">
            <a:avLst/>
          </a:prstGeom>
          <a:solidFill>
            <a:srgbClr val="FAFBFC"/>
          </a:solidFill>
          <a:ln w="9525">
            <a:solidFill>
              <a:srgbClr val="D6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57400"/>
            <a:ext cx="2110663" cy="548640"/>
          </a:xfrm>
          <a:prstGeom prst="rect">
            <a:avLst/>
          </a:prstGeom>
          <a:noFill/>
        </p:spPr>
        <p:txBody>
          <a:bodyPr wrap="square" anchor="t" lIns="0" rIns="0" tIns="0" bIns="0">
            <a:spAutoFit/>
          </a:bodyPr>
          <a:lstStyle/>
          <a:p>
            <a:pPr algn="l">
              <a:lnSpc>
                <a:spcPct val="115000"/>
              </a:lnSpc>
              <a:spcAft>
                <a:spcPts val="600"/>
              </a:spcAft>
            </a:pPr>
            <a:r>
              <a:rPr sz="3000" b="0" i="0">
                <a:solidFill>
                  <a:srgbClr val="3E5266"/>
                </a:solidFill>
                <a:latin typeface="Georgia"/>
              </a:rPr>
              <a:t>204</a:t>
            </a:r>
          </a:p>
        </p:txBody>
      </p:sp>
      <p:sp>
        <p:nvSpPr>
          <p:cNvPr id="9" name="TextBox 8"/>
          <p:cNvSpPr txBox="1"/>
          <p:nvPr/>
        </p:nvSpPr>
        <p:spPr>
          <a:xfrm>
            <a:off x="914400" y="2633472"/>
            <a:ext cx="2110663" cy="502920"/>
          </a:xfrm>
          <a:prstGeom prst="rect">
            <a:avLst/>
          </a:prstGeom>
          <a:noFill/>
        </p:spPr>
        <p:txBody>
          <a:bodyPr wrap="square" anchor="t" lIns="0" rIns="0" tIns="0" bIns="0">
            <a:spAutoFit/>
          </a:bodyPr>
          <a:lstStyle/>
          <a:p>
            <a:pPr algn="l">
              <a:lnSpc>
                <a:spcPct val="105000"/>
              </a:lnSpc>
              <a:spcAft>
                <a:spcPts val="600"/>
              </a:spcAft>
            </a:pPr>
            <a:r>
              <a:rPr sz="1100" b="0" i="0">
                <a:solidFill>
                  <a:srgbClr val="434A55"/>
                </a:solidFill>
                <a:latin typeface="Calibri"/>
              </a:rPr>
              <a:t>political podcasts from the Apple Podcasts US Politics chart, ranks 1–250, frozen 13 July 2026</a:t>
            </a:r>
          </a:p>
        </p:txBody>
      </p:sp>
      <p:sp>
        <p:nvSpPr>
          <p:cNvPr id="10" name="Rectangle 9"/>
          <p:cNvSpPr/>
          <p:nvPr/>
        </p:nvSpPr>
        <p:spPr>
          <a:xfrm>
            <a:off x="3482263" y="1920240"/>
            <a:ext cx="2476423" cy="1234440"/>
          </a:xfrm>
          <a:prstGeom prst="rect">
            <a:avLst/>
          </a:prstGeom>
          <a:solidFill>
            <a:srgbClr val="FAFBFC"/>
          </a:solidFill>
          <a:ln w="9525">
            <a:solidFill>
              <a:srgbClr val="D6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65143" y="2057400"/>
            <a:ext cx="2110663" cy="548640"/>
          </a:xfrm>
          <a:prstGeom prst="rect">
            <a:avLst/>
          </a:prstGeom>
          <a:noFill/>
        </p:spPr>
        <p:txBody>
          <a:bodyPr wrap="square" anchor="t" lIns="0" rIns="0" tIns="0" bIns="0">
            <a:spAutoFit/>
          </a:bodyPr>
          <a:lstStyle/>
          <a:p>
            <a:pPr algn="l">
              <a:lnSpc>
                <a:spcPct val="115000"/>
              </a:lnSpc>
              <a:spcAft>
                <a:spcPts val="600"/>
              </a:spcAft>
            </a:pPr>
            <a:r>
              <a:rPr sz="3000" b="0" i="0">
                <a:solidFill>
                  <a:srgbClr val="3E5266"/>
                </a:solidFill>
                <a:latin typeface="Georgia"/>
              </a:rPr>
              <a:t>29,421</a:t>
            </a:r>
          </a:p>
        </p:txBody>
      </p:sp>
      <p:sp>
        <p:nvSpPr>
          <p:cNvPr id="12" name="TextBox 11"/>
          <p:cNvSpPr txBox="1"/>
          <p:nvPr/>
        </p:nvSpPr>
        <p:spPr>
          <a:xfrm>
            <a:off x="3665143" y="2633472"/>
            <a:ext cx="2110663" cy="502920"/>
          </a:xfrm>
          <a:prstGeom prst="rect">
            <a:avLst/>
          </a:prstGeom>
          <a:noFill/>
        </p:spPr>
        <p:txBody>
          <a:bodyPr wrap="square" anchor="t" lIns="0" rIns="0" tIns="0" bIns="0">
            <a:spAutoFit/>
          </a:bodyPr>
          <a:lstStyle/>
          <a:p>
            <a:pPr algn="l">
              <a:lnSpc>
                <a:spcPct val="105000"/>
              </a:lnSpc>
              <a:spcAft>
                <a:spcPts val="600"/>
              </a:spcAft>
            </a:pPr>
            <a:r>
              <a:rPr sz="1100" b="0" i="0">
                <a:solidFill>
                  <a:srgbClr val="434A55"/>
                </a:solidFill>
                <a:latin typeface="Calibri"/>
              </a:rPr>
              <a:t>episodes transcribed (faster-whisper large-v3-turbo, two GB10 nodes, ~100× real time)</a:t>
            </a:r>
          </a:p>
        </p:txBody>
      </p:sp>
      <p:sp>
        <p:nvSpPr>
          <p:cNvPr id="13" name="Rectangle 12"/>
          <p:cNvSpPr/>
          <p:nvPr/>
        </p:nvSpPr>
        <p:spPr>
          <a:xfrm>
            <a:off x="6233007" y="1920240"/>
            <a:ext cx="2476423" cy="1234440"/>
          </a:xfrm>
          <a:prstGeom prst="rect">
            <a:avLst/>
          </a:prstGeom>
          <a:solidFill>
            <a:srgbClr val="FAFBFC"/>
          </a:solidFill>
          <a:ln w="9525">
            <a:solidFill>
              <a:srgbClr val="D6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5887" y="2057400"/>
            <a:ext cx="2110663" cy="548640"/>
          </a:xfrm>
          <a:prstGeom prst="rect">
            <a:avLst/>
          </a:prstGeom>
          <a:noFill/>
        </p:spPr>
        <p:txBody>
          <a:bodyPr wrap="square" anchor="t" lIns="0" rIns="0" tIns="0" bIns="0">
            <a:spAutoFit/>
          </a:bodyPr>
          <a:lstStyle/>
          <a:p>
            <a:pPr algn="l">
              <a:lnSpc>
                <a:spcPct val="115000"/>
              </a:lnSpc>
              <a:spcAft>
                <a:spcPts val="600"/>
              </a:spcAft>
            </a:pPr>
            <a:r>
              <a:rPr sz="3000" b="0" i="0">
                <a:solidFill>
                  <a:srgbClr val="3E5266"/>
                </a:solidFill>
                <a:latin typeface="Georgia"/>
              </a:rPr>
              <a:t>1.38 M</a:t>
            </a:r>
          </a:p>
        </p:txBody>
      </p:sp>
      <p:sp>
        <p:nvSpPr>
          <p:cNvPr id="15" name="TextBox 14"/>
          <p:cNvSpPr txBox="1"/>
          <p:nvPr/>
        </p:nvSpPr>
        <p:spPr>
          <a:xfrm>
            <a:off x="6415887" y="2633472"/>
            <a:ext cx="2110663" cy="502920"/>
          </a:xfrm>
          <a:prstGeom prst="rect">
            <a:avLst/>
          </a:prstGeom>
          <a:noFill/>
        </p:spPr>
        <p:txBody>
          <a:bodyPr wrap="square" anchor="t" lIns="0" rIns="0" tIns="0" bIns="0">
            <a:spAutoFit/>
          </a:bodyPr>
          <a:lstStyle/>
          <a:p>
            <a:pPr algn="l">
              <a:lnSpc>
                <a:spcPct val="105000"/>
              </a:lnSpc>
              <a:spcAft>
                <a:spcPts val="600"/>
              </a:spcAft>
            </a:pPr>
            <a:r>
              <a:rPr sz="1100" b="0" i="0">
                <a:solidFill>
                  <a:srgbClr val="434A55"/>
                </a:solidFill>
                <a:latin typeface="Calibri"/>
              </a:rPr>
              <a:t>750-character passages, the unit the ideology instrument was validated on</a:t>
            </a:r>
          </a:p>
        </p:txBody>
      </p:sp>
      <p:sp>
        <p:nvSpPr>
          <p:cNvPr id="16" name="Rectangle 15"/>
          <p:cNvSpPr/>
          <p:nvPr/>
        </p:nvSpPr>
        <p:spPr>
          <a:xfrm>
            <a:off x="8983751" y="1920240"/>
            <a:ext cx="2476423" cy="1234440"/>
          </a:xfrm>
          <a:prstGeom prst="rect">
            <a:avLst/>
          </a:prstGeom>
          <a:solidFill>
            <a:srgbClr val="FAFBFC"/>
          </a:solidFill>
          <a:ln w="9525">
            <a:solidFill>
              <a:srgbClr val="D6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66631" y="2057400"/>
            <a:ext cx="2110663" cy="548640"/>
          </a:xfrm>
          <a:prstGeom prst="rect">
            <a:avLst/>
          </a:prstGeom>
          <a:noFill/>
        </p:spPr>
        <p:txBody>
          <a:bodyPr wrap="square" anchor="t" lIns="0" rIns="0" tIns="0" bIns="0">
            <a:spAutoFit/>
          </a:bodyPr>
          <a:lstStyle/>
          <a:p>
            <a:pPr algn="l">
              <a:lnSpc>
                <a:spcPct val="115000"/>
              </a:lnSpc>
              <a:spcAft>
                <a:spcPts val="600"/>
              </a:spcAft>
            </a:pPr>
            <a:r>
              <a:rPr sz="3000" b="0" i="0">
                <a:solidFill>
                  <a:srgbClr val="3E5266"/>
                </a:solidFill>
                <a:latin typeface="Georgia"/>
              </a:rPr>
              <a:t>2018–2026</a:t>
            </a:r>
          </a:p>
        </p:txBody>
      </p:sp>
      <p:sp>
        <p:nvSpPr>
          <p:cNvPr id="18" name="TextBox 17"/>
          <p:cNvSpPr txBox="1"/>
          <p:nvPr/>
        </p:nvSpPr>
        <p:spPr>
          <a:xfrm>
            <a:off x="9166631" y="2633472"/>
            <a:ext cx="2110663" cy="502920"/>
          </a:xfrm>
          <a:prstGeom prst="rect">
            <a:avLst/>
          </a:prstGeom>
          <a:noFill/>
        </p:spPr>
        <p:txBody>
          <a:bodyPr wrap="square" anchor="t" lIns="0" rIns="0" tIns="0" bIns="0">
            <a:spAutoFit/>
          </a:bodyPr>
          <a:lstStyle/>
          <a:p>
            <a:pPr algn="l">
              <a:lnSpc>
                <a:spcPct val="105000"/>
              </a:lnSpc>
              <a:spcAft>
                <a:spcPts val="600"/>
              </a:spcAft>
            </a:pPr>
            <a:r>
              <a:rPr sz="1100" b="0" i="0">
                <a:solidFill>
                  <a:srgbClr val="434A55"/>
                </a:solidFill>
                <a:latin typeface="Calibri"/>
              </a:rPr>
              <a:t>with a census of the pre-2018 tail; episodes drawn per show per quarter so show-time is aligned</a:t>
            </a:r>
          </a:p>
        </p:txBody>
      </p:sp>
      <p:sp>
        <p:nvSpPr>
          <p:cNvPr id="19" name="TextBox 18"/>
          <p:cNvSpPr txBox="1"/>
          <p:nvPr/>
        </p:nvSpPr>
        <p:spPr>
          <a:xfrm>
            <a:off x="731520" y="3474720"/>
            <a:ext cx="10698480" cy="2286000"/>
          </a:xfrm>
          <a:prstGeom prst="rect">
            <a:avLst/>
          </a:prstGeom>
          <a:noFill/>
        </p:spPr>
        <p:txBody>
          <a:bodyPr wrap="square" lIns="0" rIns="0" tIns="0" bIns="0">
            <a:spAutoFit/>
          </a:bodyPr>
          <a:lstStyle/>
          <a:p>
            <a:pPr>
              <a:lnSpc>
                <a:spcPct val="112000"/>
              </a:lnSpc>
              <a:spcAft>
                <a:spcPts val="800"/>
              </a:spcAft>
            </a:pPr>
            <a:r>
              <a:rPr sz="1500">
                <a:solidFill>
                  <a:srgbClr val="7A2E2E"/>
                </a:solidFill>
                <a:latin typeface="Calibri"/>
              </a:rPr>
              <a:t>•  </a:t>
            </a:r>
            <a:r>
              <a:rPr sz="1500" b="0" i="0">
                <a:solidFill>
                  <a:srgbClr val="14171C"/>
                </a:solidFill>
                <a:latin typeface="Calibri"/>
              </a:rPr>
              <a:t>Inclusion filter applied in fixed order: 250 charted → 219 (non-US-politics, under 10 hours of audio, no usable feed) → 204 on the topic-arm sample.</a:t>
            </a:r>
          </a:p>
          <a:p>
            <a:pPr>
              <a:lnSpc>
                <a:spcPct val="112000"/>
              </a:lnSpc>
              <a:spcAft>
                <a:spcPts val="800"/>
              </a:spcAft>
            </a:pPr>
            <a:r>
              <a:rPr sz="1500">
                <a:solidFill>
                  <a:srgbClr val="7A2E2E"/>
                </a:solidFill>
                <a:latin typeface="Calibri"/>
              </a:rPr>
              <a:t>•  </a:t>
            </a:r>
            <a:r>
              <a:rPr sz="1500" b="0" i="0">
                <a:solidFill>
                  <a:srgbClr val="14171C"/>
                </a:solidFill>
                <a:latin typeface="Calibri"/>
              </a:rPr>
              <a:t>Scope: political podcasts that attained and held Politics-chart presence. Mid-tail by construction; the largest political shows (Shapiro, The Daily, Tucker) are filed under other categories and enter as an out-of-frame test.</a:t>
            </a:r>
          </a:p>
          <a:p>
            <a:pPr>
              <a:lnSpc>
                <a:spcPct val="112000"/>
              </a:lnSpc>
              <a:spcAft>
                <a:spcPts val="800"/>
              </a:spcAft>
            </a:pPr>
            <a:r>
              <a:rPr sz="1500">
                <a:solidFill>
                  <a:srgbClr val="7A2E2E"/>
                </a:solidFill>
                <a:latin typeface="Calibri"/>
              </a:rPr>
              <a:t>•  </a:t>
            </a:r>
            <a:r>
              <a:rPr sz="1500" b="0" i="0">
                <a:solidFill>
                  <a:srgbClr val="14171C"/>
                </a:solidFill>
                <a:latin typeface="Calibri"/>
              </a:rPr>
              <a:t>Ideology labelled at passage level by a two-stage LLM classifier (152,152 passages), aggregated to show level; host ideology anchored externally with DIME campaign-contribution scores (112 shows).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1F3F5"/>
        </a:solidFill>
        <a:effectLst/>
      </p:bgPr>
    </p:bg>
    <p:spTree>
      <p:nvGrpSpPr>
        <p:cNvPr id="1" name=""/>
        <p:cNvGrpSpPr/>
        <p:nvPr/>
      </p:nvGrpSpPr>
      <p:grpSpPr/>
      <p:sp>
        <p:nvSpPr>
          <p:cNvPr id="2" name="TextBox 1"/>
          <p:cNvSpPr txBox="1"/>
          <p:nvPr/>
        </p:nvSpPr>
        <p:spPr>
          <a:xfrm>
            <a:off x="731520" y="6400800"/>
            <a:ext cx="8229600" cy="274320"/>
          </a:xfrm>
          <a:prstGeom prst="rect">
            <a:avLst/>
          </a:prstGeom>
          <a:noFill/>
        </p:spPr>
        <p:txBody>
          <a:bodyPr wrap="square" anchor="t" lIns="0" rIns="0" tIns="0" bIns="0">
            <a:spAutoFit/>
          </a:bodyPr>
          <a:lstStyle/>
          <a:p>
            <a:pPr algn="l">
              <a:lnSpc>
                <a:spcPct val="115000"/>
              </a:lnSpc>
              <a:spcAft>
                <a:spcPts val="600"/>
              </a:spcAft>
            </a:pPr>
            <a:r>
              <a:rPr sz="1000" b="0" i="0">
                <a:solidFill>
                  <a:srgbClr val="737B87"/>
                </a:solidFill>
                <a:latin typeface="Calibri"/>
              </a:rPr>
              <a:t>Talking at the Audience  ·  Yang &amp; Alvarez  ·  Linde Center, Caltech</a:t>
            </a:r>
          </a:p>
        </p:txBody>
      </p:sp>
      <p:sp>
        <p:nvSpPr>
          <p:cNvPr id="3" name="TextBox 2"/>
          <p:cNvSpPr txBox="1"/>
          <p:nvPr/>
        </p:nvSpPr>
        <p:spPr>
          <a:xfrm>
            <a:off x="10545775" y="6400800"/>
            <a:ext cx="914400" cy="274320"/>
          </a:xfrm>
          <a:prstGeom prst="rect">
            <a:avLst/>
          </a:prstGeom>
          <a:noFill/>
        </p:spPr>
        <p:txBody>
          <a:bodyPr wrap="square" anchor="t" lIns="0" rIns="0" tIns="0" bIns="0">
            <a:spAutoFit/>
          </a:bodyPr>
          <a:lstStyle/>
          <a:p>
            <a:pPr algn="r">
              <a:lnSpc>
                <a:spcPct val="115000"/>
              </a:lnSpc>
              <a:spcAft>
                <a:spcPts val="600"/>
              </a:spcAft>
            </a:pPr>
            <a:r>
              <a:rPr sz="1000" b="0" i="0">
                <a:solidFill>
                  <a:srgbClr val="737B87"/>
                </a:solidFill>
                <a:latin typeface="Calibri"/>
              </a:rPr>
              <a:t>6</a:t>
            </a:r>
          </a:p>
        </p:txBody>
      </p:sp>
      <p:sp>
        <p:nvSpPr>
          <p:cNvPr id="4" name="TextBox 3"/>
          <p:cNvSpPr txBox="1"/>
          <p:nvPr/>
        </p:nvSpPr>
        <p:spPr>
          <a:xfrm>
            <a:off x="731520" y="411480"/>
            <a:ext cx="7315200" cy="274320"/>
          </a:xfrm>
          <a:prstGeom prst="rect">
            <a:avLst/>
          </a:prstGeom>
          <a:noFill/>
        </p:spPr>
        <p:txBody>
          <a:bodyPr wrap="square" anchor="t" lIns="0" rIns="0" tIns="0" bIns="0">
            <a:spAutoFit/>
          </a:bodyPr>
          <a:lstStyle/>
          <a:p>
            <a:pPr algn="l">
              <a:lnSpc>
                <a:spcPct val="115000"/>
              </a:lnSpc>
              <a:spcAft>
                <a:spcPts val="600"/>
              </a:spcAft>
            </a:pPr>
            <a:r>
              <a:rPr sz="1100" b="1" i="0">
                <a:solidFill>
                  <a:srgbClr val="7A2E2E"/>
                </a:solidFill>
                <a:latin typeface="Calibri"/>
              </a:rPr>
              <a:t>DATA</a:t>
            </a:r>
          </a:p>
        </p:txBody>
      </p:sp>
      <p:sp>
        <p:nvSpPr>
          <p:cNvPr id="5" name="TextBox 4"/>
          <p:cNvSpPr txBox="1"/>
          <p:nvPr/>
        </p:nvSpPr>
        <p:spPr>
          <a:xfrm>
            <a:off x="731520" y="731520"/>
            <a:ext cx="10728655" cy="1097280"/>
          </a:xfrm>
          <a:prstGeom prst="rect">
            <a:avLst/>
          </a:prstGeom>
          <a:noFill/>
        </p:spPr>
        <p:txBody>
          <a:bodyPr wrap="square" anchor="t" lIns="0" rIns="0" tIns="0" bIns="0">
            <a:spAutoFit/>
          </a:bodyPr>
          <a:lstStyle/>
          <a:p>
            <a:pPr algn="l">
              <a:lnSpc>
                <a:spcPct val="105000"/>
              </a:lnSpc>
              <a:spcAft>
                <a:spcPts val="600"/>
              </a:spcAft>
            </a:pPr>
            <a:r>
              <a:rPr sz="3400" b="0" i="0">
                <a:solidFill>
                  <a:srgbClr val="14171C"/>
                </a:solidFill>
                <a:latin typeface="Georgia"/>
              </a:rPr>
              <a:t>Two national surveys, linked to the corpus</a:t>
            </a:r>
          </a:p>
        </p:txBody>
      </p:sp>
      <p:sp>
        <p:nvSpPr>
          <p:cNvPr id="6" name="Rectangle 5"/>
          <p:cNvSpPr/>
          <p:nvPr/>
        </p:nvSpPr>
        <p:spPr>
          <a:xfrm>
            <a:off x="731520" y="1417320"/>
            <a:ext cx="822960" cy="28000"/>
          </a:xfrm>
          <a:prstGeom prst="rect">
            <a:avLst/>
          </a:prstGeom>
          <a:solidFill>
            <a:srgbClr val="7A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731520" y="2011680"/>
          <a:ext cx="10698480" cy="3154680"/>
        </p:xfrm>
        <a:graphic>
          <a:graphicData uri="http://schemas.openxmlformats.org/drawingml/2006/table">
            <a:tbl>
              <a:tblPr firstRow="1" bandRow="1">
                <a:tableStyleId>{5C22544A-7EE6-4342-B048-85BDC9FD1C3A}</a:tableStyleId>
              </a:tblPr>
              <a:tblGrid>
                <a:gridCol w="2651760"/>
                <a:gridCol w="2377440"/>
                <a:gridCol w="3291840"/>
                <a:gridCol w="2377440"/>
              </a:tblGrid>
              <a:tr h="1051560">
                <a:tc>
                  <a:txBody>
                    <a:bodyPr wrap="square"/>
                    <a:lstStyle/>
                    <a:p>
                      <a:r>
                        <a:rPr sz="1100" b="1">
                          <a:solidFill>
                            <a:srgbClr val="434A55"/>
                          </a:solidFill>
                          <a:latin typeface="Calibri"/>
                        </a:rPr>
                        <a:t>Survey</a:t>
                      </a:r>
                    </a:p>
                  </a:txBody>
                  <a:tcPr marL="73152" marR="73152" marT="27432" marB="27432">
                    <a:solidFill>
                      <a:srgbClr val="E4EAF0"/>
                    </a:solidFill>
                  </a:tcPr>
                </a:tc>
                <a:tc>
                  <a:txBody>
                    <a:bodyPr wrap="square"/>
                    <a:lstStyle/>
                    <a:p>
                      <a:pPr algn="l"/>
                      <a:r>
                        <a:rPr sz="1100" b="1">
                          <a:solidFill>
                            <a:srgbClr val="434A55"/>
                          </a:solidFill>
                          <a:latin typeface="Calibri"/>
                        </a:rPr>
                        <a:t>Sample</a:t>
                      </a:r>
                    </a:p>
                  </a:txBody>
                  <a:tcPr marL="73152" marR="73152" marT="27432" marB="27432">
                    <a:solidFill>
                      <a:srgbClr val="E4EAF0"/>
                    </a:solidFill>
                  </a:tcPr>
                </a:tc>
                <a:tc>
                  <a:txBody>
                    <a:bodyPr wrap="square"/>
                    <a:lstStyle/>
                    <a:p>
                      <a:pPr algn="l"/>
                      <a:r>
                        <a:rPr sz="1100" b="1">
                          <a:solidFill>
                            <a:srgbClr val="434A55"/>
                          </a:solidFill>
                          <a:latin typeface="Calibri"/>
                        </a:rPr>
                        <a:t>Exposure</a:t>
                      </a:r>
                    </a:p>
                  </a:txBody>
                  <a:tcPr marL="73152" marR="73152" marT="27432" marB="27432">
                    <a:solidFill>
                      <a:srgbClr val="E4EAF0"/>
                    </a:solidFill>
                  </a:tcPr>
                </a:tc>
                <a:tc>
                  <a:txBody>
                    <a:bodyPr wrap="square"/>
                    <a:lstStyle/>
                    <a:p>
                      <a:pPr algn="l"/>
                      <a:r>
                        <a:rPr sz="1100" b="1">
                          <a:solidFill>
                            <a:srgbClr val="434A55"/>
                          </a:solidFill>
                          <a:latin typeface="Calibri"/>
                        </a:rPr>
                        <a:t>Outcomes</a:t>
                      </a:r>
                    </a:p>
                  </a:txBody>
                  <a:tcPr marL="73152" marR="73152" marT="27432" marB="27432">
                    <a:solidFill>
                      <a:srgbClr val="E4EAF0"/>
                    </a:solidFill>
                  </a:tcPr>
                </a:tc>
              </a:tr>
              <a:tr h="1051560">
                <a:tc>
                  <a:txBody>
                    <a:bodyPr wrap="square"/>
                    <a:lstStyle/>
                    <a:p>
                      <a:r>
                        <a:rPr sz="1200" b="0">
                          <a:solidFill>
                            <a:srgbClr val="14171C"/>
                          </a:solidFill>
                          <a:latin typeface="Calibri"/>
                        </a:rPr>
                        <a:t>Kettering Foundation / Gallup, Democracy for All, Year 1 (Jul–Aug 2025)</a:t>
                      </a:r>
                    </a:p>
                  </a:txBody>
                  <a:tcPr marL="73152" marR="73152" marT="27432" marB="27432">
                    <a:solidFill>
                      <a:srgbClr val="FAFBFC"/>
                    </a:solidFill>
                  </a:tcPr>
                </a:tc>
                <a:tc>
                  <a:txBody>
                    <a:bodyPr wrap="square"/>
                    <a:lstStyle/>
                    <a:p>
                      <a:pPr algn="r"/>
                      <a:r>
                        <a:rPr sz="1200" b="0">
                          <a:solidFill>
                            <a:srgbClr val="14171C"/>
                          </a:solidFill>
                          <a:latin typeface="Calibri"/>
                        </a:rPr>
                        <a:t>20,338; 45% Gallup Panel (probability), 55% opt-in; weighted</a:t>
                      </a:r>
                    </a:p>
                  </a:txBody>
                  <a:tcPr marL="73152" marR="73152" marT="27432" marB="27432">
                    <a:solidFill>
                      <a:srgbClr val="FAFBFC"/>
                    </a:solidFill>
                  </a:tcPr>
                </a:tc>
                <a:tc>
                  <a:txBody>
                    <a:bodyPr wrap="square"/>
                    <a:lstStyle/>
                    <a:p>
                      <a:pPr algn="l"/>
                      <a:r>
                        <a:rPr sz="1200" b="0">
                          <a:solidFill>
                            <a:srgbClr val="14171C"/>
                          </a:solidFill>
                          <a:latin typeface="Calibri"/>
                        </a:rPr>
                        <a:t>Open-ended top-three news sources: 51,082 verbatims. Matched to shows by exact title (385 respondents), plus a re-scan for misspellings (150), plus six out-of-frame political podcasts (290)</a:t>
                      </a:r>
                    </a:p>
                  </a:txBody>
                  <a:tcPr marL="73152" marR="73152" marT="27432" marB="27432">
                    <a:solidFill>
                      <a:srgbClr val="FAFBFC"/>
                    </a:solidFill>
                  </a:tcPr>
                </a:tc>
                <a:tc>
                  <a:txBody>
                    <a:bodyPr wrap="square"/>
                    <a:lstStyle/>
                    <a:p>
                      <a:pPr algn="r"/>
                      <a:r>
                        <a:rPr sz="1200" b="0">
                          <a:solidFill>
                            <a:srgbClr val="14171C"/>
                          </a:solidFill>
                          <a:latin typeface="Calibri"/>
                        </a:rPr>
                        <a:t>8-item institutional cynicism (α = .84), election distrust, democratic-norms battery, participation</a:t>
                      </a:r>
                    </a:p>
                  </a:txBody>
                  <a:tcPr marL="73152" marR="73152" marT="27432" marB="27432">
                    <a:solidFill>
                      <a:srgbClr val="FAFBFC"/>
                    </a:solidFill>
                  </a:tcPr>
                </a:tc>
              </a:tr>
              <a:tr h="1051560">
                <a:tc>
                  <a:txBody>
                    <a:bodyPr wrap="square"/>
                    <a:lstStyle/>
                    <a:p>
                      <a:r>
                        <a:rPr sz="1200" b="0">
                          <a:solidFill>
                            <a:srgbClr val="14171C"/>
                          </a:solidFill>
                          <a:latin typeface="Calibri"/>
                        </a:rPr>
                        <a:t>Pew American Trends Panel, Waves 150 / 155 / 165 (Jul 2024 – Mar 2025)</a:t>
                      </a:r>
                    </a:p>
                  </a:txBody>
                  <a:tcPr marL="73152" marR="73152" marT="27432" marB="27432">
                    <a:solidFill>
                      <a:srgbClr val="F1F3F5"/>
                    </a:solidFill>
                  </a:tcPr>
                </a:tc>
                <a:tc>
                  <a:txBody>
                    <a:bodyPr wrap="square"/>
                    <a:lstStyle/>
                    <a:p>
                      <a:pPr algn="r"/>
                      <a:r>
                        <a:rPr sz="1200" b="0">
                          <a:solidFill>
                            <a:srgbClr val="14171C"/>
                          </a:solidFill>
                          <a:latin typeface="Calibri"/>
                        </a:rPr>
                        <a:t>10,658 in W150; ~9,000 linked to each later wave; probability panel</a:t>
                      </a:r>
                    </a:p>
                  </a:txBody>
                  <a:tcPr marL="73152" marR="73152" marT="27432" marB="27432">
                    <a:solidFill>
                      <a:srgbClr val="F1F3F5"/>
                    </a:solidFill>
                  </a:tcPr>
                </a:tc>
                <a:tc>
                  <a:txBody>
                    <a:bodyPr wrap="square"/>
                    <a:lstStyle/>
                    <a:p>
                      <a:pPr algn="l"/>
                      <a:r>
                        <a:rPr sz="1200" b="0">
                          <a:solidFill>
                            <a:srgbClr val="14171C"/>
                          </a:solidFill>
                          <a:latin typeface="Calibri"/>
                        </a:rPr>
                        <a:t>Frequency of podcast news; podcasts as main election-news source; seven items on relationships with news influencers</a:t>
                      </a:r>
                    </a:p>
                  </a:txBody>
                  <a:tcPr marL="73152" marR="73152" marT="27432" marB="27432">
                    <a:solidFill>
                      <a:srgbClr val="F1F3F5"/>
                    </a:solidFill>
                  </a:tcPr>
                </a:tc>
                <a:tc>
                  <a:txBody>
                    <a:bodyPr wrap="square"/>
                    <a:lstStyle/>
                    <a:p>
                      <a:pPr algn="l"/>
                      <a:r>
                        <a:rPr sz="1200" b="0">
                          <a:solidFill>
                            <a:srgbClr val="14171C"/>
                          </a:solidFill>
                          <a:latin typeface="Calibri"/>
                        </a:rPr>
                        <a:t>Trust in national news, local news, social media, and friends/family — measured 2–8 months after exposure</a:t>
                      </a:r>
                    </a:p>
                  </a:txBody>
                  <a:tcPr marL="73152" marR="73152" marT="27432" marB="27432">
                    <a:solidFill>
                      <a:srgbClr val="F1F3F5"/>
                    </a:solidFill>
                  </a:tcPr>
                </a:tc>
              </a:tr>
            </a:tbl>
          </a:graphicData>
        </a:graphic>
      </p:graphicFrame>
      <p:sp>
        <p:nvSpPr>
          <p:cNvPr id="8" name="Rectangle 7"/>
          <p:cNvSpPr/>
          <p:nvPr/>
        </p:nvSpPr>
        <p:spPr>
          <a:xfrm>
            <a:off x="731520" y="5029200"/>
            <a:ext cx="36000" cy="822960"/>
          </a:xfrm>
          <a:prstGeom prst="rect">
            <a:avLst/>
          </a:prstGeom>
          <a:solidFill>
            <a:srgbClr val="7A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029200"/>
            <a:ext cx="10500055" cy="822960"/>
          </a:xfrm>
          <a:prstGeom prst="rect">
            <a:avLst/>
          </a:prstGeom>
          <a:noFill/>
        </p:spPr>
        <p:txBody>
          <a:bodyPr wrap="square" anchor="ctr" lIns="0" rIns="0" tIns="0" bIns="0">
            <a:spAutoFit/>
          </a:bodyPr>
          <a:lstStyle/>
          <a:p>
            <a:pPr algn="l">
              <a:lnSpc>
                <a:spcPct val="115000"/>
              </a:lnSpc>
              <a:spcAft>
                <a:spcPts val="600"/>
              </a:spcAft>
            </a:pPr>
            <a:r>
              <a:rPr sz="2000" b="0" i="0">
                <a:solidFill>
                  <a:srgbClr val="7A2E2E"/>
                </a:solidFill>
                <a:latin typeface="Georgia"/>
              </a:rPr>
              <a:t>Kettering lets us match a show's transcripts to that show's own listeners. Pew lets us put exposure before outcome.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1F3F5"/>
        </a:solidFill>
        <a:effectLst/>
      </p:bgPr>
    </p:bg>
    <p:spTree>
      <p:nvGrpSpPr>
        <p:cNvPr id="1" name=""/>
        <p:cNvGrpSpPr/>
        <p:nvPr/>
      </p:nvGrpSpPr>
      <p:grpSpPr/>
      <p:sp>
        <p:nvSpPr>
          <p:cNvPr id="2" name="TextBox 1"/>
          <p:cNvSpPr txBox="1"/>
          <p:nvPr/>
        </p:nvSpPr>
        <p:spPr>
          <a:xfrm>
            <a:off x="731520" y="6400800"/>
            <a:ext cx="8229600" cy="274320"/>
          </a:xfrm>
          <a:prstGeom prst="rect">
            <a:avLst/>
          </a:prstGeom>
          <a:noFill/>
        </p:spPr>
        <p:txBody>
          <a:bodyPr wrap="square" anchor="t" lIns="0" rIns="0" tIns="0" bIns="0">
            <a:spAutoFit/>
          </a:bodyPr>
          <a:lstStyle/>
          <a:p>
            <a:pPr algn="l">
              <a:lnSpc>
                <a:spcPct val="115000"/>
              </a:lnSpc>
              <a:spcAft>
                <a:spcPts val="600"/>
              </a:spcAft>
            </a:pPr>
            <a:r>
              <a:rPr sz="1000" b="0" i="0">
                <a:solidFill>
                  <a:srgbClr val="737B87"/>
                </a:solidFill>
                <a:latin typeface="Calibri"/>
              </a:rPr>
              <a:t>Talking at the Audience  ·  Yang &amp; Alvarez  ·  Linde Center, Caltech</a:t>
            </a:r>
          </a:p>
        </p:txBody>
      </p:sp>
      <p:sp>
        <p:nvSpPr>
          <p:cNvPr id="3" name="TextBox 2"/>
          <p:cNvSpPr txBox="1"/>
          <p:nvPr/>
        </p:nvSpPr>
        <p:spPr>
          <a:xfrm>
            <a:off x="10545775" y="6400800"/>
            <a:ext cx="914400" cy="274320"/>
          </a:xfrm>
          <a:prstGeom prst="rect">
            <a:avLst/>
          </a:prstGeom>
          <a:noFill/>
        </p:spPr>
        <p:txBody>
          <a:bodyPr wrap="square" anchor="t" lIns="0" rIns="0" tIns="0" bIns="0">
            <a:spAutoFit/>
          </a:bodyPr>
          <a:lstStyle/>
          <a:p>
            <a:pPr algn="r">
              <a:lnSpc>
                <a:spcPct val="115000"/>
              </a:lnSpc>
              <a:spcAft>
                <a:spcPts val="600"/>
              </a:spcAft>
            </a:pPr>
            <a:r>
              <a:rPr sz="1000" b="0" i="0">
                <a:solidFill>
                  <a:srgbClr val="737B87"/>
                </a:solidFill>
                <a:latin typeface="Calibri"/>
              </a:rPr>
              <a:t>7</a:t>
            </a:r>
          </a:p>
        </p:txBody>
      </p:sp>
      <p:sp>
        <p:nvSpPr>
          <p:cNvPr id="4" name="TextBox 3"/>
          <p:cNvSpPr txBox="1"/>
          <p:nvPr/>
        </p:nvSpPr>
        <p:spPr>
          <a:xfrm>
            <a:off x="731520" y="411480"/>
            <a:ext cx="7315200" cy="274320"/>
          </a:xfrm>
          <a:prstGeom prst="rect">
            <a:avLst/>
          </a:prstGeom>
          <a:noFill/>
        </p:spPr>
        <p:txBody>
          <a:bodyPr wrap="square" anchor="t" lIns="0" rIns="0" tIns="0" bIns="0">
            <a:spAutoFit/>
          </a:bodyPr>
          <a:lstStyle/>
          <a:p>
            <a:pPr algn="l">
              <a:lnSpc>
                <a:spcPct val="115000"/>
              </a:lnSpc>
              <a:spcAft>
                <a:spcPts val="600"/>
              </a:spcAft>
            </a:pPr>
            <a:r>
              <a:rPr sz="1100" b="1" i="0">
                <a:solidFill>
                  <a:srgbClr val="7A2E2E"/>
                </a:solidFill>
                <a:latin typeface="Calibri"/>
              </a:rPr>
              <a:t>METHODS</a:t>
            </a:r>
          </a:p>
        </p:txBody>
      </p:sp>
      <p:sp>
        <p:nvSpPr>
          <p:cNvPr id="5" name="TextBox 4"/>
          <p:cNvSpPr txBox="1"/>
          <p:nvPr/>
        </p:nvSpPr>
        <p:spPr>
          <a:xfrm>
            <a:off x="731520" y="731520"/>
            <a:ext cx="10728655" cy="1097280"/>
          </a:xfrm>
          <a:prstGeom prst="rect">
            <a:avLst/>
          </a:prstGeom>
          <a:noFill/>
        </p:spPr>
        <p:txBody>
          <a:bodyPr wrap="square" anchor="t" lIns="0" rIns="0" tIns="0" bIns="0">
            <a:spAutoFit/>
          </a:bodyPr>
          <a:lstStyle/>
          <a:p>
            <a:pPr algn="l">
              <a:lnSpc>
                <a:spcPct val="105000"/>
              </a:lnSpc>
              <a:spcAft>
                <a:spcPts val="600"/>
              </a:spcAft>
            </a:pPr>
            <a:r>
              <a:rPr sz="3400" b="0" i="0">
                <a:solidFill>
                  <a:srgbClr val="14171C"/>
                </a:solidFill>
                <a:latin typeface="Georgia"/>
              </a:rPr>
              <a:t>Measuring how a host talks to the listener</a:t>
            </a:r>
          </a:p>
        </p:txBody>
      </p:sp>
      <p:sp>
        <p:nvSpPr>
          <p:cNvPr id="6" name="Rectangle 5"/>
          <p:cNvSpPr/>
          <p:nvPr/>
        </p:nvSpPr>
        <p:spPr>
          <a:xfrm>
            <a:off x="731520" y="1417320"/>
            <a:ext cx="822960" cy="28000"/>
          </a:xfrm>
          <a:prstGeom prst="rect">
            <a:avLst/>
          </a:prstGeom>
          <a:solidFill>
            <a:srgbClr val="7A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011680"/>
            <a:ext cx="5852160" cy="3840480"/>
          </a:xfrm>
          <a:prstGeom prst="rect">
            <a:avLst/>
          </a:prstGeom>
          <a:noFill/>
        </p:spPr>
        <p:txBody>
          <a:bodyPr wrap="square" lIns="0" rIns="0" tIns="0" bIns="0">
            <a:spAutoFit/>
          </a:bodyPr>
          <a:lstStyle/>
          <a:p>
            <a:pPr>
              <a:lnSpc>
                <a:spcPct val="112000"/>
              </a:lnSpc>
              <a:spcAft>
                <a:spcPts val="800"/>
              </a:spcAft>
            </a:pPr>
            <a:r>
              <a:rPr sz="1500">
                <a:solidFill>
                  <a:srgbClr val="7A2E2E"/>
                </a:solidFill>
                <a:latin typeface="Calibri"/>
              </a:rPr>
              <a:t>•  </a:t>
            </a:r>
            <a:r>
              <a:rPr sz="1500" b="1" i="0">
                <a:solidFill>
                  <a:srgbClr val="14171C"/>
                </a:solidFill>
                <a:latin typeface="Calibri"/>
              </a:rPr>
              <a:t>Listener-directed address </a:t>
            </a:r>
            <a:r>
              <a:rPr sz="1500" b="0" i="0">
                <a:solidFill>
                  <a:srgbClr val="14171C"/>
                </a:solidFill>
                <a:latin typeface="Calibri"/>
              </a:rPr>
              <a:t>= mean of three show-level z-scores, each an n-weighted rate per 10,000 words:</a:t>
            </a:r>
          </a:p>
          <a:p>
            <a:pPr>
              <a:lnSpc>
                <a:spcPct val="112000"/>
              </a:lnSpc>
              <a:spcAft>
                <a:spcPts val="800"/>
              </a:spcAft>
            </a:pPr>
            <a:r>
              <a:rPr sz="1300">
                <a:solidFill>
                  <a:srgbClr val="737B87"/>
                </a:solidFill>
                <a:latin typeface="Calibri"/>
              </a:rPr>
              <a:t>      – </a:t>
            </a:r>
            <a:r>
              <a:rPr sz="1300" b="0" i="0">
                <a:solidFill>
                  <a:srgbClr val="434A55"/>
                </a:solidFill>
                <a:latin typeface="Calibri"/>
              </a:rPr>
              <a:t>syntactic imperatives — a bare-form verb heading a clause with no subject or auxiliary (spaCy dependency parse)</a:t>
            </a:r>
          </a:p>
          <a:p>
            <a:pPr>
              <a:lnSpc>
                <a:spcPct val="112000"/>
              </a:lnSpc>
              <a:spcAft>
                <a:spcPts val="800"/>
              </a:spcAft>
            </a:pPr>
            <a:r>
              <a:rPr sz="1300">
                <a:solidFill>
                  <a:srgbClr val="737B87"/>
                </a:solidFill>
                <a:latin typeface="Calibri"/>
              </a:rPr>
              <a:t>      – </a:t>
            </a:r>
            <a:r>
              <a:rPr sz="1300" b="0" i="0">
                <a:solidFill>
                  <a:srgbClr val="434A55"/>
                </a:solidFill>
                <a:latin typeface="Calibri"/>
              </a:rPr>
              <a:t>dictionary imperatives — look, listen, think about it, remember, understand …</a:t>
            </a:r>
          </a:p>
          <a:p>
            <a:pPr>
              <a:lnSpc>
                <a:spcPct val="112000"/>
              </a:lnSpc>
              <a:spcAft>
                <a:spcPts val="800"/>
              </a:spcAft>
            </a:pPr>
            <a:r>
              <a:rPr sz="1300">
                <a:solidFill>
                  <a:srgbClr val="737B87"/>
                </a:solidFill>
                <a:latin typeface="Calibri"/>
              </a:rPr>
              <a:t>      – </a:t>
            </a:r>
            <a:r>
              <a:rPr sz="1300" b="0" i="0">
                <a:solidFill>
                  <a:srgbClr val="434A55"/>
                </a:solidFill>
                <a:latin typeface="Calibri"/>
              </a:rPr>
              <a:t>second-person pronouns — you, your, yourself</a:t>
            </a:r>
          </a:p>
          <a:p>
            <a:pPr>
              <a:lnSpc>
                <a:spcPct val="112000"/>
              </a:lnSpc>
              <a:spcAft>
                <a:spcPts val="800"/>
              </a:spcAft>
            </a:pPr>
            <a:r>
              <a:rPr sz="1500">
                <a:solidFill>
                  <a:srgbClr val="7A2E2E"/>
                </a:solidFill>
                <a:latin typeface="Calibri"/>
              </a:rPr>
              <a:t>•  </a:t>
            </a:r>
            <a:r>
              <a:rPr sz="1500" b="1" i="0">
                <a:solidFill>
                  <a:srgbClr val="14171C"/>
                </a:solidFill>
                <a:latin typeface="Calibri"/>
              </a:rPr>
              <a:t>Hostility </a:t>
            </a:r>
            <a:r>
              <a:rPr sz="1500" b="0" i="0">
                <a:solidFill>
                  <a:srgbClr val="14171C"/>
                </a:solidFill>
                <a:latin typeface="Calibri"/>
              </a:rPr>
              <a:t>from Sobieraj &amp; Berry's outrage categories plus a profanity list; moral language from eMFD and MFD 2.0; Biber dimensions via the Multi-Feature Tagger of English.</a:t>
            </a:r>
          </a:p>
          <a:p>
            <a:pPr>
              <a:lnSpc>
                <a:spcPct val="112000"/>
              </a:lnSpc>
              <a:spcAft>
                <a:spcPts val="800"/>
              </a:spcAft>
            </a:pPr>
            <a:r>
              <a:rPr sz="1500">
                <a:solidFill>
                  <a:srgbClr val="7A2E2E"/>
                </a:solidFill>
                <a:latin typeface="Calibri"/>
              </a:rPr>
              <a:t>•  </a:t>
            </a:r>
            <a:r>
              <a:rPr sz="1500" b="0" i="0">
                <a:solidFill>
                  <a:srgbClr val="14171C"/>
                </a:solidFill>
                <a:latin typeface="Calibri"/>
              </a:rPr>
              <a:t>All instruments published before this study. No word list was written for it.</a:t>
            </a:r>
          </a:p>
          <a:p>
            <a:pPr>
              <a:lnSpc>
                <a:spcPct val="112000"/>
              </a:lnSpc>
              <a:spcAft>
                <a:spcPts val="800"/>
              </a:spcAft>
            </a:pPr>
            <a:r>
              <a:rPr sz="1500">
                <a:solidFill>
                  <a:srgbClr val="7A2E2E"/>
                </a:solidFill>
                <a:latin typeface="Calibri"/>
              </a:rPr>
              <a:t>•  </a:t>
            </a:r>
            <a:r>
              <a:rPr sz="1500" b="0" i="0">
                <a:solidFill>
                  <a:srgbClr val="14171C"/>
                </a:solidFill>
                <a:latin typeface="Calibri"/>
              </a:rPr>
              <a:t>Register scored on every passage (ads flagged, not removed); topic model run on ad-excised text.</a:t>
            </a:r>
          </a:p>
        </p:txBody>
      </p:sp>
      <p:sp>
        <p:nvSpPr>
          <p:cNvPr id="8" name="Rectangle 7"/>
          <p:cNvSpPr/>
          <p:nvPr/>
        </p:nvSpPr>
        <p:spPr>
          <a:xfrm>
            <a:off x="7040880" y="2011680"/>
            <a:ext cx="4389120" cy="3657600"/>
          </a:xfrm>
          <a:prstGeom prst="rect">
            <a:avLst/>
          </a:prstGeom>
          <a:solidFill>
            <a:srgbClr val="FAFBFC"/>
          </a:solidFill>
          <a:ln w="9525">
            <a:solidFill>
              <a:srgbClr val="D6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0" y="2194560"/>
            <a:ext cx="3931920" cy="365760"/>
          </a:xfrm>
          <a:prstGeom prst="rect">
            <a:avLst/>
          </a:prstGeom>
          <a:noFill/>
        </p:spPr>
        <p:txBody>
          <a:bodyPr wrap="square" anchor="t" lIns="0" rIns="0" tIns="0" bIns="0">
            <a:spAutoFit/>
          </a:bodyPr>
          <a:lstStyle/>
          <a:p>
            <a:pPr algn="l">
              <a:lnSpc>
                <a:spcPct val="115000"/>
              </a:lnSpc>
              <a:spcAft>
                <a:spcPts val="600"/>
              </a:spcAft>
            </a:pPr>
            <a:r>
              <a:rPr sz="1100" b="1" i="0">
                <a:solidFill>
                  <a:srgbClr val="7A2E2E"/>
                </a:solidFill>
                <a:latin typeface="Calibri"/>
              </a:rPr>
              <a:t>WHAT THE MEASURE PICKS UP</a:t>
            </a:r>
          </a:p>
        </p:txBody>
      </p:sp>
      <p:sp>
        <p:nvSpPr>
          <p:cNvPr id="10" name="TextBox 9"/>
          <p:cNvSpPr txBox="1"/>
          <p:nvPr/>
        </p:nvSpPr>
        <p:spPr>
          <a:xfrm>
            <a:off x="7315200" y="2606040"/>
            <a:ext cx="3931920" cy="3017520"/>
          </a:xfrm>
          <a:prstGeom prst="rect">
            <a:avLst/>
          </a:prstGeom>
          <a:noFill/>
        </p:spPr>
        <p:txBody>
          <a:bodyPr wrap="square" anchor="t" lIns="0" rIns="0" tIns="0" bIns="0">
            <a:spAutoFit/>
          </a:bodyPr>
          <a:lstStyle/>
          <a:p>
            <a:pPr algn="l">
              <a:lnSpc>
                <a:spcPct val="115000"/>
              </a:lnSpc>
              <a:spcAft>
                <a:spcPts val="1200"/>
              </a:spcAft>
            </a:pPr>
            <a:r>
              <a:rPr sz="1500" b="0" i="1">
                <a:solidFill>
                  <a:srgbClr val="14171C"/>
                </a:solidFill>
                <a:latin typeface="Georgia"/>
              </a:rPr>
              <a:t>“You need to understand what they’re doing here. Look at what happened last week. Don’t let them tell you otherwise.”</a:t>
            </a:r>
          </a:p>
          <a:p>
            <a:pPr algn="l">
              <a:lnSpc>
                <a:spcPct val="115000"/>
              </a:lnSpc>
              <a:spcAft>
                <a:spcPts val="1200"/>
              </a:spcAft>
            </a:pPr>
            <a:r>
              <a:rPr sz="1300" b="0" i="0">
                <a:solidFill>
                  <a:srgbClr val="434A55"/>
                </a:solidFill>
                <a:latin typeface="Calibri"/>
              </a:rPr>
              <a:t>Deontic second person (you need to, you should) is the strongest single component against host ideology (r = +0.44). The filler ‘you know’ is null. Biber’s persuasion dimension is uncorrelated (r = −0.12). The second-person subject carries the signal, not the modality.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1F3F5"/>
        </a:solidFill>
        <a:effectLst/>
      </p:bgPr>
    </p:bg>
    <p:spTree>
      <p:nvGrpSpPr>
        <p:cNvPr id="1" name=""/>
        <p:cNvGrpSpPr/>
        <p:nvPr/>
      </p:nvGrpSpPr>
      <p:grpSpPr/>
      <p:sp>
        <p:nvSpPr>
          <p:cNvPr id="2" name="TextBox 1"/>
          <p:cNvSpPr txBox="1"/>
          <p:nvPr/>
        </p:nvSpPr>
        <p:spPr>
          <a:xfrm>
            <a:off x="731520" y="6400800"/>
            <a:ext cx="8229600" cy="274320"/>
          </a:xfrm>
          <a:prstGeom prst="rect">
            <a:avLst/>
          </a:prstGeom>
          <a:noFill/>
        </p:spPr>
        <p:txBody>
          <a:bodyPr wrap="square" anchor="t" lIns="0" rIns="0" tIns="0" bIns="0">
            <a:spAutoFit/>
          </a:bodyPr>
          <a:lstStyle/>
          <a:p>
            <a:pPr algn="l">
              <a:lnSpc>
                <a:spcPct val="115000"/>
              </a:lnSpc>
              <a:spcAft>
                <a:spcPts val="600"/>
              </a:spcAft>
            </a:pPr>
            <a:r>
              <a:rPr sz="1000" b="0" i="0">
                <a:solidFill>
                  <a:srgbClr val="737B87"/>
                </a:solidFill>
                <a:latin typeface="Calibri"/>
              </a:rPr>
              <a:t>Talking at the Audience  ·  Yang &amp; Alvarez  ·  Linde Center, Caltech</a:t>
            </a:r>
          </a:p>
        </p:txBody>
      </p:sp>
      <p:sp>
        <p:nvSpPr>
          <p:cNvPr id="3" name="TextBox 2"/>
          <p:cNvSpPr txBox="1"/>
          <p:nvPr/>
        </p:nvSpPr>
        <p:spPr>
          <a:xfrm>
            <a:off x="10545775" y="6400800"/>
            <a:ext cx="914400" cy="274320"/>
          </a:xfrm>
          <a:prstGeom prst="rect">
            <a:avLst/>
          </a:prstGeom>
          <a:noFill/>
        </p:spPr>
        <p:txBody>
          <a:bodyPr wrap="square" anchor="t" lIns="0" rIns="0" tIns="0" bIns="0">
            <a:spAutoFit/>
          </a:bodyPr>
          <a:lstStyle/>
          <a:p>
            <a:pPr algn="r">
              <a:lnSpc>
                <a:spcPct val="115000"/>
              </a:lnSpc>
              <a:spcAft>
                <a:spcPts val="600"/>
              </a:spcAft>
            </a:pPr>
            <a:r>
              <a:rPr sz="1000" b="0" i="0">
                <a:solidFill>
                  <a:srgbClr val="737B87"/>
                </a:solidFill>
                <a:latin typeface="Calibri"/>
              </a:rPr>
              <a:t>8</a:t>
            </a:r>
          </a:p>
        </p:txBody>
      </p:sp>
      <p:sp>
        <p:nvSpPr>
          <p:cNvPr id="4" name="TextBox 3"/>
          <p:cNvSpPr txBox="1"/>
          <p:nvPr/>
        </p:nvSpPr>
        <p:spPr>
          <a:xfrm>
            <a:off x="731520" y="411480"/>
            <a:ext cx="7315200" cy="274320"/>
          </a:xfrm>
          <a:prstGeom prst="rect">
            <a:avLst/>
          </a:prstGeom>
          <a:noFill/>
        </p:spPr>
        <p:txBody>
          <a:bodyPr wrap="square" anchor="t" lIns="0" rIns="0" tIns="0" bIns="0">
            <a:spAutoFit/>
          </a:bodyPr>
          <a:lstStyle/>
          <a:p>
            <a:pPr algn="l">
              <a:lnSpc>
                <a:spcPct val="115000"/>
              </a:lnSpc>
              <a:spcAft>
                <a:spcPts val="600"/>
              </a:spcAft>
            </a:pPr>
            <a:r>
              <a:rPr sz="1100" b="1" i="0">
                <a:solidFill>
                  <a:srgbClr val="7A2E2E"/>
                </a:solidFill>
                <a:latin typeface="Calibri"/>
              </a:rPr>
              <a:t>METHODS</a:t>
            </a:r>
          </a:p>
        </p:txBody>
      </p:sp>
      <p:sp>
        <p:nvSpPr>
          <p:cNvPr id="5" name="TextBox 4"/>
          <p:cNvSpPr txBox="1"/>
          <p:nvPr/>
        </p:nvSpPr>
        <p:spPr>
          <a:xfrm>
            <a:off x="731520" y="731520"/>
            <a:ext cx="10728655" cy="1097280"/>
          </a:xfrm>
          <a:prstGeom prst="rect">
            <a:avLst/>
          </a:prstGeom>
          <a:noFill/>
        </p:spPr>
        <p:txBody>
          <a:bodyPr wrap="square" anchor="t" lIns="0" rIns="0" tIns="0" bIns="0">
            <a:spAutoFit/>
          </a:bodyPr>
          <a:lstStyle/>
          <a:p>
            <a:pPr algn="l">
              <a:lnSpc>
                <a:spcPct val="105000"/>
              </a:lnSpc>
              <a:spcAft>
                <a:spcPts val="600"/>
              </a:spcAft>
            </a:pPr>
            <a:r>
              <a:rPr sz="3400" b="0" i="0">
                <a:solidFill>
                  <a:srgbClr val="14171C"/>
                </a:solidFill>
                <a:latin typeface="Georgia"/>
              </a:rPr>
              <a:t>Ideology labels validated four ways</a:t>
            </a:r>
          </a:p>
        </p:txBody>
      </p:sp>
      <p:sp>
        <p:nvSpPr>
          <p:cNvPr id="6" name="Rectangle 5"/>
          <p:cNvSpPr/>
          <p:nvPr/>
        </p:nvSpPr>
        <p:spPr>
          <a:xfrm>
            <a:off x="731520" y="1417320"/>
            <a:ext cx="822960" cy="28000"/>
          </a:xfrm>
          <a:prstGeom prst="rect">
            <a:avLst/>
          </a:prstGeom>
          <a:solidFill>
            <a:srgbClr val="7A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731520" y="2011680"/>
          <a:ext cx="7498080" cy="2057400"/>
        </p:xfrm>
        <a:graphic>
          <a:graphicData uri="http://schemas.openxmlformats.org/drawingml/2006/table">
            <a:tbl>
              <a:tblPr firstRow="1" bandRow="1">
                <a:tableStyleId>{5C22544A-7EE6-4342-B048-85BDC9FD1C3A}</a:tableStyleId>
              </a:tblPr>
              <a:tblGrid>
                <a:gridCol w="1828800"/>
                <a:gridCol w="2743200"/>
                <a:gridCol w="1463040"/>
                <a:gridCol w="1463040"/>
              </a:tblGrid>
              <a:tr h="411480">
                <a:tc>
                  <a:txBody>
                    <a:bodyPr wrap="square"/>
                    <a:lstStyle/>
                    <a:p>
                      <a:r>
                        <a:rPr sz="1200" b="1">
                          <a:solidFill>
                            <a:srgbClr val="434A55"/>
                          </a:solidFill>
                          <a:latin typeface="Calibri"/>
                        </a:rPr>
                        <a:t>Standard</a:t>
                      </a:r>
                    </a:p>
                  </a:txBody>
                  <a:tcPr marL="73152" marR="73152" marT="27432" marB="27432">
                    <a:solidFill>
                      <a:srgbClr val="E4EAF0"/>
                    </a:solidFill>
                  </a:tcPr>
                </a:tc>
                <a:tc>
                  <a:txBody>
                    <a:bodyPr wrap="square"/>
                    <a:lstStyle/>
                    <a:p>
                      <a:pPr algn="l"/>
                      <a:r>
                        <a:rPr sz="1200" b="1">
                          <a:solidFill>
                            <a:srgbClr val="434A55"/>
                          </a:solidFill>
                          <a:latin typeface="Calibri"/>
                        </a:rPr>
                        <a:t>Basis</a:t>
                      </a:r>
                    </a:p>
                  </a:txBody>
                  <a:tcPr marL="73152" marR="73152" marT="27432" marB="27432">
                    <a:solidFill>
                      <a:srgbClr val="E4EAF0"/>
                    </a:solidFill>
                  </a:tcPr>
                </a:tc>
                <a:tc>
                  <a:txBody>
                    <a:bodyPr wrap="square"/>
                    <a:lstStyle/>
                    <a:p>
                      <a:pPr algn="l"/>
                      <a:r>
                        <a:rPr sz="1200" b="1">
                          <a:solidFill>
                            <a:srgbClr val="434A55"/>
                          </a:solidFill>
                          <a:latin typeface="Calibri"/>
                        </a:rPr>
                        <a:t>n</a:t>
                      </a:r>
                    </a:p>
                  </a:txBody>
                  <a:tcPr marL="73152" marR="73152" marT="27432" marB="27432">
                    <a:solidFill>
                      <a:srgbClr val="E4EAF0"/>
                    </a:solidFill>
                  </a:tcPr>
                </a:tc>
                <a:tc>
                  <a:txBody>
                    <a:bodyPr wrap="square"/>
                    <a:lstStyle/>
                    <a:p>
                      <a:pPr algn="l"/>
                      <a:r>
                        <a:rPr sz="1200" b="1">
                          <a:solidFill>
                            <a:srgbClr val="434A55"/>
                          </a:solidFill>
                          <a:latin typeface="Calibri"/>
                        </a:rPr>
                        <a:t>Agreement</a:t>
                      </a:r>
                    </a:p>
                  </a:txBody>
                  <a:tcPr marL="73152" marR="73152" marT="27432" marB="27432">
                    <a:solidFill>
                      <a:srgbClr val="E4EAF0"/>
                    </a:solidFill>
                  </a:tcPr>
                </a:tc>
              </a:tr>
              <a:tr h="411480">
                <a:tc>
                  <a:txBody>
                    <a:bodyPr wrap="square"/>
                    <a:lstStyle/>
                    <a:p>
                      <a:r>
                        <a:rPr sz="1300" b="0">
                          <a:solidFill>
                            <a:srgbClr val="14171C"/>
                          </a:solidFill>
                          <a:latin typeface="Calibri"/>
                        </a:rPr>
                        <a:t>DIME cfscore</a:t>
                      </a:r>
                    </a:p>
                  </a:txBody>
                  <a:tcPr marL="73152" marR="73152" marT="27432" marB="27432">
                    <a:solidFill>
                      <a:srgbClr val="FAFBFC"/>
                    </a:solidFill>
                  </a:tcPr>
                </a:tc>
                <a:tc>
                  <a:txBody>
                    <a:bodyPr wrap="square"/>
                    <a:lstStyle/>
                    <a:p>
                      <a:pPr algn="l"/>
                      <a:r>
                        <a:rPr sz="1300" b="0">
                          <a:solidFill>
                            <a:srgbClr val="14171C"/>
                          </a:solidFill>
                          <a:latin typeface="Calibri"/>
                        </a:rPr>
                        <a:t>hosts' campaign contributions</a:t>
                      </a:r>
                    </a:p>
                  </a:txBody>
                  <a:tcPr marL="73152" marR="73152" marT="27432" marB="27432">
                    <a:solidFill>
                      <a:srgbClr val="FAFBFC"/>
                    </a:solidFill>
                  </a:tcPr>
                </a:tc>
                <a:tc>
                  <a:txBody>
                    <a:bodyPr wrap="square"/>
                    <a:lstStyle/>
                    <a:p>
                      <a:pPr algn="r"/>
                      <a:r>
                        <a:rPr sz="1300" b="0">
                          <a:solidFill>
                            <a:srgbClr val="14171C"/>
                          </a:solidFill>
                          <a:latin typeface="Calibri"/>
                        </a:rPr>
                        <a:t>112 shows</a:t>
                      </a:r>
                    </a:p>
                  </a:txBody>
                  <a:tcPr marL="73152" marR="73152" marT="27432" marB="27432">
                    <a:solidFill>
                      <a:srgbClr val="FAFBFC"/>
                    </a:solidFill>
                  </a:tcPr>
                </a:tc>
                <a:tc>
                  <a:txBody>
                    <a:bodyPr wrap="square"/>
                    <a:lstStyle/>
                    <a:p>
                      <a:pPr algn="r"/>
                      <a:r>
                        <a:rPr sz="1300" b="1">
                          <a:solidFill>
                            <a:srgbClr val="7A2E2E"/>
                          </a:solidFill>
                          <a:latin typeface="Calibri"/>
                        </a:rPr>
                        <a:t>r = +0.68, κ = 0.66</a:t>
                      </a:r>
                    </a:p>
                  </a:txBody>
                  <a:tcPr marL="73152" marR="73152" marT="27432" marB="27432">
                    <a:solidFill>
                      <a:srgbClr val="FAFBFC"/>
                    </a:solidFill>
                  </a:tcPr>
                </a:tc>
              </a:tr>
              <a:tr h="411480">
                <a:tc>
                  <a:txBody>
                    <a:bodyPr wrap="square"/>
                    <a:lstStyle/>
                    <a:p>
                      <a:r>
                        <a:rPr sz="1300" b="0">
                          <a:solidFill>
                            <a:srgbClr val="14171C"/>
                          </a:solidFill>
                          <a:latin typeface="Calibri"/>
                        </a:rPr>
                        <a:t>Editorial ratings</a:t>
                      </a:r>
                    </a:p>
                  </a:txBody>
                  <a:tcPr marL="73152" marR="73152" marT="27432" marB="27432">
                    <a:solidFill>
                      <a:srgbClr val="F1F3F5"/>
                    </a:solidFill>
                  </a:tcPr>
                </a:tc>
                <a:tc>
                  <a:txBody>
                    <a:bodyPr wrap="square"/>
                    <a:lstStyle/>
                    <a:p>
                      <a:pPr algn="l"/>
                      <a:r>
                        <a:rPr sz="1300" b="0">
                          <a:solidFill>
                            <a:srgbClr val="14171C"/>
                          </a:solidFill>
                          <a:latin typeface="Calibri"/>
                        </a:rPr>
                        <a:t>human-assigned partisan leaning</a:t>
                      </a:r>
                    </a:p>
                  </a:txBody>
                  <a:tcPr marL="73152" marR="73152" marT="27432" marB="27432">
                    <a:solidFill>
                      <a:srgbClr val="F1F3F5"/>
                    </a:solidFill>
                  </a:tcPr>
                </a:tc>
                <a:tc>
                  <a:txBody>
                    <a:bodyPr wrap="square"/>
                    <a:lstStyle/>
                    <a:p>
                      <a:pPr algn="r"/>
                      <a:r>
                        <a:rPr sz="1300" b="0">
                          <a:solidFill>
                            <a:srgbClr val="14171C"/>
                          </a:solidFill>
                          <a:latin typeface="Calibri"/>
                        </a:rPr>
                        <a:t>25</a:t>
                      </a:r>
                    </a:p>
                  </a:txBody>
                  <a:tcPr marL="73152" marR="73152" marT="27432" marB="27432">
                    <a:solidFill>
                      <a:srgbClr val="F1F3F5"/>
                    </a:solidFill>
                  </a:tcPr>
                </a:tc>
                <a:tc>
                  <a:txBody>
                    <a:bodyPr wrap="square"/>
                    <a:lstStyle/>
                    <a:p>
                      <a:pPr algn="l"/>
                      <a:r>
                        <a:rPr sz="1300" b="1">
                          <a:solidFill>
                            <a:srgbClr val="7A2E2E"/>
                          </a:solidFill>
                          <a:latin typeface="Calibri"/>
                        </a:rPr>
                        <a:t>κ = 0.75</a:t>
                      </a:r>
                    </a:p>
                  </a:txBody>
                  <a:tcPr marL="73152" marR="73152" marT="27432" marB="27432">
                    <a:solidFill>
                      <a:srgbClr val="F1F3F5"/>
                    </a:solidFill>
                  </a:tcPr>
                </a:tc>
              </a:tr>
              <a:tr h="411480">
                <a:tc>
                  <a:txBody>
                    <a:bodyPr wrap="square"/>
                    <a:lstStyle/>
                    <a:p>
                      <a:r>
                        <a:rPr sz="1300" b="0">
                          <a:solidFill>
                            <a:srgbClr val="14171C"/>
                          </a:solidFill>
                          <a:latin typeface="Calibri"/>
                        </a:rPr>
                        <a:t>Expert ratings</a:t>
                      </a:r>
                    </a:p>
                  </a:txBody>
                  <a:tcPr marL="73152" marR="73152" marT="27432" marB="27432">
                    <a:solidFill>
                      <a:srgbClr val="FAFBFC"/>
                    </a:solidFill>
                  </a:tcPr>
                </a:tc>
                <a:tc>
                  <a:txBody>
                    <a:bodyPr wrap="square"/>
                    <a:lstStyle/>
                    <a:p>
                      <a:pPr algn="l"/>
                      <a:r>
                        <a:rPr sz="1300" b="0">
                          <a:solidFill>
                            <a:srgbClr val="14171C"/>
                          </a:solidFill>
                          <a:latin typeface="Calibri"/>
                        </a:rPr>
                        <a:t>independent research coding</a:t>
                      </a:r>
                    </a:p>
                  </a:txBody>
                  <a:tcPr marL="73152" marR="73152" marT="27432" marB="27432">
                    <a:solidFill>
                      <a:srgbClr val="FAFBFC"/>
                    </a:solidFill>
                  </a:tcPr>
                </a:tc>
                <a:tc>
                  <a:txBody>
                    <a:bodyPr wrap="square"/>
                    <a:lstStyle/>
                    <a:p>
                      <a:pPr algn="r"/>
                      <a:r>
                        <a:rPr sz="1300" b="0">
                          <a:solidFill>
                            <a:srgbClr val="14171C"/>
                          </a:solidFill>
                          <a:latin typeface="Calibri"/>
                        </a:rPr>
                        <a:t>26</a:t>
                      </a:r>
                    </a:p>
                  </a:txBody>
                  <a:tcPr marL="73152" marR="73152" marT="27432" marB="27432">
                    <a:solidFill>
                      <a:srgbClr val="FAFBFC"/>
                    </a:solidFill>
                  </a:tcPr>
                </a:tc>
                <a:tc>
                  <a:txBody>
                    <a:bodyPr wrap="square"/>
                    <a:lstStyle/>
                    <a:p>
                      <a:pPr algn="l"/>
                      <a:r>
                        <a:rPr sz="1300" b="1">
                          <a:solidFill>
                            <a:srgbClr val="7A2E2E"/>
                          </a:solidFill>
                          <a:latin typeface="Calibri"/>
                        </a:rPr>
                        <a:t>κ = 0.77</a:t>
                      </a:r>
                    </a:p>
                  </a:txBody>
                  <a:tcPr marL="73152" marR="73152" marT="27432" marB="27432">
                    <a:solidFill>
                      <a:srgbClr val="FAFBFC"/>
                    </a:solidFill>
                  </a:tcPr>
                </a:tc>
              </a:tr>
              <a:tr h="411480">
                <a:tc>
                  <a:txBody>
                    <a:bodyPr wrap="square"/>
                    <a:lstStyle/>
                    <a:p>
                      <a:r>
                        <a:rPr sz="1300" b="0">
                          <a:solidFill>
                            <a:srgbClr val="14171C"/>
                          </a:solidFill>
                          <a:latin typeface="Calibri"/>
                        </a:rPr>
                        <a:t>Audience party ID</a:t>
                      </a:r>
                    </a:p>
                  </a:txBody>
                  <a:tcPr marL="73152" marR="73152" marT="27432" marB="27432">
                    <a:solidFill>
                      <a:srgbClr val="F1F3F5"/>
                    </a:solidFill>
                  </a:tcPr>
                </a:tc>
                <a:tc>
                  <a:txBody>
                    <a:bodyPr wrap="square"/>
                    <a:lstStyle/>
                    <a:p>
                      <a:pPr algn="l"/>
                      <a:r>
                        <a:rPr sz="1300" b="0">
                          <a:solidFill>
                            <a:srgbClr val="14171C"/>
                          </a:solidFill>
                          <a:latin typeface="Calibri"/>
                        </a:rPr>
                        <a:t>party of the show's own Kettering listeners</a:t>
                      </a:r>
                    </a:p>
                  </a:txBody>
                  <a:tcPr marL="73152" marR="73152" marT="27432" marB="27432">
                    <a:solidFill>
                      <a:srgbClr val="F1F3F5"/>
                    </a:solidFill>
                  </a:tcPr>
                </a:tc>
                <a:tc>
                  <a:txBody>
                    <a:bodyPr wrap="square"/>
                    <a:lstStyle/>
                    <a:p>
                      <a:pPr algn="r"/>
                      <a:r>
                        <a:rPr sz="1300" b="0">
                          <a:solidFill>
                            <a:srgbClr val="14171C"/>
                          </a:solidFill>
                          <a:latin typeface="Calibri"/>
                        </a:rPr>
                        <a:t>22 shows / 494 listeners</a:t>
                      </a:r>
                    </a:p>
                  </a:txBody>
                  <a:tcPr marL="73152" marR="73152" marT="27432" marB="27432">
                    <a:solidFill>
                      <a:srgbClr val="F1F3F5"/>
                    </a:solidFill>
                  </a:tcPr>
                </a:tc>
                <a:tc>
                  <a:txBody>
                    <a:bodyPr wrap="square"/>
                    <a:lstStyle/>
                    <a:p>
                      <a:pPr algn="r"/>
                      <a:r>
                        <a:rPr sz="1300" b="1">
                          <a:solidFill>
                            <a:srgbClr val="7A2E2E"/>
                          </a:solidFill>
                          <a:latin typeface="Calibri"/>
                        </a:rPr>
                        <a:t>r = +0.91 [0.77, 0.98]</a:t>
                      </a:r>
                    </a:p>
                  </a:txBody>
                  <a:tcPr marL="73152" marR="73152" marT="27432" marB="27432">
                    <a:solidFill>
                      <a:srgbClr val="F1F3F5"/>
                    </a:solidFill>
                  </a:tcPr>
                </a:tc>
              </a:tr>
            </a:tbl>
          </a:graphicData>
        </a:graphic>
      </p:graphicFrame>
      <p:sp>
        <p:nvSpPr>
          <p:cNvPr id="8" name="TextBox 7"/>
          <p:cNvSpPr txBox="1"/>
          <p:nvPr/>
        </p:nvSpPr>
        <p:spPr>
          <a:xfrm>
            <a:off x="8595360" y="2011680"/>
            <a:ext cx="2926080" cy="3200400"/>
          </a:xfrm>
          <a:prstGeom prst="rect">
            <a:avLst/>
          </a:prstGeom>
          <a:noFill/>
        </p:spPr>
        <p:txBody>
          <a:bodyPr wrap="square" anchor="t" lIns="0" rIns="0" tIns="0" bIns="0">
            <a:spAutoFit/>
          </a:bodyPr>
          <a:lstStyle/>
          <a:p>
            <a:pPr algn="l">
              <a:lnSpc>
                <a:spcPct val="115000"/>
              </a:lnSpc>
              <a:spcAft>
                <a:spcPts val="1000"/>
              </a:spcAft>
            </a:pPr>
            <a:r>
              <a:rPr sz="4000" b="0" i="0">
                <a:solidFill>
                  <a:srgbClr val="3E5266"/>
                </a:solidFill>
                <a:latin typeface="Georgia"/>
              </a:rPr>
              <a:t>21 of 22</a:t>
            </a:r>
          </a:p>
          <a:p>
            <a:pPr algn="l">
              <a:lnSpc>
                <a:spcPct val="115000"/>
              </a:lnSpc>
              <a:spcAft>
                <a:spcPts val="1000"/>
              </a:spcAft>
            </a:pPr>
            <a:r>
              <a:rPr sz="1300" b="0" i="0">
                <a:solidFill>
                  <a:srgbClr val="434A55"/>
                </a:solidFill>
                <a:latin typeface="Calibri"/>
              </a:rPr>
              <a:t>shows whose label predicts the majority party of their own listeners</a:t>
            </a:r>
          </a:p>
          <a:p>
            <a:pPr algn="l">
              <a:lnSpc>
                <a:spcPct val="115000"/>
              </a:lnSpc>
              <a:spcAft>
                <a:spcPts val="1000"/>
              </a:spcAft>
            </a:pPr>
            <a:r>
              <a:rPr sz="1300" b="0" i="0">
                <a:solidFill>
                  <a:srgbClr val="434A55"/>
                </a:solidFill>
                <a:latin typeface="Calibri"/>
              </a:rPr>
              <a:t>Left-labelled shows average 76% Democratic audiences; right-labelled 91% Republican.</a:t>
            </a:r>
          </a:p>
        </p:txBody>
      </p:sp>
      <p:sp>
        <p:nvSpPr>
          <p:cNvPr id="9" name="TextBox 8"/>
          <p:cNvSpPr txBox="1"/>
          <p:nvPr/>
        </p:nvSpPr>
        <p:spPr>
          <a:xfrm>
            <a:off x="731520" y="4480560"/>
            <a:ext cx="10515600" cy="914400"/>
          </a:xfrm>
          <a:prstGeom prst="rect">
            <a:avLst/>
          </a:prstGeom>
          <a:noFill/>
        </p:spPr>
        <p:txBody>
          <a:bodyPr wrap="square" anchor="t" lIns="0" rIns="0" tIns="0" bIns="0">
            <a:spAutoFit/>
          </a:bodyPr>
          <a:lstStyle/>
          <a:p>
            <a:pPr algn="l">
              <a:lnSpc>
                <a:spcPct val="115000"/>
              </a:lnSpc>
              <a:spcAft>
                <a:spcPts val="600"/>
              </a:spcAft>
            </a:pPr>
            <a:r>
              <a:rPr sz="1500" b="0" i="0">
                <a:solidFill>
                  <a:srgbClr val="434A55"/>
                </a:solidFill>
                <a:latin typeface="Calibri"/>
              </a:rPr>
              <a:t>Text, money and listeners agree. This validates show labels; a 200-passage two-coder check of passage labels precedes submission.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1F3F5"/>
        </a:solidFill>
        <a:effectLst/>
      </p:bgPr>
    </p:bg>
    <p:spTree>
      <p:nvGrpSpPr>
        <p:cNvPr id="1" name=""/>
        <p:cNvGrpSpPr/>
        <p:nvPr/>
      </p:nvGrpSpPr>
      <p:grpSpPr/>
      <p:sp>
        <p:nvSpPr>
          <p:cNvPr id="2" name="TextBox 1"/>
          <p:cNvSpPr txBox="1"/>
          <p:nvPr/>
        </p:nvSpPr>
        <p:spPr>
          <a:xfrm>
            <a:off x="731520" y="6400800"/>
            <a:ext cx="8229600" cy="274320"/>
          </a:xfrm>
          <a:prstGeom prst="rect">
            <a:avLst/>
          </a:prstGeom>
          <a:noFill/>
        </p:spPr>
        <p:txBody>
          <a:bodyPr wrap="square" anchor="t" lIns="0" rIns="0" tIns="0" bIns="0">
            <a:spAutoFit/>
          </a:bodyPr>
          <a:lstStyle/>
          <a:p>
            <a:pPr algn="l">
              <a:lnSpc>
                <a:spcPct val="115000"/>
              </a:lnSpc>
              <a:spcAft>
                <a:spcPts val="600"/>
              </a:spcAft>
            </a:pPr>
            <a:r>
              <a:rPr sz="1000" b="0" i="0">
                <a:solidFill>
                  <a:srgbClr val="737B87"/>
                </a:solidFill>
                <a:latin typeface="Calibri"/>
              </a:rPr>
              <a:t>Talking at the Audience  ·  Yang &amp; Alvarez  ·  Linde Center, Caltech</a:t>
            </a:r>
          </a:p>
        </p:txBody>
      </p:sp>
      <p:sp>
        <p:nvSpPr>
          <p:cNvPr id="3" name="TextBox 2"/>
          <p:cNvSpPr txBox="1"/>
          <p:nvPr/>
        </p:nvSpPr>
        <p:spPr>
          <a:xfrm>
            <a:off x="10545775" y="6400800"/>
            <a:ext cx="914400" cy="274320"/>
          </a:xfrm>
          <a:prstGeom prst="rect">
            <a:avLst/>
          </a:prstGeom>
          <a:noFill/>
        </p:spPr>
        <p:txBody>
          <a:bodyPr wrap="square" anchor="t" lIns="0" rIns="0" tIns="0" bIns="0">
            <a:spAutoFit/>
          </a:bodyPr>
          <a:lstStyle/>
          <a:p>
            <a:pPr algn="r">
              <a:lnSpc>
                <a:spcPct val="115000"/>
              </a:lnSpc>
              <a:spcAft>
                <a:spcPts val="600"/>
              </a:spcAft>
            </a:pPr>
            <a:r>
              <a:rPr sz="1000" b="0" i="0">
                <a:solidFill>
                  <a:srgbClr val="737B87"/>
                </a:solidFill>
                <a:latin typeface="Calibri"/>
              </a:rPr>
              <a:t>9</a:t>
            </a:r>
          </a:p>
        </p:txBody>
      </p:sp>
      <p:sp>
        <p:nvSpPr>
          <p:cNvPr id="4" name="TextBox 3"/>
          <p:cNvSpPr txBox="1"/>
          <p:nvPr/>
        </p:nvSpPr>
        <p:spPr>
          <a:xfrm>
            <a:off x="731520" y="411480"/>
            <a:ext cx="7315200" cy="274320"/>
          </a:xfrm>
          <a:prstGeom prst="rect">
            <a:avLst/>
          </a:prstGeom>
          <a:noFill/>
        </p:spPr>
        <p:txBody>
          <a:bodyPr wrap="square" anchor="t" lIns="0" rIns="0" tIns="0" bIns="0">
            <a:spAutoFit/>
          </a:bodyPr>
          <a:lstStyle/>
          <a:p>
            <a:pPr algn="l">
              <a:lnSpc>
                <a:spcPct val="115000"/>
              </a:lnSpc>
              <a:spcAft>
                <a:spcPts val="600"/>
              </a:spcAft>
            </a:pPr>
            <a:r>
              <a:rPr sz="1100" b="1" i="0">
                <a:solidFill>
                  <a:srgbClr val="7A2E2E"/>
                </a:solidFill>
                <a:latin typeface="Calibri"/>
              </a:rPr>
              <a:t>METHODS</a:t>
            </a:r>
          </a:p>
        </p:txBody>
      </p:sp>
      <p:sp>
        <p:nvSpPr>
          <p:cNvPr id="5" name="TextBox 4"/>
          <p:cNvSpPr txBox="1"/>
          <p:nvPr/>
        </p:nvSpPr>
        <p:spPr>
          <a:xfrm>
            <a:off x="731520" y="731520"/>
            <a:ext cx="10728655" cy="1097280"/>
          </a:xfrm>
          <a:prstGeom prst="rect">
            <a:avLst/>
          </a:prstGeom>
          <a:noFill/>
        </p:spPr>
        <p:txBody>
          <a:bodyPr wrap="square" anchor="t" lIns="0" rIns="0" tIns="0" bIns="0">
            <a:spAutoFit/>
          </a:bodyPr>
          <a:lstStyle/>
          <a:p>
            <a:pPr algn="l">
              <a:lnSpc>
                <a:spcPct val="105000"/>
              </a:lnSpc>
              <a:spcAft>
                <a:spcPts val="600"/>
              </a:spcAft>
            </a:pPr>
            <a:r>
              <a:rPr sz="3400" b="0" i="0">
                <a:solidFill>
                  <a:srgbClr val="14171C"/>
                </a:solidFill>
                <a:latin typeface="Georgia"/>
              </a:rPr>
              <a:t>Inference built for few, unequal clusters</a:t>
            </a:r>
          </a:p>
        </p:txBody>
      </p:sp>
      <p:sp>
        <p:nvSpPr>
          <p:cNvPr id="6" name="Rectangle 5"/>
          <p:cNvSpPr/>
          <p:nvPr/>
        </p:nvSpPr>
        <p:spPr>
          <a:xfrm>
            <a:off x="731520" y="1417320"/>
            <a:ext cx="822960" cy="28000"/>
          </a:xfrm>
          <a:prstGeom prst="rect">
            <a:avLst/>
          </a:prstGeom>
          <a:solidFill>
            <a:srgbClr val="7A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011680"/>
            <a:ext cx="10698480" cy="4114800"/>
          </a:xfrm>
          <a:prstGeom prst="rect">
            <a:avLst/>
          </a:prstGeom>
          <a:noFill/>
        </p:spPr>
        <p:txBody>
          <a:bodyPr wrap="square" lIns="0" rIns="0" tIns="0" bIns="0">
            <a:spAutoFit/>
          </a:bodyPr>
          <a:lstStyle/>
          <a:p>
            <a:pPr>
              <a:lnSpc>
                <a:spcPct val="112000"/>
              </a:lnSpc>
              <a:spcAft>
                <a:spcPts val="1200"/>
              </a:spcAft>
            </a:pPr>
            <a:r>
              <a:rPr sz="1500">
                <a:solidFill>
                  <a:srgbClr val="7A2E2E"/>
                </a:solidFill>
                <a:latin typeface="Calibri"/>
              </a:rPr>
              <a:t>•  </a:t>
            </a:r>
            <a:r>
              <a:rPr sz="1500" b="1" i="0">
                <a:solidFill>
                  <a:srgbClr val="14171C"/>
                </a:solidFill>
                <a:latin typeface="Calibri"/>
              </a:rPr>
              <a:t>Between-show register differences: </a:t>
            </a:r>
            <a:r>
              <a:rPr sz="1500" b="0" i="0">
                <a:solidFill>
                  <a:srgbClr val="14171C"/>
                </a:solidFill>
                <a:latin typeface="Calibri"/>
              </a:rPr>
              <a:t>show-level permutation tests, Benjamini–Hochberg across measure families, format and ad controls, a discriminant null (filler ‘you know’), and equivalence (TOST) tests for the nulls.</a:t>
            </a:r>
          </a:p>
          <a:p>
            <a:pPr>
              <a:lnSpc>
                <a:spcPct val="112000"/>
              </a:lnSpc>
              <a:spcAft>
                <a:spcPts val="1200"/>
              </a:spcAft>
            </a:pPr>
            <a:r>
              <a:rPr sz="1500">
                <a:solidFill>
                  <a:srgbClr val="7A2E2E"/>
                </a:solidFill>
                <a:latin typeface="Calibri"/>
              </a:rPr>
              <a:t>•  </a:t>
            </a:r>
            <a:r>
              <a:rPr sz="1500" b="1" i="0">
                <a:solidFill>
                  <a:srgbClr val="14171C"/>
                </a:solidFill>
                <a:latin typeface="Calibri"/>
              </a:rPr>
              <a:t>Population survey estimates: </a:t>
            </a:r>
            <a:r>
              <a:rPr sz="1500" b="0" i="0">
                <a:solidFill>
                  <a:srgbClr val="14171C"/>
                </a:solidFill>
                <a:latin typeface="Calibri"/>
              </a:rPr>
              <a:t>weighted OLS with robust SEs, full control ladder (party, attention, age, education, gender, race, income, social-media use, platforms, urbanicity, mode, number of sources), within-party and within-education re-estimation.</a:t>
            </a:r>
          </a:p>
          <a:p>
            <a:pPr>
              <a:lnSpc>
                <a:spcPct val="112000"/>
              </a:lnSpc>
              <a:spcAft>
                <a:spcPts val="1200"/>
              </a:spcAft>
            </a:pPr>
            <a:r>
              <a:rPr sz="1500">
                <a:solidFill>
                  <a:srgbClr val="7A2E2E"/>
                </a:solidFill>
                <a:latin typeface="Calibri"/>
              </a:rPr>
              <a:t>•  </a:t>
            </a:r>
            <a:r>
              <a:rPr sz="1500" b="1" i="0">
                <a:solidFill>
                  <a:srgbClr val="14171C"/>
                </a:solidFill>
                <a:latin typeface="Calibri"/>
              </a:rPr>
              <a:t>Show-linked audience estimates: </a:t>
            </a:r>
            <a:r>
              <a:rPr sz="1500" b="0" i="0">
                <a:solidFill>
                  <a:srgbClr val="14171C"/>
                </a:solidFill>
                <a:latin typeface="Calibri"/>
              </a:rPr>
              <a:t>exposure is assigned by show and a few shows hold most listeners, so conventional clustered SEs are anti-conservative. Every estimate reports CR2 (Bell–McCaffrey) with Satterthwaite df as the primary p and a wild cluster bootstrap alongside; the df (≈ 9 on the full frame) is the honest cluster count.</a:t>
            </a:r>
          </a:p>
          <a:p>
            <a:pPr>
              <a:lnSpc>
                <a:spcPct val="112000"/>
              </a:lnSpc>
              <a:spcAft>
                <a:spcPts val="1200"/>
              </a:spcAft>
            </a:pPr>
            <a:r>
              <a:rPr sz="1500">
                <a:solidFill>
                  <a:srgbClr val="7A2E2E"/>
                </a:solidFill>
                <a:latin typeface="Calibri"/>
              </a:rPr>
              <a:t>•  </a:t>
            </a:r>
            <a:r>
              <a:rPr sz="1500" b="1" i="0">
                <a:solidFill>
                  <a:srgbClr val="14171C"/>
                </a:solidFill>
                <a:latin typeface="Calibri"/>
              </a:rPr>
              <a:t>Pre-registration: </a:t>
            </a:r>
            <a:r>
              <a:rPr sz="1500" b="0" i="0">
                <a:solidFill>
                  <a:srgbClr val="14171C"/>
                </a:solidFill>
                <a:latin typeface="Calibri"/>
              </a:rPr>
              <a:t>the out-of-frame test was frozen and hashed before any audio was fetched — hypothesis, alias table, outcome, model, inference, failure criterion.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731520" y="6400800"/>
            <a:ext cx="8229600" cy="274320"/>
          </a:xfrm>
          <a:prstGeom prst="rect">
            <a:avLst/>
          </a:prstGeom>
          <a:noFill/>
        </p:spPr>
        <p:txBody>
          <a:bodyPr wrap="square" anchor="t" lIns="0" rIns="0" tIns="0" bIns="0">
            <a:spAutoFit/>
          </a:bodyPr>
          <a:lstStyle/>
          <a:p>
            <a:pPr algn="l">
              <a:lnSpc>
                <a:spcPct val="115000"/>
              </a:lnSpc>
              <a:spcAft>
                <a:spcPts val="600"/>
              </a:spcAft>
            </a:pPr>
            <a:r>
              <a:rPr sz="1000" b="0" i="0">
                <a:solidFill>
                  <a:srgbClr val="737B87"/>
                </a:solidFill>
                <a:latin typeface="Calibri"/>
              </a:rPr>
              <a:t>Talking at the Audience  ·  Yang &amp; Alvarez  ·  Linde Center, Caltech</a:t>
            </a:r>
          </a:p>
        </p:txBody>
      </p:sp>
      <p:sp>
        <p:nvSpPr>
          <p:cNvPr id="3" name="TextBox 2"/>
          <p:cNvSpPr txBox="1"/>
          <p:nvPr/>
        </p:nvSpPr>
        <p:spPr>
          <a:xfrm>
            <a:off x="10545775" y="6400800"/>
            <a:ext cx="914400" cy="274320"/>
          </a:xfrm>
          <a:prstGeom prst="rect">
            <a:avLst/>
          </a:prstGeom>
          <a:noFill/>
        </p:spPr>
        <p:txBody>
          <a:bodyPr wrap="square" anchor="t" lIns="0" rIns="0" tIns="0" bIns="0">
            <a:spAutoFit/>
          </a:bodyPr>
          <a:lstStyle/>
          <a:p>
            <a:pPr algn="r">
              <a:lnSpc>
                <a:spcPct val="115000"/>
              </a:lnSpc>
              <a:spcAft>
                <a:spcPts val="600"/>
              </a:spcAft>
            </a:pPr>
            <a:r>
              <a:rPr sz="1000" b="0" i="0">
                <a:solidFill>
                  <a:srgbClr val="737B87"/>
                </a:solidFill>
                <a:latin typeface="Calibri"/>
              </a:rPr>
              <a:t>10</a:t>
            </a:r>
          </a:p>
        </p:txBody>
      </p:sp>
      <p:sp>
        <p:nvSpPr>
          <p:cNvPr id="4" name="TextBox 3"/>
          <p:cNvSpPr txBox="1"/>
          <p:nvPr/>
        </p:nvSpPr>
        <p:spPr>
          <a:xfrm>
            <a:off x="731520" y="411480"/>
            <a:ext cx="7315200" cy="274320"/>
          </a:xfrm>
          <a:prstGeom prst="rect">
            <a:avLst/>
          </a:prstGeom>
          <a:noFill/>
        </p:spPr>
        <p:txBody>
          <a:bodyPr wrap="square" anchor="t" lIns="0" rIns="0" tIns="0" bIns="0">
            <a:spAutoFit/>
          </a:bodyPr>
          <a:lstStyle/>
          <a:p>
            <a:pPr algn="l">
              <a:lnSpc>
                <a:spcPct val="115000"/>
              </a:lnSpc>
              <a:spcAft>
                <a:spcPts val="600"/>
              </a:spcAft>
            </a:pPr>
            <a:r>
              <a:rPr sz="1100" b="1" i="0">
                <a:solidFill>
                  <a:srgbClr val="CF7272"/>
                </a:solidFill>
                <a:latin typeface="Calibri"/>
              </a:rPr>
              <a:t>RESULTS</a:t>
            </a:r>
          </a:p>
        </p:txBody>
      </p:sp>
      <p:sp>
        <p:nvSpPr>
          <p:cNvPr id="5" name="TextBox 4"/>
          <p:cNvSpPr txBox="1"/>
          <p:nvPr/>
        </p:nvSpPr>
        <p:spPr>
          <a:xfrm>
            <a:off x="731520" y="731520"/>
            <a:ext cx="10728655" cy="1097280"/>
          </a:xfrm>
          <a:prstGeom prst="rect">
            <a:avLst/>
          </a:prstGeom>
          <a:noFill/>
        </p:spPr>
        <p:txBody>
          <a:bodyPr wrap="square" anchor="t" lIns="0" rIns="0" tIns="0" bIns="0">
            <a:spAutoFit/>
          </a:bodyPr>
          <a:lstStyle/>
          <a:p>
            <a:pPr algn="l">
              <a:lnSpc>
                <a:spcPct val="105000"/>
              </a:lnSpc>
              <a:spcAft>
                <a:spcPts val="600"/>
              </a:spcAft>
            </a:pPr>
            <a:r>
              <a:rPr sz="3000" b="0" i="0">
                <a:solidFill>
                  <a:srgbClr val="E7E9EC"/>
                </a:solidFill>
                <a:latin typeface="Georgia"/>
              </a:rPr>
              <a:t>Finding 1 — Left and right differ in mode of address, not hostility</a:t>
            </a:r>
          </a:p>
        </p:txBody>
      </p:sp>
      <p:sp>
        <p:nvSpPr>
          <p:cNvPr id="6" name="Rectangle 5"/>
          <p:cNvSpPr/>
          <p:nvPr/>
        </p:nvSpPr>
        <p:spPr>
          <a:xfrm>
            <a:off x="731520" y="1874520"/>
            <a:ext cx="822960" cy="28000"/>
          </a:xfrm>
          <a:prstGeom prst="rect">
            <a:avLst/>
          </a:prstGeom>
          <a:solidFill>
            <a:srgbClr val="CF72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31520" y="2148840"/>
          <a:ext cx="6766560" cy="3566160"/>
        </p:xfrm>
        <a:graphic>
          <a:graphicData uri="http://schemas.openxmlformats.org/drawingml/2006/chart">
            <c:chart xmlns:c="http://schemas.openxmlformats.org/drawingml/2006/chart" r:id="rId2"/>
          </a:graphicData>
        </a:graphic>
      </p:graphicFrame>
      <p:sp>
        <p:nvSpPr>
          <p:cNvPr id="8" name="TextBox 7"/>
          <p:cNvSpPr txBox="1"/>
          <p:nvPr/>
        </p:nvSpPr>
        <p:spPr>
          <a:xfrm>
            <a:off x="731520" y="5760720"/>
            <a:ext cx="6766560" cy="365760"/>
          </a:xfrm>
          <a:prstGeom prst="rect">
            <a:avLst/>
          </a:prstGeom>
          <a:noFill/>
        </p:spPr>
        <p:txBody>
          <a:bodyPr wrap="square" anchor="t" lIns="0" rIns="0" tIns="0" bIns="0">
            <a:spAutoFit/>
          </a:bodyPr>
          <a:lstStyle/>
          <a:p>
            <a:pPr algn="l">
              <a:lnSpc>
                <a:spcPct val="115000"/>
              </a:lnSpc>
              <a:spcAft>
                <a:spcPts val="600"/>
              </a:spcAft>
            </a:pPr>
            <a:r>
              <a:rPr sz="1100" b="0" i="0">
                <a:solidFill>
                  <a:srgbClr val="B2B8C1"/>
                </a:solidFill>
                <a:latin typeface="Calibri"/>
              </a:rPr>
              <a:t>Pearson r between each show-level register measure and the host's DIME contribution score. Grey bars: not significant.</a:t>
            </a:r>
          </a:p>
        </p:txBody>
      </p:sp>
      <p:sp>
        <p:nvSpPr>
          <p:cNvPr id="9" name="Rectangle 8"/>
          <p:cNvSpPr/>
          <p:nvPr/>
        </p:nvSpPr>
        <p:spPr>
          <a:xfrm>
            <a:off x="7863840" y="2148840"/>
            <a:ext cx="3657600" cy="3840480"/>
          </a:xfrm>
          <a:prstGeom prst="rect">
            <a:avLst/>
          </a:prstGeom>
          <a:solidFill>
            <a:srgbClr val="1B1F25"/>
          </a:solidFill>
          <a:ln w="9525">
            <a:solidFill>
              <a:srgbClr val="2C32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0" y="2331720"/>
            <a:ext cx="3200400" cy="3566160"/>
          </a:xfrm>
          <a:prstGeom prst="rect">
            <a:avLst/>
          </a:prstGeom>
          <a:noFill/>
        </p:spPr>
        <p:txBody>
          <a:bodyPr wrap="square" anchor="t" lIns="0" rIns="0" tIns="0" bIns="0">
            <a:spAutoFit/>
          </a:bodyPr>
          <a:lstStyle/>
          <a:p>
            <a:pPr algn="l">
              <a:lnSpc>
                <a:spcPct val="115000"/>
              </a:lnSpc>
              <a:spcAft>
                <a:spcPts val="800"/>
              </a:spcAft>
            </a:pPr>
            <a:r>
              <a:rPr sz="4000" b="0" i="0">
                <a:solidFill>
                  <a:srgbClr val="CF7272"/>
                </a:solidFill>
                <a:latin typeface="Georgia"/>
              </a:rPr>
              <a:t>d = 0.78</a:t>
            </a:r>
          </a:p>
          <a:p>
            <a:pPr algn="l">
              <a:lnSpc>
                <a:spcPct val="115000"/>
              </a:lnSpc>
              <a:spcAft>
                <a:spcPts val="800"/>
              </a:spcAft>
            </a:pPr>
            <a:r>
              <a:rPr sz="1300" b="0" i="0">
                <a:solidFill>
                  <a:srgbClr val="B2B8C1"/>
                </a:solidFill>
                <a:latin typeface="Calibri"/>
              </a:rPr>
              <a:t>right vs left shows on listener-directed address, format-controlled (p &lt; .0001)</a:t>
            </a:r>
          </a:p>
          <a:p>
            <a:pPr algn="l">
              <a:lnSpc>
                <a:spcPct val="115000"/>
              </a:lnSpc>
              <a:spcAft>
                <a:spcPts val="800"/>
              </a:spcAft>
            </a:pPr>
            <a:r>
              <a:rPr sz="2400" b="0" i="0">
                <a:solidFill>
                  <a:srgbClr val="E7E9EC"/>
                </a:solidFill>
                <a:latin typeface="Georgia"/>
              </a:rPr>
              <a:t>Insult: r = 0.00</a:t>
            </a:r>
          </a:p>
          <a:p>
            <a:pPr algn="l">
              <a:lnSpc>
                <a:spcPct val="115000"/>
              </a:lnSpc>
              <a:spcAft>
                <a:spcPts val="800"/>
              </a:spcAft>
            </a:pPr>
            <a:r>
              <a:rPr sz="1300" b="0" i="0">
                <a:solidFill>
                  <a:srgbClr val="B2B8C1"/>
                </a:solidFill>
                <a:latin typeface="Calibri"/>
              </a:rPr>
              <a:t>tracks ideological intensity (r = +0.55), not direction</a:t>
            </a:r>
          </a:p>
          <a:p>
            <a:pPr algn="l">
              <a:lnSpc>
                <a:spcPct val="115000"/>
              </a:lnSpc>
              <a:spcAft>
                <a:spcPts val="800"/>
              </a:spcAft>
            </a:pPr>
            <a:r>
              <a:rPr sz="2400" b="0" i="0">
                <a:solidFill>
                  <a:srgbClr val="E7E9EC"/>
                </a:solidFill>
                <a:latin typeface="Georgia"/>
              </a:rPr>
              <a:t>AUC 0.80 / 0.57</a:t>
            </a:r>
          </a:p>
          <a:p>
            <a:pPr algn="l">
              <a:lnSpc>
                <a:spcPct val="115000"/>
              </a:lnSpc>
              <a:spcAft>
                <a:spcPts val="800"/>
              </a:spcAft>
            </a:pPr>
            <a:r>
              <a:rPr sz="1300" b="0" i="0">
                <a:solidFill>
                  <a:srgbClr val="B2B8C1"/>
                </a:solidFill>
                <a:latin typeface="Calibri"/>
              </a:rPr>
              <a:t>a register classifier separates left from right between shows, barely within them: register is a property of the show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1F3F5"/>
        </a:solidFill>
        <a:effectLst/>
      </p:bgPr>
    </p:bg>
    <p:spTree>
      <p:nvGrpSpPr>
        <p:cNvPr id="1" name=""/>
        <p:cNvGrpSpPr/>
        <p:nvPr/>
      </p:nvGrpSpPr>
      <p:grpSpPr/>
      <p:sp>
        <p:nvSpPr>
          <p:cNvPr id="2" name="TextBox 1"/>
          <p:cNvSpPr txBox="1"/>
          <p:nvPr/>
        </p:nvSpPr>
        <p:spPr>
          <a:xfrm>
            <a:off x="731520" y="6400800"/>
            <a:ext cx="8229600" cy="274320"/>
          </a:xfrm>
          <a:prstGeom prst="rect">
            <a:avLst/>
          </a:prstGeom>
          <a:noFill/>
        </p:spPr>
        <p:txBody>
          <a:bodyPr wrap="square" anchor="t" lIns="0" rIns="0" tIns="0" bIns="0">
            <a:spAutoFit/>
          </a:bodyPr>
          <a:lstStyle/>
          <a:p>
            <a:pPr algn="l">
              <a:lnSpc>
                <a:spcPct val="115000"/>
              </a:lnSpc>
              <a:spcAft>
                <a:spcPts val="600"/>
              </a:spcAft>
            </a:pPr>
            <a:r>
              <a:rPr sz="1000" b="0" i="0">
                <a:solidFill>
                  <a:srgbClr val="737B87"/>
                </a:solidFill>
                <a:latin typeface="Calibri"/>
              </a:rPr>
              <a:t>Talking at the Audience  ·  Yang &amp; Alvarez  ·  Linde Center, Caltech</a:t>
            </a:r>
          </a:p>
        </p:txBody>
      </p:sp>
      <p:sp>
        <p:nvSpPr>
          <p:cNvPr id="3" name="TextBox 2"/>
          <p:cNvSpPr txBox="1"/>
          <p:nvPr/>
        </p:nvSpPr>
        <p:spPr>
          <a:xfrm>
            <a:off x="10545775" y="6400800"/>
            <a:ext cx="914400" cy="274320"/>
          </a:xfrm>
          <a:prstGeom prst="rect">
            <a:avLst/>
          </a:prstGeom>
          <a:noFill/>
        </p:spPr>
        <p:txBody>
          <a:bodyPr wrap="square" anchor="t" lIns="0" rIns="0" tIns="0" bIns="0">
            <a:spAutoFit/>
          </a:bodyPr>
          <a:lstStyle/>
          <a:p>
            <a:pPr algn="r">
              <a:lnSpc>
                <a:spcPct val="115000"/>
              </a:lnSpc>
              <a:spcAft>
                <a:spcPts val="600"/>
              </a:spcAft>
            </a:pPr>
            <a:r>
              <a:rPr sz="1000" b="0" i="0">
                <a:solidFill>
                  <a:srgbClr val="737B87"/>
                </a:solidFill>
                <a:latin typeface="Calibri"/>
              </a:rPr>
              <a:t>11</a:t>
            </a:r>
          </a:p>
        </p:txBody>
      </p:sp>
      <p:sp>
        <p:nvSpPr>
          <p:cNvPr id="4" name="TextBox 3"/>
          <p:cNvSpPr txBox="1"/>
          <p:nvPr/>
        </p:nvSpPr>
        <p:spPr>
          <a:xfrm>
            <a:off x="731520" y="411480"/>
            <a:ext cx="7315200" cy="274320"/>
          </a:xfrm>
          <a:prstGeom prst="rect">
            <a:avLst/>
          </a:prstGeom>
          <a:noFill/>
        </p:spPr>
        <p:txBody>
          <a:bodyPr wrap="square" anchor="t" lIns="0" rIns="0" tIns="0" bIns="0">
            <a:spAutoFit/>
          </a:bodyPr>
          <a:lstStyle/>
          <a:p>
            <a:pPr algn="l">
              <a:lnSpc>
                <a:spcPct val="115000"/>
              </a:lnSpc>
              <a:spcAft>
                <a:spcPts val="600"/>
              </a:spcAft>
            </a:pPr>
            <a:r>
              <a:rPr sz="1100" b="1" i="0">
                <a:solidFill>
                  <a:srgbClr val="7A2E2E"/>
                </a:solidFill>
                <a:latin typeface="Calibri"/>
              </a:rPr>
              <a:t>RESULTS</a:t>
            </a:r>
          </a:p>
        </p:txBody>
      </p:sp>
      <p:sp>
        <p:nvSpPr>
          <p:cNvPr id="5" name="TextBox 4"/>
          <p:cNvSpPr txBox="1"/>
          <p:nvPr/>
        </p:nvSpPr>
        <p:spPr>
          <a:xfrm>
            <a:off x="731520" y="731520"/>
            <a:ext cx="10728655" cy="1097280"/>
          </a:xfrm>
          <a:prstGeom prst="rect">
            <a:avLst/>
          </a:prstGeom>
          <a:noFill/>
        </p:spPr>
        <p:txBody>
          <a:bodyPr wrap="square" anchor="t" lIns="0" rIns="0" tIns="0" bIns="0">
            <a:spAutoFit/>
          </a:bodyPr>
          <a:lstStyle/>
          <a:p>
            <a:pPr algn="l">
              <a:lnSpc>
                <a:spcPct val="105000"/>
              </a:lnSpc>
              <a:spcAft>
                <a:spcPts val="600"/>
              </a:spcAft>
            </a:pPr>
            <a:r>
              <a:rPr sz="3000" b="0" i="0">
                <a:solidFill>
                  <a:srgbClr val="14171C"/>
                </a:solidFill>
                <a:latin typeface="Georgia"/>
              </a:rPr>
              <a:t>Finding 1, continued — It is how they talk, not what is happening</a:t>
            </a:r>
          </a:p>
        </p:txBody>
      </p:sp>
      <p:sp>
        <p:nvSpPr>
          <p:cNvPr id="6" name="Rectangle 5"/>
          <p:cNvSpPr/>
          <p:nvPr/>
        </p:nvSpPr>
        <p:spPr>
          <a:xfrm>
            <a:off x="731520" y="1874520"/>
            <a:ext cx="822960" cy="28000"/>
          </a:xfrm>
          <a:prstGeom prst="rect">
            <a:avLst/>
          </a:prstGeom>
          <a:solidFill>
            <a:srgbClr val="7A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011680"/>
            <a:ext cx="5943600" cy="3840480"/>
          </a:xfrm>
          <a:prstGeom prst="rect">
            <a:avLst/>
          </a:prstGeom>
          <a:noFill/>
        </p:spPr>
        <p:txBody>
          <a:bodyPr wrap="square" lIns="0" rIns="0" tIns="0" bIns="0">
            <a:spAutoFit/>
          </a:bodyPr>
          <a:lstStyle/>
          <a:p>
            <a:pPr>
              <a:lnSpc>
                <a:spcPct val="112000"/>
              </a:lnSpc>
              <a:spcAft>
                <a:spcPts val="800"/>
              </a:spcAft>
            </a:pPr>
            <a:r>
              <a:rPr sz="1600">
                <a:solidFill>
                  <a:srgbClr val="7A2E2E"/>
                </a:solidFill>
                <a:latin typeface="Calibri"/>
              </a:rPr>
              <a:t>•  </a:t>
            </a:r>
            <a:r>
              <a:rPr sz="1600" b="1" i="0">
                <a:solidFill>
                  <a:srgbClr val="14171C"/>
                </a:solidFill>
                <a:latin typeface="Calibri"/>
              </a:rPr>
              <a:t>Eight political shocks, 2020–2025: </a:t>
            </a:r>
            <a:r>
              <a:rPr sz="1600" b="0" i="0">
                <a:solidFill>
                  <a:srgbClr val="14171C"/>
                </a:solidFill>
                <a:latin typeface="Calibri"/>
              </a:rPr>
              <a:t>two general elections, a midterm, the inauguration, the assassination attempt, Biden’s withdrawal, January 6, Dobbs.</a:t>
            </a:r>
          </a:p>
          <a:p>
            <a:pPr>
              <a:lnSpc>
                <a:spcPct val="112000"/>
              </a:lnSpc>
              <a:spcAft>
                <a:spcPts val="800"/>
              </a:spcAft>
            </a:pPr>
            <a:r>
              <a:rPr sz="1600">
                <a:solidFill>
                  <a:srgbClr val="7A2E2E"/>
                </a:solidFill>
                <a:latin typeface="Calibri"/>
              </a:rPr>
              <a:t>•  </a:t>
            </a:r>
            <a:r>
              <a:rPr sz="1600" b="0" i="0">
                <a:solidFill>
                  <a:srgbClr val="14171C"/>
                </a:solidFill>
                <a:latin typeface="Calibri"/>
              </a:rPr>
              <a:t>Within-show event study: listener-directed address does not shift on either side (all |b| ≤ 0.08 SD).</a:t>
            </a:r>
          </a:p>
          <a:p>
            <a:pPr>
              <a:lnSpc>
                <a:spcPct val="112000"/>
              </a:lnSpc>
              <a:spcAft>
                <a:spcPts val="800"/>
              </a:spcAft>
            </a:pPr>
            <a:r>
              <a:rPr sz="1600">
                <a:solidFill>
                  <a:srgbClr val="7A2E2E"/>
                </a:solidFill>
                <a:latin typeface="Calibri"/>
              </a:rPr>
              <a:t>•  </a:t>
            </a:r>
            <a:r>
              <a:rPr sz="1600" b="0" i="0">
                <a:solidFill>
                  <a:srgbClr val="14171C"/>
                </a:solidFill>
                <a:latin typeface="Calibri"/>
              </a:rPr>
              <a:t>The 2024 election ‘shift’ is indistinguishable from 60 placebo dates (p = .57).</a:t>
            </a:r>
          </a:p>
          <a:p>
            <a:pPr>
              <a:lnSpc>
                <a:spcPct val="112000"/>
              </a:lnSpc>
              <a:spcAft>
                <a:spcPts val="800"/>
              </a:spcAft>
            </a:pPr>
            <a:r>
              <a:rPr sz="1600">
                <a:solidFill>
                  <a:srgbClr val="7A2E2E"/>
                </a:solidFill>
                <a:latin typeface="Calibri"/>
              </a:rPr>
              <a:t>•  </a:t>
            </a:r>
            <a:r>
              <a:rPr sz="1600" b="0" i="0">
                <a:solidFill>
                  <a:srgbClr val="14171C"/>
                </a:solidFill>
                <a:latin typeface="Calibri"/>
              </a:rPr>
              <a:t>Across a 75-topic model, within-show topic means spread only 0.04 SD; the most second-person passages are ad reads.</a:t>
            </a:r>
          </a:p>
          <a:p>
            <a:pPr>
              <a:lnSpc>
                <a:spcPct val="112000"/>
              </a:lnSpc>
              <a:spcAft>
                <a:spcPts val="800"/>
              </a:spcAft>
            </a:pPr>
            <a:r>
              <a:rPr sz="1600">
                <a:solidFill>
                  <a:srgbClr val="7A2E2E"/>
                </a:solidFill>
                <a:latin typeface="Calibri"/>
              </a:rPr>
              <a:t>•  </a:t>
            </a:r>
            <a:r>
              <a:rPr sz="1600" b="0" i="0">
                <a:solidFill>
                  <a:srgbClr val="14171C"/>
                </a:solidFill>
                <a:latin typeface="Calibri"/>
              </a:rPr>
              <a:t>Hosts do not ramp it up before elections and do not change it by subject. It is a trait of the host.</a:t>
            </a:r>
          </a:p>
        </p:txBody>
      </p:sp>
      <p:sp>
        <p:nvSpPr>
          <p:cNvPr id="8" name="Rectangle 7"/>
          <p:cNvSpPr/>
          <p:nvPr/>
        </p:nvSpPr>
        <p:spPr>
          <a:xfrm>
            <a:off x="7132320" y="2011680"/>
            <a:ext cx="4297680" cy="3291840"/>
          </a:xfrm>
          <a:prstGeom prst="rect">
            <a:avLst/>
          </a:prstGeom>
          <a:solidFill>
            <a:srgbClr val="FAFBFC"/>
          </a:solidFill>
          <a:ln w="9525">
            <a:solidFill>
              <a:srgbClr val="D6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0" y="2194560"/>
            <a:ext cx="3840480" cy="365760"/>
          </a:xfrm>
          <a:prstGeom prst="rect">
            <a:avLst/>
          </a:prstGeom>
          <a:noFill/>
        </p:spPr>
        <p:txBody>
          <a:bodyPr wrap="square" anchor="t" lIns="0" rIns="0" tIns="0" bIns="0">
            <a:spAutoFit/>
          </a:bodyPr>
          <a:lstStyle/>
          <a:p>
            <a:pPr algn="l">
              <a:lnSpc>
                <a:spcPct val="115000"/>
              </a:lnSpc>
              <a:spcAft>
                <a:spcPts val="600"/>
              </a:spcAft>
            </a:pPr>
            <a:r>
              <a:rPr sz="1100" b="1" i="0">
                <a:solidFill>
                  <a:srgbClr val="7A2E2E"/>
                </a:solidFill>
                <a:latin typeface="Calibri"/>
              </a:rPr>
              <a:t>WHY THIS MATTERS</a:t>
            </a:r>
          </a:p>
        </p:txBody>
      </p:sp>
      <p:sp>
        <p:nvSpPr>
          <p:cNvPr id="10" name="TextBox 9"/>
          <p:cNvSpPr txBox="1"/>
          <p:nvPr/>
        </p:nvSpPr>
        <p:spPr>
          <a:xfrm>
            <a:off x="7406640" y="2606040"/>
            <a:ext cx="3840480" cy="2651760"/>
          </a:xfrm>
          <a:prstGeom prst="rect">
            <a:avLst/>
          </a:prstGeom>
          <a:noFill/>
        </p:spPr>
        <p:txBody>
          <a:bodyPr wrap="square" anchor="t" lIns="0" rIns="0" tIns="0" bIns="0">
            <a:spAutoFit/>
          </a:bodyPr>
          <a:lstStyle/>
          <a:p>
            <a:pPr algn="l">
              <a:lnSpc>
                <a:spcPct val="115000"/>
              </a:lnSpc>
              <a:spcAft>
                <a:spcPts val="600"/>
              </a:spcAft>
            </a:pPr>
            <a:r>
              <a:rPr sz="1400" b="0" i="0">
                <a:solidFill>
                  <a:srgbClr val="434A55"/>
                </a:solidFill>
                <a:latin typeface="Calibri"/>
              </a:rPr>
              <a:t>If address were a reaction to the news cycle, it would be a poor candidate for a stable audience-selection mechanism. Because it is invariant to events and topics, a listener who chooses a show is choosing a mode of address that will be there every week.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731520" y="6400800"/>
            <a:ext cx="8229600" cy="274320"/>
          </a:xfrm>
          <a:prstGeom prst="rect">
            <a:avLst/>
          </a:prstGeom>
          <a:noFill/>
        </p:spPr>
        <p:txBody>
          <a:bodyPr wrap="square" anchor="t" lIns="0" rIns="0" tIns="0" bIns="0">
            <a:spAutoFit/>
          </a:bodyPr>
          <a:lstStyle/>
          <a:p>
            <a:pPr algn="l">
              <a:lnSpc>
                <a:spcPct val="115000"/>
              </a:lnSpc>
              <a:spcAft>
                <a:spcPts val="600"/>
              </a:spcAft>
            </a:pPr>
            <a:r>
              <a:rPr sz="1000" b="0" i="0">
                <a:solidFill>
                  <a:srgbClr val="737B87"/>
                </a:solidFill>
                <a:latin typeface="Calibri"/>
              </a:rPr>
              <a:t>Talking at the Audience  ·  Yang &amp; Alvarez  ·  Linde Center, Caltech</a:t>
            </a:r>
          </a:p>
        </p:txBody>
      </p:sp>
      <p:sp>
        <p:nvSpPr>
          <p:cNvPr id="3" name="TextBox 2"/>
          <p:cNvSpPr txBox="1"/>
          <p:nvPr/>
        </p:nvSpPr>
        <p:spPr>
          <a:xfrm>
            <a:off x="10545775" y="6400800"/>
            <a:ext cx="914400" cy="274320"/>
          </a:xfrm>
          <a:prstGeom prst="rect">
            <a:avLst/>
          </a:prstGeom>
          <a:noFill/>
        </p:spPr>
        <p:txBody>
          <a:bodyPr wrap="square" anchor="t" lIns="0" rIns="0" tIns="0" bIns="0">
            <a:spAutoFit/>
          </a:bodyPr>
          <a:lstStyle/>
          <a:p>
            <a:pPr algn="r">
              <a:lnSpc>
                <a:spcPct val="115000"/>
              </a:lnSpc>
              <a:spcAft>
                <a:spcPts val="600"/>
              </a:spcAft>
            </a:pPr>
            <a:r>
              <a:rPr sz="1000" b="0" i="0">
                <a:solidFill>
                  <a:srgbClr val="737B87"/>
                </a:solidFill>
                <a:latin typeface="Calibri"/>
              </a:rPr>
              <a:t>12</a:t>
            </a:r>
          </a:p>
        </p:txBody>
      </p:sp>
      <p:sp>
        <p:nvSpPr>
          <p:cNvPr id="4" name="TextBox 3"/>
          <p:cNvSpPr txBox="1"/>
          <p:nvPr/>
        </p:nvSpPr>
        <p:spPr>
          <a:xfrm>
            <a:off x="731520" y="411480"/>
            <a:ext cx="7315200" cy="274320"/>
          </a:xfrm>
          <a:prstGeom prst="rect">
            <a:avLst/>
          </a:prstGeom>
          <a:noFill/>
        </p:spPr>
        <p:txBody>
          <a:bodyPr wrap="square" anchor="t" lIns="0" rIns="0" tIns="0" bIns="0">
            <a:spAutoFit/>
          </a:bodyPr>
          <a:lstStyle/>
          <a:p>
            <a:pPr algn="l">
              <a:lnSpc>
                <a:spcPct val="115000"/>
              </a:lnSpc>
              <a:spcAft>
                <a:spcPts val="600"/>
              </a:spcAft>
            </a:pPr>
            <a:r>
              <a:rPr sz="1100" b="1" i="0">
                <a:solidFill>
                  <a:srgbClr val="CF7272"/>
                </a:solidFill>
                <a:latin typeface="Calibri"/>
              </a:rPr>
              <a:t>RESULTS</a:t>
            </a:r>
          </a:p>
        </p:txBody>
      </p:sp>
      <p:sp>
        <p:nvSpPr>
          <p:cNvPr id="5" name="TextBox 4"/>
          <p:cNvSpPr txBox="1"/>
          <p:nvPr/>
        </p:nvSpPr>
        <p:spPr>
          <a:xfrm>
            <a:off x="731520" y="731520"/>
            <a:ext cx="10728655" cy="1097280"/>
          </a:xfrm>
          <a:prstGeom prst="rect">
            <a:avLst/>
          </a:prstGeom>
          <a:noFill/>
        </p:spPr>
        <p:txBody>
          <a:bodyPr wrap="square" anchor="t" lIns="0" rIns="0" tIns="0" bIns="0">
            <a:spAutoFit/>
          </a:bodyPr>
          <a:lstStyle/>
          <a:p>
            <a:pPr algn="l">
              <a:lnSpc>
                <a:spcPct val="105000"/>
              </a:lnSpc>
              <a:spcAft>
                <a:spcPts val="600"/>
              </a:spcAft>
            </a:pPr>
            <a:r>
              <a:rPr sz="3000" b="0" i="0">
                <a:solidFill>
                  <a:srgbClr val="E7E9EC"/>
                </a:solidFill>
                <a:latin typeface="Georgia"/>
              </a:rPr>
              <a:t>Finding 2 — Podcast news diets go with institutional cynicism</a:t>
            </a:r>
          </a:p>
        </p:txBody>
      </p:sp>
      <p:sp>
        <p:nvSpPr>
          <p:cNvPr id="6" name="Rectangle 5"/>
          <p:cNvSpPr/>
          <p:nvPr/>
        </p:nvSpPr>
        <p:spPr>
          <a:xfrm>
            <a:off x="731520" y="1874520"/>
            <a:ext cx="822960" cy="28000"/>
          </a:xfrm>
          <a:prstGeom prst="rect">
            <a:avLst/>
          </a:prstGeom>
          <a:solidFill>
            <a:srgbClr val="CF72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31520" y="2148840"/>
          <a:ext cx="6949440" cy="3657600"/>
        </p:xfrm>
        <a:graphic>
          <a:graphicData uri="http://schemas.openxmlformats.org/drawingml/2006/chart">
            <c:chart xmlns:c="http://schemas.openxmlformats.org/drawingml/2006/chart" r:id="rId2"/>
          </a:graphicData>
        </a:graphic>
      </p:graphicFrame>
      <p:sp>
        <p:nvSpPr>
          <p:cNvPr id="8" name="TextBox 7"/>
          <p:cNvSpPr txBox="1"/>
          <p:nvPr/>
        </p:nvSpPr>
        <p:spPr>
          <a:xfrm>
            <a:off x="731520" y="5852160"/>
            <a:ext cx="6949440" cy="365760"/>
          </a:xfrm>
          <a:prstGeom prst="rect">
            <a:avLst/>
          </a:prstGeom>
          <a:noFill/>
        </p:spPr>
        <p:txBody>
          <a:bodyPr wrap="square" anchor="t" lIns="0" rIns="0" tIns="0" bIns="0">
            <a:spAutoFit/>
          </a:bodyPr>
          <a:lstStyle/>
          <a:p>
            <a:pPr algn="l">
              <a:lnSpc>
                <a:spcPct val="115000"/>
              </a:lnSpc>
              <a:spcAft>
                <a:spcPts val="600"/>
              </a:spcAft>
            </a:pPr>
            <a:r>
              <a:rPr sz="1100" b="0" i="0">
                <a:solidFill>
                  <a:srgbClr val="B2B8C1"/>
                </a:solidFill>
                <a:latin typeface="Calibri"/>
              </a:rPr>
              <a:t>Kettering Y1, 8-item cynicism vs mainstream-only (first three) or vs all other news consumers; weighted; full control ladder. All p &lt; .001.</a:t>
            </a:r>
          </a:p>
        </p:txBody>
      </p:sp>
      <p:sp>
        <p:nvSpPr>
          <p:cNvPr id="9" name="Rectangle 8"/>
          <p:cNvSpPr/>
          <p:nvPr/>
        </p:nvSpPr>
        <p:spPr>
          <a:xfrm>
            <a:off x="8046720" y="2148840"/>
            <a:ext cx="3474720" cy="3840480"/>
          </a:xfrm>
          <a:prstGeom prst="rect">
            <a:avLst/>
          </a:prstGeom>
          <a:solidFill>
            <a:srgbClr val="1B1F25"/>
          </a:solidFill>
          <a:ln w="9525">
            <a:solidFill>
              <a:srgbClr val="2C32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0" y="2331720"/>
            <a:ext cx="3017520" cy="3566160"/>
          </a:xfrm>
          <a:prstGeom prst="rect">
            <a:avLst/>
          </a:prstGeom>
          <a:noFill/>
        </p:spPr>
        <p:txBody>
          <a:bodyPr wrap="square" anchor="t" lIns="0" rIns="0" tIns="0" bIns="0">
            <a:spAutoFit/>
          </a:bodyPr>
          <a:lstStyle/>
          <a:p>
            <a:pPr algn="l">
              <a:lnSpc>
                <a:spcPct val="115000"/>
              </a:lnSpc>
              <a:spcAft>
                <a:spcPts val="800"/>
              </a:spcAft>
            </a:pPr>
            <a:r>
              <a:rPr sz="3400" b="0" i="0">
                <a:solidFill>
                  <a:srgbClr val="CF7272"/>
                </a:solidFill>
                <a:latin typeface="Georgia"/>
              </a:rPr>
              <a:t>−0.10 SD</a:t>
            </a:r>
          </a:p>
          <a:p>
            <a:pPr algn="l">
              <a:lnSpc>
                <a:spcPct val="115000"/>
              </a:lnSpc>
              <a:spcAft>
                <a:spcPts val="800"/>
              </a:spcAft>
            </a:pPr>
            <a:r>
              <a:rPr sz="1300" b="0" i="0">
                <a:solidFill>
                  <a:srgbClr val="B2B8C1"/>
                </a:solidFill>
                <a:latin typeface="Calibri"/>
              </a:rPr>
              <a:t>for each additional mainstream source named (p = 2e-21); +0.08 for each additional podcast</a:t>
            </a:r>
          </a:p>
          <a:p>
            <a:pPr algn="l">
              <a:lnSpc>
                <a:spcPct val="115000"/>
              </a:lnSpc>
              <a:spcAft>
                <a:spcPts val="800"/>
              </a:spcAft>
            </a:pPr>
            <a:r>
              <a:rPr sz="3400" b="0" i="0">
                <a:solidFill>
                  <a:srgbClr val="E7E9EC"/>
                </a:solidFill>
                <a:latin typeface="Georgia"/>
              </a:rPr>
              <a:t>+0.14 SD</a:t>
            </a:r>
          </a:p>
          <a:p>
            <a:pPr algn="l">
              <a:lnSpc>
                <a:spcPct val="115000"/>
              </a:lnSpc>
              <a:spcAft>
                <a:spcPts val="800"/>
              </a:spcAft>
            </a:pPr>
            <a:r>
              <a:rPr sz="1300" b="0" i="0">
                <a:solidFill>
                  <a:srgbClr val="B2B8C1"/>
                </a:solidFill>
                <a:latin typeface="Calibri"/>
              </a:rPr>
              <a:t>podcast-only beyond platform-only; equivalence rejected at ±0.20</a:t>
            </a:r>
          </a:p>
          <a:p>
            <a:pPr algn="l">
              <a:lnSpc>
                <a:spcPct val="115000"/>
              </a:lnSpc>
              <a:spcAft>
                <a:spcPts val="800"/>
              </a:spcAft>
            </a:pPr>
            <a:r>
              <a:rPr sz="1200" b="0" i="0">
                <a:solidFill>
                  <a:srgbClr val="B2B8C1"/>
                </a:solidFill>
                <a:latin typeface="Calibri"/>
              </a:rPr>
              <a:t>n = 18,257 · coefficient moves 3% across the control ladder · identical at every education level (interaction p = .91)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1F3F5"/>
        </a:solidFill>
        <a:effectLst/>
      </p:bgPr>
    </p:bg>
    <p:spTree>
      <p:nvGrpSpPr>
        <p:cNvPr id="1" name=""/>
        <p:cNvGrpSpPr/>
        <p:nvPr/>
      </p:nvGrpSpPr>
      <p:grpSpPr/>
      <p:sp>
        <p:nvSpPr>
          <p:cNvPr id="2" name="TextBox 1"/>
          <p:cNvSpPr txBox="1"/>
          <p:nvPr/>
        </p:nvSpPr>
        <p:spPr>
          <a:xfrm>
            <a:off x="731520" y="6400800"/>
            <a:ext cx="8229600" cy="274320"/>
          </a:xfrm>
          <a:prstGeom prst="rect">
            <a:avLst/>
          </a:prstGeom>
          <a:noFill/>
        </p:spPr>
        <p:txBody>
          <a:bodyPr wrap="square" anchor="t" lIns="0" rIns="0" tIns="0" bIns="0">
            <a:spAutoFit/>
          </a:bodyPr>
          <a:lstStyle/>
          <a:p>
            <a:pPr algn="l">
              <a:lnSpc>
                <a:spcPct val="115000"/>
              </a:lnSpc>
              <a:spcAft>
                <a:spcPts val="600"/>
              </a:spcAft>
            </a:pPr>
            <a:r>
              <a:rPr sz="1000" b="0" i="0">
                <a:solidFill>
                  <a:srgbClr val="737B87"/>
                </a:solidFill>
                <a:latin typeface="Calibri"/>
              </a:rPr>
              <a:t>Talking at the Audience  ·  Yang &amp; Alvarez  ·  Linde Center, Caltech</a:t>
            </a:r>
          </a:p>
        </p:txBody>
      </p:sp>
      <p:sp>
        <p:nvSpPr>
          <p:cNvPr id="3" name="TextBox 2"/>
          <p:cNvSpPr txBox="1"/>
          <p:nvPr/>
        </p:nvSpPr>
        <p:spPr>
          <a:xfrm>
            <a:off x="10545775" y="6400800"/>
            <a:ext cx="914400" cy="274320"/>
          </a:xfrm>
          <a:prstGeom prst="rect">
            <a:avLst/>
          </a:prstGeom>
          <a:noFill/>
        </p:spPr>
        <p:txBody>
          <a:bodyPr wrap="square" anchor="t" lIns="0" rIns="0" tIns="0" bIns="0">
            <a:spAutoFit/>
          </a:bodyPr>
          <a:lstStyle/>
          <a:p>
            <a:pPr algn="r">
              <a:lnSpc>
                <a:spcPct val="115000"/>
              </a:lnSpc>
              <a:spcAft>
                <a:spcPts val="600"/>
              </a:spcAft>
            </a:pPr>
            <a:r>
              <a:rPr sz="1000" b="0" i="0">
                <a:solidFill>
                  <a:srgbClr val="737B87"/>
                </a:solidFill>
                <a:latin typeface="Calibri"/>
              </a:rPr>
              <a:t>13</a:t>
            </a:r>
          </a:p>
        </p:txBody>
      </p:sp>
      <p:sp>
        <p:nvSpPr>
          <p:cNvPr id="4" name="TextBox 3"/>
          <p:cNvSpPr txBox="1"/>
          <p:nvPr/>
        </p:nvSpPr>
        <p:spPr>
          <a:xfrm>
            <a:off x="731520" y="411480"/>
            <a:ext cx="7315200" cy="274320"/>
          </a:xfrm>
          <a:prstGeom prst="rect">
            <a:avLst/>
          </a:prstGeom>
          <a:noFill/>
        </p:spPr>
        <p:txBody>
          <a:bodyPr wrap="square" anchor="t" lIns="0" rIns="0" tIns="0" bIns="0">
            <a:spAutoFit/>
          </a:bodyPr>
          <a:lstStyle/>
          <a:p>
            <a:pPr algn="l">
              <a:lnSpc>
                <a:spcPct val="115000"/>
              </a:lnSpc>
              <a:spcAft>
                <a:spcPts val="600"/>
              </a:spcAft>
            </a:pPr>
            <a:r>
              <a:rPr sz="1100" b="1" i="0">
                <a:solidFill>
                  <a:srgbClr val="7A2E2E"/>
                </a:solidFill>
                <a:latin typeface="Calibri"/>
              </a:rPr>
              <a:t>RESULTS</a:t>
            </a:r>
          </a:p>
        </p:txBody>
      </p:sp>
      <p:sp>
        <p:nvSpPr>
          <p:cNvPr id="5" name="TextBox 4"/>
          <p:cNvSpPr txBox="1"/>
          <p:nvPr/>
        </p:nvSpPr>
        <p:spPr>
          <a:xfrm>
            <a:off x="731520" y="731520"/>
            <a:ext cx="10728655" cy="1097280"/>
          </a:xfrm>
          <a:prstGeom prst="rect">
            <a:avLst/>
          </a:prstGeom>
          <a:noFill/>
        </p:spPr>
        <p:txBody>
          <a:bodyPr wrap="square" anchor="t" lIns="0" rIns="0" tIns="0" bIns="0">
            <a:spAutoFit/>
          </a:bodyPr>
          <a:lstStyle/>
          <a:p>
            <a:pPr algn="l">
              <a:lnSpc>
                <a:spcPct val="105000"/>
              </a:lnSpc>
              <a:spcAft>
                <a:spcPts val="600"/>
              </a:spcAft>
            </a:pPr>
            <a:r>
              <a:rPr sz="3000" b="0" i="0">
                <a:solidFill>
                  <a:srgbClr val="14171C"/>
                </a:solidFill>
                <a:latin typeface="Georgia"/>
              </a:rPr>
              <a:t>Finding 2, continued — Replicates in Pew with exposure measured first</a:t>
            </a:r>
          </a:p>
        </p:txBody>
      </p:sp>
      <p:sp>
        <p:nvSpPr>
          <p:cNvPr id="6" name="Rectangle 5"/>
          <p:cNvSpPr/>
          <p:nvPr/>
        </p:nvSpPr>
        <p:spPr>
          <a:xfrm>
            <a:off x="731520" y="1874520"/>
            <a:ext cx="822960" cy="28000"/>
          </a:xfrm>
          <a:prstGeom prst="rect">
            <a:avLst/>
          </a:prstGeom>
          <a:solidFill>
            <a:srgbClr val="7A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31520" y="2011680"/>
          <a:ext cx="6766560" cy="3566160"/>
        </p:xfrm>
        <a:graphic>
          <a:graphicData uri="http://schemas.openxmlformats.org/drawingml/2006/chart">
            <c:chart xmlns:c="http://schemas.openxmlformats.org/drawingml/2006/chart" r:id="rId2"/>
          </a:graphicData>
        </a:graphic>
      </p:graphicFrame>
      <p:sp>
        <p:nvSpPr>
          <p:cNvPr id="8" name="TextBox 7"/>
          <p:cNvSpPr txBox="1"/>
          <p:nvPr/>
        </p:nvSpPr>
        <p:spPr>
          <a:xfrm>
            <a:off x="731520" y="5623560"/>
            <a:ext cx="6766560" cy="457200"/>
          </a:xfrm>
          <a:prstGeom prst="rect">
            <a:avLst/>
          </a:prstGeom>
          <a:noFill/>
        </p:spPr>
        <p:txBody>
          <a:bodyPr wrap="square" anchor="t" lIns="0" rIns="0" tIns="0" bIns="0">
            <a:spAutoFit/>
          </a:bodyPr>
          <a:lstStyle/>
          <a:p>
            <a:pPr algn="l">
              <a:lnSpc>
                <a:spcPct val="115000"/>
              </a:lnSpc>
              <a:spcAft>
                <a:spcPts val="600"/>
              </a:spcAft>
            </a:pPr>
            <a:r>
              <a:rPr sz="1100" b="0" i="0">
                <a:solidFill>
                  <a:srgbClr val="737B87"/>
                </a:solidFill>
                <a:latin typeface="Calibri"/>
              </a:rPr>
              <a:t>Trust, SD per step of podcast-news frequency measured July–Aug 2024 (1 never – 4 often); n ≈ 9,000 per wave; weighted, controls. First three bars p &lt; .0001; friends and family ns.</a:t>
            </a:r>
          </a:p>
        </p:txBody>
      </p:sp>
      <p:sp>
        <p:nvSpPr>
          <p:cNvPr id="9" name="Rectangle 8"/>
          <p:cNvSpPr/>
          <p:nvPr/>
        </p:nvSpPr>
        <p:spPr>
          <a:xfrm>
            <a:off x="7863840" y="2011680"/>
            <a:ext cx="3657600" cy="3840480"/>
          </a:xfrm>
          <a:prstGeom prst="rect">
            <a:avLst/>
          </a:prstGeom>
          <a:solidFill>
            <a:srgbClr val="FAFBFC"/>
          </a:solidFill>
          <a:ln w="9525">
            <a:solidFill>
              <a:srgbClr val="D6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0" y="2194560"/>
            <a:ext cx="3200400" cy="3566160"/>
          </a:xfrm>
          <a:prstGeom prst="rect">
            <a:avLst/>
          </a:prstGeom>
          <a:noFill/>
        </p:spPr>
        <p:txBody>
          <a:bodyPr wrap="square" anchor="t" lIns="0" rIns="0" tIns="0" bIns="0">
            <a:spAutoFit/>
          </a:bodyPr>
          <a:lstStyle/>
          <a:p>
            <a:pPr algn="l">
              <a:lnSpc>
                <a:spcPct val="115000"/>
              </a:lnSpc>
              <a:spcAft>
                <a:spcPts val="800"/>
              </a:spcAft>
            </a:pPr>
            <a:r>
              <a:rPr sz="3400" b="0" i="0">
                <a:solidFill>
                  <a:srgbClr val="7A2E2E"/>
                </a:solidFill>
                <a:latin typeface="Georgia"/>
              </a:rPr>
              <a:t>−0.34 SD</a:t>
            </a:r>
          </a:p>
          <a:p>
            <a:pPr algn="l">
              <a:lnSpc>
                <a:spcPct val="115000"/>
              </a:lnSpc>
              <a:spcAft>
                <a:spcPts val="800"/>
              </a:spcAft>
            </a:pPr>
            <a:r>
              <a:rPr sz="1300" b="0" i="0">
                <a:solidFill>
                  <a:srgbClr val="434A55"/>
                </a:solidFill>
                <a:latin typeface="Calibri"/>
              </a:rPr>
              <a:t>trust in national news, March 2025, among those who said podcasts were their main election-news source</a:t>
            </a:r>
          </a:p>
          <a:p>
            <a:pPr algn="l">
              <a:lnSpc>
                <a:spcPct val="115000"/>
              </a:lnSpc>
              <a:spcAft>
                <a:spcPts val="800"/>
              </a:spcAft>
            </a:pPr>
            <a:r>
              <a:rPr sz="1600" b="1" i="0">
                <a:solidFill>
                  <a:srgbClr val="14171C"/>
                </a:solidFill>
                <a:latin typeface="Calibri"/>
              </a:rPr>
              <a:t>The shape is the point:</a:t>
            </a:r>
          </a:p>
          <a:p>
            <a:pPr algn="l">
              <a:lnSpc>
                <a:spcPct val="115000"/>
              </a:lnSpc>
              <a:spcAft>
                <a:spcPts val="800"/>
              </a:spcAft>
            </a:pPr>
            <a:r>
              <a:rPr sz="1300" b="0" i="0">
                <a:solidFill>
                  <a:srgbClr val="434A55"/>
                </a:solidFill>
                <a:latin typeface="Calibri"/>
              </a:rPr>
              <a:t>institutional trust falls, trust in the informal channel rises, interpersonal trust is flat. A response-style artifact cannot produce that pattern. The stricter exposure gives effects three to four times larger.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1F3F5"/>
        </a:solidFill>
        <a:effectLst/>
      </p:bgPr>
    </p:bg>
    <p:spTree>
      <p:nvGrpSpPr>
        <p:cNvPr id="1" name=""/>
        <p:cNvGrpSpPr/>
        <p:nvPr/>
      </p:nvGrpSpPr>
      <p:grpSpPr/>
      <p:sp>
        <p:nvSpPr>
          <p:cNvPr id="2" name="TextBox 1"/>
          <p:cNvSpPr txBox="1"/>
          <p:nvPr/>
        </p:nvSpPr>
        <p:spPr>
          <a:xfrm>
            <a:off x="731520" y="6400800"/>
            <a:ext cx="8229600" cy="274320"/>
          </a:xfrm>
          <a:prstGeom prst="rect">
            <a:avLst/>
          </a:prstGeom>
          <a:noFill/>
        </p:spPr>
        <p:txBody>
          <a:bodyPr wrap="square" anchor="t" lIns="0" rIns="0" tIns="0" bIns="0">
            <a:spAutoFit/>
          </a:bodyPr>
          <a:lstStyle/>
          <a:p>
            <a:pPr algn="l">
              <a:lnSpc>
                <a:spcPct val="115000"/>
              </a:lnSpc>
              <a:spcAft>
                <a:spcPts val="600"/>
              </a:spcAft>
            </a:pPr>
            <a:r>
              <a:rPr sz="1000" b="0" i="0">
                <a:solidFill>
                  <a:srgbClr val="737B87"/>
                </a:solidFill>
                <a:latin typeface="Calibri"/>
              </a:rPr>
              <a:t>Talking at the Audience  ·  Yang &amp; Alvarez  ·  Linde Center, Caltech</a:t>
            </a:r>
          </a:p>
        </p:txBody>
      </p:sp>
      <p:sp>
        <p:nvSpPr>
          <p:cNvPr id="3" name="TextBox 2"/>
          <p:cNvSpPr txBox="1"/>
          <p:nvPr/>
        </p:nvSpPr>
        <p:spPr>
          <a:xfrm>
            <a:off x="10545775" y="6400800"/>
            <a:ext cx="914400" cy="274320"/>
          </a:xfrm>
          <a:prstGeom prst="rect">
            <a:avLst/>
          </a:prstGeom>
          <a:noFill/>
        </p:spPr>
        <p:txBody>
          <a:bodyPr wrap="square" anchor="t" lIns="0" rIns="0" tIns="0" bIns="0">
            <a:spAutoFit/>
          </a:bodyPr>
          <a:lstStyle/>
          <a:p>
            <a:pPr algn="r">
              <a:lnSpc>
                <a:spcPct val="115000"/>
              </a:lnSpc>
              <a:spcAft>
                <a:spcPts val="600"/>
              </a:spcAft>
            </a:pPr>
            <a:r>
              <a:rPr sz="1000" b="0" i="0">
                <a:solidFill>
                  <a:srgbClr val="737B87"/>
                </a:solidFill>
                <a:latin typeface="Calibri"/>
              </a:rPr>
              <a:t>14</a:t>
            </a:r>
          </a:p>
        </p:txBody>
      </p:sp>
      <p:sp>
        <p:nvSpPr>
          <p:cNvPr id="4" name="TextBox 3"/>
          <p:cNvSpPr txBox="1"/>
          <p:nvPr/>
        </p:nvSpPr>
        <p:spPr>
          <a:xfrm>
            <a:off x="731520" y="411480"/>
            <a:ext cx="7315200" cy="274320"/>
          </a:xfrm>
          <a:prstGeom prst="rect">
            <a:avLst/>
          </a:prstGeom>
          <a:noFill/>
        </p:spPr>
        <p:txBody>
          <a:bodyPr wrap="square" anchor="t" lIns="0" rIns="0" tIns="0" bIns="0">
            <a:spAutoFit/>
          </a:bodyPr>
          <a:lstStyle/>
          <a:p>
            <a:pPr algn="l">
              <a:lnSpc>
                <a:spcPct val="115000"/>
              </a:lnSpc>
              <a:spcAft>
                <a:spcPts val="600"/>
              </a:spcAft>
            </a:pPr>
            <a:r>
              <a:rPr sz="1100" b="1" i="0">
                <a:solidFill>
                  <a:srgbClr val="7A2E2E"/>
                </a:solidFill>
                <a:latin typeface="Calibri"/>
              </a:rPr>
              <a:t>RESULTS</a:t>
            </a:r>
          </a:p>
        </p:txBody>
      </p:sp>
      <p:sp>
        <p:nvSpPr>
          <p:cNvPr id="5" name="TextBox 4"/>
          <p:cNvSpPr txBox="1"/>
          <p:nvPr/>
        </p:nvSpPr>
        <p:spPr>
          <a:xfrm>
            <a:off x="731520" y="731520"/>
            <a:ext cx="10728655" cy="1097280"/>
          </a:xfrm>
          <a:prstGeom prst="rect">
            <a:avLst/>
          </a:prstGeom>
          <a:noFill/>
        </p:spPr>
        <p:txBody>
          <a:bodyPr wrap="square" anchor="t" lIns="0" rIns="0" tIns="0" bIns="0">
            <a:spAutoFit/>
          </a:bodyPr>
          <a:lstStyle/>
          <a:p>
            <a:pPr algn="l">
              <a:lnSpc>
                <a:spcPct val="105000"/>
              </a:lnSpc>
              <a:spcAft>
                <a:spcPts val="600"/>
              </a:spcAft>
            </a:pPr>
            <a:r>
              <a:rPr sz="3000" b="0" i="0">
                <a:solidFill>
                  <a:srgbClr val="14171C"/>
                </a:solidFill>
                <a:latin typeface="Georgia"/>
              </a:rPr>
              <a:t>Finding 2, continued — Engaged anti-institutionalism, not disengagement</a:t>
            </a:r>
          </a:p>
        </p:txBody>
      </p:sp>
      <p:sp>
        <p:nvSpPr>
          <p:cNvPr id="6" name="Rectangle 5"/>
          <p:cNvSpPr/>
          <p:nvPr/>
        </p:nvSpPr>
        <p:spPr>
          <a:xfrm>
            <a:off x="731520" y="1874520"/>
            <a:ext cx="822960" cy="28000"/>
          </a:xfrm>
          <a:prstGeom prst="rect">
            <a:avLst/>
          </a:prstGeom>
          <a:solidFill>
            <a:srgbClr val="7A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31520" y="2011680"/>
          <a:ext cx="6583680" cy="3383280"/>
        </p:xfrm>
        <a:graphic>
          <a:graphicData uri="http://schemas.openxmlformats.org/drawingml/2006/chart">
            <c:chart xmlns:c="http://schemas.openxmlformats.org/drawingml/2006/chart" r:id="rId2"/>
          </a:graphicData>
        </a:graphic>
      </p:graphicFrame>
      <p:sp>
        <p:nvSpPr>
          <p:cNvPr id="8" name="TextBox 7"/>
          <p:cNvSpPr txBox="1"/>
          <p:nvPr/>
        </p:nvSpPr>
        <p:spPr>
          <a:xfrm>
            <a:off x="731520" y="5440680"/>
            <a:ext cx="6583680" cy="548640"/>
          </a:xfrm>
          <a:prstGeom prst="rect">
            <a:avLst/>
          </a:prstGeom>
          <a:noFill/>
        </p:spPr>
        <p:txBody>
          <a:bodyPr wrap="square" anchor="t" lIns="0" rIns="0" tIns="0" bIns="0">
            <a:spAutoFit/>
          </a:bodyPr>
          <a:lstStyle/>
          <a:p>
            <a:pPr algn="l">
              <a:lnSpc>
                <a:spcPct val="115000"/>
              </a:lnSpc>
              <a:spcAft>
                <a:spcPts val="600"/>
              </a:spcAft>
            </a:pPr>
            <a:r>
              <a:rPr sz="1100" b="0" i="0">
                <a:solidFill>
                  <a:srgbClr val="737B87"/>
                </a:solidFill>
                <a:latin typeface="Calibri"/>
              </a:rPr>
              <a:t>Democratic-norms battery, SD units, full controls, BH-corrected across all 115 items. Platform-only shows none of the civil-libertarian pattern (bars at zero).</a:t>
            </a:r>
          </a:p>
        </p:txBody>
      </p:sp>
      <p:graphicFrame>
        <p:nvGraphicFramePr>
          <p:cNvPr id="9" name="Table 8"/>
          <p:cNvGraphicFramePr>
            <a:graphicFrameLocks noGrp="1"/>
          </p:cNvGraphicFramePr>
          <p:nvPr/>
        </p:nvGraphicFramePr>
        <p:xfrm>
          <a:off x="7680960" y="2011680"/>
          <a:ext cx="3840480" cy="1920240"/>
        </p:xfrm>
        <a:graphic>
          <a:graphicData uri="http://schemas.openxmlformats.org/drawingml/2006/table">
            <a:tbl>
              <a:tblPr firstRow="1" bandRow="1">
                <a:tableStyleId>{5C22544A-7EE6-4342-B048-85BDC9FD1C3A}</a:tableStyleId>
              </a:tblPr>
              <a:tblGrid>
                <a:gridCol w="2011680"/>
                <a:gridCol w="914400"/>
                <a:gridCol w="914400"/>
              </a:tblGrid>
              <a:tr h="384048">
                <a:tc>
                  <a:txBody>
                    <a:bodyPr wrap="square"/>
                    <a:lstStyle/>
                    <a:p>
                      <a:r>
                        <a:rPr sz="1000" b="1">
                          <a:solidFill>
                            <a:srgbClr val="434A55"/>
                          </a:solidFill>
                          <a:latin typeface="Calibri"/>
                        </a:rPr>
                        <a:t>Where the two non-institutional diets diverge</a:t>
                      </a:r>
                    </a:p>
                  </a:txBody>
                  <a:tcPr marL="73152" marR="73152" marT="27432" marB="27432">
                    <a:solidFill>
                      <a:srgbClr val="E4EAF0"/>
                    </a:solidFill>
                  </a:tcPr>
                </a:tc>
                <a:tc>
                  <a:txBody>
                    <a:bodyPr wrap="square"/>
                    <a:lstStyle/>
                    <a:p>
                      <a:pPr algn="l"/>
                      <a:r>
                        <a:rPr sz="1000" b="1">
                          <a:solidFill>
                            <a:srgbClr val="434A55"/>
                          </a:solidFill>
                          <a:latin typeface="Calibri"/>
                        </a:rPr>
                        <a:t>Podcast-only</a:t>
                      </a:r>
                    </a:p>
                  </a:txBody>
                  <a:tcPr marL="73152" marR="73152" marT="27432" marB="27432">
                    <a:solidFill>
                      <a:srgbClr val="E4EAF0"/>
                    </a:solidFill>
                  </a:tcPr>
                </a:tc>
                <a:tc>
                  <a:txBody>
                    <a:bodyPr wrap="square"/>
                    <a:lstStyle/>
                    <a:p>
                      <a:pPr algn="l"/>
                      <a:r>
                        <a:rPr sz="1000" b="1">
                          <a:solidFill>
                            <a:srgbClr val="434A55"/>
                          </a:solidFill>
                          <a:latin typeface="Calibri"/>
                        </a:rPr>
                        <a:t>Platform-only</a:t>
                      </a:r>
                    </a:p>
                  </a:txBody>
                  <a:tcPr marL="73152" marR="73152" marT="27432" marB="27432">
                    <a:solidFill>
                      <a:srgbClr val="E4EAF0"/>
                    </a:solidFill>
                  </a:tcPr>
                </a:tc>
              </a:tr>
              <a:tr h="384048">
                <a:tc>
                  <a:txBody>
                    <a:bodyPr wrap="square"/>
                    <a:lstStyle/>
                    <a:p>
                      <a:r>
                        <a:rPr sz="1100" b="0">
                          <a:solidFill>
                            <a:srgbClr val="14171C"/>
                          </a:solidFill>
                          <a:latin typeface="Calibri"/>
                        </a:rPr>
                        <a:t>Registered to vote</a:t>
                      </a:r>
                    </a:p>
                  </a:txBody>
                  <a:tcPr marL="73152" marR="73152" marT="27432" marB="27432">
                    <a:solidFill>
                      <a:srgbClr val="FAFBFC"/>
                    </a:solidFill>
                  </a:tcPr>
                </a:tc>
                <a:tc>
                  <a:txBody>
                    <a:bodyPr wrap="square"/>
                    <a:lstStyle/>
                    <a:p>
                      <a:pPr algn="l"/>
                      <a:r>
                        <a:rPr sz="1100" b="0">
                          <a:solidFill>
                            <a:srgbClr val="14171C"/>
                          </a:solidFill>
                          <a:latin typeface="Calibri"/>
                        </a:rPr>
                        <a:t>no difference</a:t>
                      </a:r>
                    </a:p>
                  </a:txBody>
                  <a:tcPr marL="73152" marR="73152" marT="27432" marB="27432">
                    <a:solidFill>
                      <a:srgbClr val="FAFBFC"/>
                    </a:solidFill>
                  </a:tcPr>
                </a:tc>
                <a:tc>
                  <a:txBody>
                    <a:bodyPr wrap="square"/>
                    <a:lstStyle/>
                    <a:p>
                      <a:pPr algn="l"/>
                      <a:r>
                        <a:rPr sz="1100" b="0">
                          <a:solidFill>
                            <a:srgbClr val="14171C"/>
                          </a:solidFill>
                          <a:latin typeface="Calibri"/>
                        </a:rPr>
                        <a:t>lower</a:t>
                      </a:r>
                    </a:p>
                  </a:txBody>
                  <a:tcPr marL="73152" marR="73152" marT="27432" marB="27432">
                    <a:solidFill>
                      <a:srgbClr val="FAFBFC"/>
                    </a:solidFill>
                  </a:tcPr>
                </a:tc>
              </a:tr>
              <a:tr h="384048">
                <a:tc>
                  <a:txBody>
                    <a:bodyPr wrap="square"/>
                    <a:lstStyle/>
                    <a:p>
                      <a:r>
                        <a:rPr sz="1100" b="0">
                          <a:solidFill>
                            <a:srgbClr val="14171C"/>
                          </a:solidFill>
                          <a:latin typeface="Calibri"/>
                        </a:rPr>
                        <a:t>Tolerance of political violence</a:t>
                      </a:r>
                    </a:p>
                  </a:txBody>
                  <a:tcPr marL="73152" marR="73152" marT="27432" marB="27432">
                    <a:solidFill>
                      <a:srgbClr val="F1F3F5"/>
                    </a:solidFill>
                  </a:tcPr>
                </a:tc>
                <a:tc>
                  <a:txBody>
                    <a:bodyPr wrap="square"/>
                    <a:lstStyle/>
                    <a:p>
                      <a:pPr algn="l"/>
                      <a:r>
                        <a:rPr sz="1100" b="0">
                          <a:solidFill>
                            <a:srgbClr val="14171C"/>
                          </a:solidFill>
                          <a:latin typeface="Calibri"/>
                        </a:rPr>
                        <a:t>no difference</a:t>
                      </a:r>
                    </a:p>
                  </a:txBody>
                  <a:tcPr marL="73152" marR="73152" marT="27432" marB="27432">
                    <a:solidFill>
                      <a:srgbClr val="F1F3F5"/>
                    </a:solidFill>
                  </a:tcPr>
                </a:tc>
                <a:tc>
                  <a:txBody>
                    <a:bodyPr wrap="square"/>
                    <a:lstStyle/>
                    <a:p>
                      <a:pPr algn="l"/>
                      <a:r>
                        <a:rPr sz="1100" b="0">
                          <a:solidFill>
                            <a:srgbClr val="14171C"/>
                          </a:solidFill>
                          <a:latin typeface="Calibri"/>
                        </a:rPr>
                        <a:t>higher</a:t>
                      </a:r>
                    </a:p>
                  </a:txBody>
                  <a:tcPr marL="73152" marR="73152" marT="27432" marB="27432">
                    <a:solidFill>
                      <a:srgbClr val="F1F3F5"/>
                    </a:solidFill>
                  </a:tcPr>
                </a:tc>
              </a:tr>
              <a:tr h="384048">
                <a:tc>
                  <a:txBody>
                    <a:bodyPr wrap="square"/>
                    <a:lstStyle/>
                    <a:p>
                      <a:r>
                        <a:rPr sz="1100" b="0">
                          <a:solidFill>
                            <a:srgbClr val="14171C"/>
                          </a:solidFill>
                          <a:latin typeface="Calibri"/>
                        </a:rPr>
                        <a:t>National identity</a:t>
                      </a:r>
                    </a:p>
                  </a:txBody>
                  <a:tcPr marL="73152" marR="73152" marT="27432" marB="27432">
                    <a:solidFill>
                      <a:srgbClr val="FAFBFC"/>
                    </a:solidFill>
                  </a:tcPr>
                </a:tc>
                <a:tc>
                  <a:txBody>
                    <a:bodyPr wrap="square"/>
                    <a:lstStyle/>
                    <a:p>
                      <a:pPr algn="l"/>
                      <a:r>
                        <a:rPr sz="1100" b="0">
                          <a:solidFill>
                            <a:srgbClr val="14171C"/>
                          </a:solidFill>
                          <a:latin typeface="Calibri"/>
                        </a:rPr>
                        <a:t>no difference</a:t>
                      </a:r>
                    </a:p>
                  </a:txBody>
                  <a:tcPr marL="73152" marR="73152" marT="27432" marB="27432">
                    <a:solidFill>
                      <a:srgbClr val="FAFBFC"/>
                    </a:solidFill>
                  </a:tcPr>
                </a:tc>
                <a:tc>
                  <a:txBody>
                    <a:bodyPr wrap="square"/>
                    <a:lstStyle/>
                    <a:p>
                      <a:pPr algn="l"/>
                      <a:r>
                        <a:rPr sz="1100" b="0">
                          <a:solidFill>
                            <a:srgbClr val="14171C"/>
                          </a:solidFill>
                          <a:latin typeface="Calibri"/>
                        </a:rPr>
                        <a:t>weaker</a:t>
                      </a:r>
                    </a:p>
                  </a:txBody>
                  <a:tcPr marL="73152" marR="73152" marT="27432" marB="27432">
                    <a:solidFill>
                      <a:srgbClr val="FAFBFC"/>
                    </a:solidFill>
                  </a:tcPr>
                </a:tc>
              </a:tr>
              <a:tr h="384048">
                <a:tc>
                  <a:txBody>
                    <a:bodyPr wrap="square"/>
                    <a:lstStyle/>
                    <a:p>
                      <a:r>
                        <a:rPr sz="1100" b="0">
                          <a:solidFill>
                            <a:srgbClr val="14171C"/>
                          </a:solidFill>
                          <a:latin typeface="Calibri"/>
                        </a:rPr>
                        <a:t>Loneliness</a:t>
                      </a:r>
                    </a:p>
                  </a:txBody>
                  <a:tcPr marL="73152" marR="73152" marT="27432" marB="27432">
                    <a:solidFill>
                      <a:srgbClr val="F1F3F5"/>
                    </a:solidFill>
                  </a:tcPr>
                </a:tc>
                <a:tc>
                  <a:txBody>
                    <a:bodyPr wrap="square"/>
                    <a:lstStyle/>
                    <a:p>
                      <a:pPr algn="l"/>
                      <a:r>
                        <a:rPr sz="1100" b="0">
                          <a:solidFill>
                            <a:srgbClr val="14171C"/>
                          </a:solidFill>
                          <a:latin typeface="Calibri"/>
                        </a:rPr>
                        <a:t>no difference</a:t>
                      </a:r>
                    </a:p>
                  </a:txBody>
                  <a:tcPr marL="73152" marR="73152" marT="27432" marB="27432">
                    <a:solidFill>
                      <a:srgbClr val="F1F3F5"/>
                    </a:solidFill>
                  </a:tcPr>
                </a:tc>
                <a:tc>
                  <a:txBody>
                    <a:bodyPr wrap="square"/>
                    <a:lstStyle/>
                    <a:p>
                      <a:pPr algn="l"/>
                      <a:r>
                        <a:rPr sz="1100" b="0">
                          <a:solidFill>
                            <a:srgbClr val="14171C"/>
                          </a:solidFill>
                          <a:latin typeface="Calibri"/>
                        </a:rPr>
                        <a:t>—</a:t>
                      </a:r>
                    </a:p>
                  </a:txBody>
                  <a:tcPr marL="73152" marR="73152" marT="27432" marB="27432">
                    <a:solidFill>
                      <a:srgbClr val="F1F3F5"/>
                    </a:solidFill>
                  </a:tcPr>
                </a:tc>
              </a:tr>
            </a:tbl>
          </a:graphicData>
        </a:graphic>
      </p:graphicFrame>
      <p:sp>
        <p:nvSpPr>
          <p:cNvPr id="10" name="TextBox 9"/>
          <p:cNvSpPr txBox="1"/>
          <p:nvPr/>
        </p:nvSpPr>
        <p:spPr>
          <a:xfrm>
            <a:off x="7680960" y="4206240"/>
            <a:ext cx="3840480" cy="1645920"/>
          </a:xfrm>
          <a:prstGeom prst="rect">
            <a:avLst/>
          </a:prstGeom>
          <a:noFill/>
        </p:spPr>
        <p:txBody>
          <a:bodyPr wrap="square" anchor="t" lIns="0" rIns="0" tIns="0" bIns="0">
            <a:spAutoFit/>
          </a:bodyPr>
          <a:lstStyle/>
          <a:p>
            <a:pPr algn="l">
              <a:lnSpc>
                <a:spcPct val="115000"/>
              </a:lnSpc>
              <a:spcAft>
                <a:spcPts val="600"/>
              </a:spcAft>
            </a:pPr>
            <a:r>
              <a:rPr sz="1300" b="0" i="0">
                <a:solidFill>
                  <a:srgbClr val="434A55"/>
                </a:solidFill>
                <a:latin typeface="Calibri"/>
              </a:rPr>
              <a:t>Podcast-only listeners distrust institutions and are more protective of civil liberties, no more partisan, no lonelier, no less registered. Platform-only diets carry weaker national identity, income strain, lower registration and more tolerance of political violence.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731520" y="6400800"/>
            <a:ext cx="8229600" cy="274320"/>
          </a:xfrm>
          <a:prstGeom prst="rect">
            <a:avLst/>
          </a:prstGeom>
          <a:noFill/>
        </p:spPr>
        <p:txBody>
          <a:bodyPr wrap="square" anchor="t" lIns="0" rIns="0" tIns="0" bIns="0">
            <a:spAutoFit/>
          </a:bodyPr>
          <a:lstStyle/>
          <a:p>
            <a:pPr algn="l">
              <a:lnSpc>
                <a:spcPct val="115000"/>
              </a:lnSpc>
              <a:spcAft>
                <a:spcPts val="600"/>
              </a:spcAft>
            </a:pPr>
            <a:r>
              <a:rPr sz="1000" b="0" i="0">
                <a:solidFill>
                  <a:srgbClr val="737B87"/>
                </a:solidFill>
                <a:latin typeface="Calibri"/>
              </a:rPr>
              <a:t>Talking at the Audience  ·  Yang &amp; Alvarez  ·  Linde Center, Caltech</a:t>
            </a:r>
          </a:p>
        </p:txBody>
      </p:sp>
      <p:sp>
        <p:nvSpPr>
          <p:cNvPr id="3" name="TextBox 2"/>
          <p:cNvSpPr txBox="1"/>
          <p:nvPr/>
        </p:nvSpPr>
        <p:spPr>
          <a:xfrm>
            <a:off x="10545775" y="6400800"/>
            <a:ext cx="914400" cy="274320"/>
          </a:xfrm>
          <a:prstGeom prst="rect">
            <a:avLst/>
          </a:prstGeom>
          <a:noFill/>
        </p:spPr>
        <p:txBody>
          <a:bodyPr wrap="square" anchor="t" lIns="0" rIns="0" tIns="0" bIns="0">
            <a:spAutoFit/>
          </a:bodyPr>
          <a:lstStyle/>
          <a:p>
            <a:pPr algn="r">
              <a:lnSpc>
                <a:spcPct val="115000"/>
              </a:lnSpc>
              <a:spcAft>
                <a:spcPts val="600"/>
              </a:spcAft>
            </a:pPr>
            <a:r>
              <a:rPr sz="1000" b="0" i="0">
                <a:solidFill>
                  <a:srgbClr val="737B87"/>
                </a:solidFill>
                <a:latin typeface="Calibri"/>
              </a:rPr>
              <a:t>15</a:t>
            </a:r>
          </a:p>
        </p:txBody>
      </p:sp>
      <p:sp>
        <p:nvSpPr>
          <p:cNvPr id="4" name="TextBox 3"/>
          <p:cNvSpPr txBox="1"/>
          <p:nvPr/>
        </p:nvSpPr>
        <p:spPr>
          <a:xfrm>
            <a:off x="731520" y="411480"/>
            <a:ext cx="7315200" cy="274320"/>
          </a:xfrm>
          <a:prstGeom prst="rect">
            <a:avLst/>
          </a:prstGeom>
          <a:noFill/>
        </p:spPr>
        <p:txBody>
          <a:bodyPr wrap="square" anchor="t" lIns="0" rIns="0" tIns="0" bIns="0">
            <a:spAutoFit/>
          </a:bodyPr>
          <a:lstStyle/>
          <a:p>
            <a:pPr algn="l">
              <a:lnSpc>
                <a:spcPct val="115000"/>
              </a:lnSpc>
              <a:spcAft>
                <a:spcPts val="600"/>
              </a:spcAft>
            </a:pPr>
            <a:r>
              <a:rPr sz="1100" b="1" i="0">
                <a:solidFill>
                  <a:srgbClr val="CF7272"/>
                </a:solidFill>
                <a:latin typeface="Calibri"/>
              </a:rPr>
              <a:t>RESULTS</a:t>
            </a:r>
          </a:p>
        </p:txBody>
      </p:sp>
      <p:sp>
        <p:nvSpPr>
          <p:cNvPr id="5" name="TextBox 4"/>
          <p:cNvSpPr txBox="1"/>
          <p:nvPr/>
        </p:nvSpPr>
        <p:spPr>
          <a:xfrm>
            <a:off x="731520" y="731520"/>
            <a:ext cx="10728655" cy="1097280"/>
          </a:xfrm>
          <a:prstGeom prst="rect">
            <a:avLst/>
          </a:prstGeom>
          <a:noFill/>
        </p:spPr>
        <p:txBody>
          <a:bodyPr wrap="square" anchor="t" lIns="0" rIns="0" tIns="0" bIns="0">
            <a:spAutoFit/>
          </a:bodyPr>
          <a:lstStyle/>
          <a:p>
            <a:pPr algn="l">
              <a:lnSpc>
                <a:spcPct val="105000"/>
              </a:lnSpc>
              <a:spcAft>
                <a:spcPts val="600"/>
              </a:spcAft>
            </a:pPr>
            <a:r>
              <a:rPr sz="3000" b="0" i="0">
                <a:solidFill>
                  <a:srgbClr val="E7E9EC"/>
                </a:solidFill>
                <a:latin typeface="Georgia"/>
              </a:rPr>
              <a:t>Finding 3 — Listener-directed shows reach less formally educated audiences</a:t>
            </a:r>
          </a:p>
        </p:txBody>
      </p:sp>
      <p:sp>
        <p:nvSpPr>
          <p:cNvPr id="6" name="Rectangle 5"/>
          <p:cNvSpPr/>
          <p:nvPr/>
        </p:nvSpPr>
        <p:spPr>
          <a:xfrm>
            <a:off x="731520" y="1874520"/>
            <a:ext cx="822960" cy="28000"/>
          </a:xfrm>
          <a:prstGeom prst="rect">
            <a:avLst/>
          </a:prstGeom>
          <a:solidFill>
            <a:srgbClr val="CF72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31520" y="2148840"/>
          <a:ext cx="6766560" cy="3291840"/>
        </p:xfrm>
        <a:graphic>
          <a:graphicData uri="http://schemas.openxmlformats.org/drawingml/2006/chart">
            <c:chart xmlns:c="http://schemas.openxmlformats.org/drawingml/2006/chart" r:id="rId2"/>
          </a:graphicData>
        </a:graphic>
      </p:graphicFrame>
      <p:sp>
        <p:nvSpPr>
          <p:cNvPr id="8" name="TextBox 7"/>
          <p:cNvSpPr txBox="1"/>
          <p:nvPr/>
        </p:nvSpPr>
        <p:spPr>
          <a:xfrm>
            <a:off x="731520" y="5532120"/>
            <a:ext cx="6766560" cy="457200"/>
          </a:xfrm>
          <a:prstGeom prst="rect">
            <a:avLst/>
          </a:prstGeom>
          <a:noFill/>
        </p:spPr>
        <p:txBody>
          <a:bodyPr wrap="square" anchor="t" lIns="0" rIns="0" tIns="0" bIns="0">
            <a:spAutoFit/>
          </a:bodyPr>
          <a:lstStyle/>
          <a:p>
            <a:pPr algn="l">
              <a:lnSpc>
                <a:spcPct val="115000"/>
              </a:lnSpc>
              <a:spcAft>
                <a:spcPts val="600"/>
              </a:spcAft>
            </a:pPr>
            <a:r>
              <a:rPr sz="1100" b="0" i="0">
                <a:solidFill>
                  <a:srgbClr val="B2B8C1"/>
                </a:solidFill>
                <a:latin typeface="Calibri"/>
              </a:rPr>
              <a:t>Party and show lean controlled; CR2 and wild-bootstrap p ≤ .048 in every sample. Unchanged with age, gender, income, race, urbanicity and attention added (−0.28).</a:t>
            </a:r>
          </a:p>
        </p:txBody>
      </p:sp>
      <p:sp>
        <p:nvSpPr>
          <p:cNvPr id="9" name="Rectangle 8"/>
          <p:cNvSpPr/>
          <p:nvPr/>
        </p:nvSpPr>
        <p:spPr>
          <a:xfrm>
            <a:off x="7863840" y="2148840"/>
            <a:ext cx="3657600" cy="3840480"/>
          </a:xfrm>
          <a:prstGeom prst="rect">
            <a:avLst/>
          </a:prstGeom>
          <a:solidFill>
            <a:srgbClr val="1B1F25"/>
          </a:solidFill>
          <a:ln w="9525">
            <a:solidFill>
              <a:srgbClr val="2C32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0" y="2331720"/>
            <a:ext cx="3200400" cy="3566160"/>
          </a:xfrm>
          <a:prstGeom prst="rect">
            <a:avLst/>
          </a:prstGeom>
          <a:noFill/>
        </p:spPr>
        <p:txBody>
          <a:bodyPr wrap="square" anchor="t" lIns="0" rIns="0" tIns="0" bIns="0">
            <a:spAutoFit/>
          </a:bodyPr>
          <a:lstStyle/>
          <a:p>
            <a:pPr algn="l">
              <a:lnSpc>
                <a:spcPct val="115000"/>
              </a:lnSpc>
              <a:spcAft>
                <a:spcPts val="800"/>
              </a:spcAft>
            </a:pPr>
            <a:r>
              <a:rPr sz="4000" b="0" i="0">
                <a:solidFill>
                  <a:srgbClr val="CF7272"/>
                </a:solidFill>
                <a:latin typeface="Georgia"/>
              </a:rPr>
              <a:t>4 of 4</a:t>
            </a:r>
          </a:p>
          <a:p>
            <a:pPr algn="l">
              <a:lnSpc>
                <a:spcPct val="115000"/>
              </a:lnSpc>
              <a:spcAft>
                <a:spcPts val="800"/>
              </a:spcAft>
            </a:pPr>
            <a:r>
              <a:rPr sz="1300" b="0" i="0">
                <a:solidFill>
                  <a:srgbClr val="B2B8C1"/>
                </a:solidFill>
                <a:latin typeface="Calibri"/>
              </a:rPr>
              <a:t>samples replicate, including the out-of-frame shows where nothing else did</a:t>
            </a:r>
          </a:p>
          <a:p>
            <a:pPr algn="l">
              <a:lnSpc>
                <a:spcPct val="115000"/>
              </a:lnSpc>
              <a:spcAft>
                <a:spcPts val="800"/>
              </a:spcAft>
            </a:pPr>
            <a:r>
              <a:rPr sz="1800" b="0" i="0">
                <a:solidFill>
                  <a:srgbClr val="E7E9EC"/>
                </a:solidFill>
                <a:latin typeface="Georgia"/>
              </a:rPr>
              <a:t>Education specifically</a:t>
            </a:r>
          </a:p>
          <a:p>
            <a:pPr algn="l">
              <a:lnSpc>
                <a:spcPct val="115000"/>
              </a:lnSpc>
              <a:spcAft>
                <a:spcPts val="800"/>
              </a:spcAft>
            </a:pPr>
            <a:r>
              <a:rPr sz="1300" b="0" i="0">
                <a:solidFill>
                  <a:srgbClr val="B2B8C1"/>
                </a:solidFill>
                <a:latin typeface="Calibri"/>
              </a:rPr>
              <a:t>income, age and gender are null; holds within left shows (−0.29) and right shows (−0.19); stable to dropping any of the 12 largest shows; show-level r = −0.57</a:t>
            </a:r>
          </a:p>
          <a:p>
            <a:pPr algn="l">
              <a:lnSpc>
                <a:spcPct val="115000"/>
              </a:lnSpc>
              <a:spcAft>
                <a:spcPts val="800"/>
              </a:spcAft>
            </a:pPr>
            <a:r>
              <a:rPr sz="1300" b="0" i="0">
                <a:solidFill>
                  <a:srgbClr val="B2B8C1"/>
                </a:solidFill>
                <a:latin typeface="Calibri"/>
              </a:rPr>
              <a:t>First-source namers −0.35 vs later −0.20: the fingerprint of selection.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1F3F5"/>
        </a:solidFill>
        <a:effectLst/>
      </p:bgPr>
    </p:bg>
    <p:spTree>
      <p:nvGrpSpPr>
        <p:cNvPr id="1" name=""/>
        <p:cNvGrpSpPr/>
        <p:nvPr/>
      </p:nvGrpSpPr>
      <p:grpSpPr/>
      <p:sp>
        <p:nvSpPr>
          <p:cNvPr id="2" name="TextBox 1"/>
          <p:cNvSpPr txBox="1"/>
          <p:nvPr/>
        </p:nvSpPr>
        <p:spPr>
          <a:xfrm>
            <a:off x="731520" y="6400800"/>
            <a:ext cx="8229600" cy="274320"/>
          </a:xfrm>
          <a:prstGeom prst="rect">
            <a:avLst/>
          </a:prstGeom>
          <a:noFill/>
        </p:spPr>
        <p:txBody>
          <a:bodyPr wrap="square" anchor="t" lIns="0" rIns="0" tIns="0" bIns="0">
            <a:spAutoFit/>
          </a:bodyPr>
          <a:lstStyle/>
          <a:p>
            <a:pPr algn="l">
              <a:lnSpc>
                <a:spcPct val="115000"/>
              </a:lnSpc>
              <a:spcAft>
                <a:spcPts val="600"/>
              </a:spcAft>
            </a:pPr>
            <a:r>
              <a:rPr sz="1000" b="0" i="0">
                <a:solidFill>
                  <a:srgbClr val="737B87"/>
                </a:solidFill>
                <a:latin typeface="Calibri"/>
              </a:rPr>
              <a:t>Talking at the Audience  ·  Yang &amp; Alvarez  ·  Linde Center, Caltech</a:t>
            </a:r>
          </a:p>
        </p:txBody>
      </p:sp>
      <p:sp>
        <p:nvSpPr>
          <p:cNvPr id="3" name="TextBox 2"/>
          <p:cNvSpPr txBox="1"/>
          <p:nvPr/>
        </p:nvSpPr>
        <p:spPr>
          <a:xfrm>
            <a:off x="10545775" y="6400800"/>
            <a:ext cx="914400" cy="274320"/>
          </a:xfrm>
          <a:prstGeom prst="rect">
            <a:avLst/>
          </a:prstGeom>
          <a:noFill/>
        </p:spPr>
        <p:txBody>
          <a:bodyPr wrap="square" anchor="t" lIns="0" rIns="0" tIns="0" bIns="0">
            <a:spAutoFit/>
          </a:bodyPr>
          <a:lstStyle/>
          <a:p>
            <a:pPr algn="r">
              <a:lnSpc>
                <a:spcPct val="115000"/>
              </a:lnSpc>
              <a:spcAft>
                <a:spcPts val="600"/>
              </a:spcAft>
            </a:pPr>
            <a:r>
              <a:rPr sz="1000" b="0" i="0">
                <a:solidFill>
                  <a:srgbClr val="737B87"/>
                </a:solidFill>
                <a:latin typeface="Calibri"/>
              </a:rPr>
              <a:t>16</a:t>
            </a:r>
          </a:p>
        </p:txBody>
      </p:sp>
      <p:sp>
        <p:nvSpPr>
          <p:cNvPr id="4" name="TextBox 3"/>
          <p:cNvSpPr txBox="1"/>
          <p:nvPr/>
        </p:nvSpPr>
        <p:spPr>
          <a:xfrm>
            <a:off x="731520" y="411480"/>
            <a:ext cx="7315200" cy="274320"/>
          </a:xfrm>
          <a:prstGeom prst="rect">
            <a:avLst/>
          </a:prstGeom>
          <a:noFill/>
        </p:spPr>
        <p:txBody>
          <a:bodyPr wrap="square" anchor="t" lIns="0" rIns="0" tIns="0" bIns="0">
            <a:spAutoFit/>
          </a:bodyPr>
          <a:lstStyle/>
          <a:p>
            <a:pPr algn="l">
              <a:lnSpc>
                <a:spcPct val="115000"/>
              </a:lnSpc>
              <a:spcAft>
                <a:spcPts val="600"/>
              </a:spcAft>
            </a:pPr>
            <a:r>
              <a:rPr sz="1100" b="1" i="0">
                <a:solidFill>
                  <a:srgbClr val="7A2E2E"/>
                </a:solidFill>
                <a:latin typeface="Calibri"/>
              </a:rPr>
              <a:t>RESULTS</a:t>
            </a:r>
          </a:p>
        </p:txBody>
      </p:sp>
      <p:sp>
        <p:nvSpPr>
          <p:cNvPr id="5" name="TextBox 4"/>
          <p:cNvSpPr txBox="1"/>
          <p:nvPr/>
        </p:nvSpPr>
        <p:spPr>
          <a:xfrm>
            <a:off x="731520" y="731520"/>
            <a:ext cx="10728655" cy="1097280"/>
          </a:xfrm>
          <a:prstGeom prst="rect">
            <a:avLst/>
          </a:prstGeom>
          <a:noFill/>
        </p:spPr>
        <p:txBody>
          <a:bodyPr wrap="square" anchor="t" lIns="0" rIns="0" tIns="0" bIns="0">
            <a:spAutoFit/>
          </a:bodyPr>
          <a:lstStyle/>
          <a:p>
            <a:pPr algn="l">
              <a:lnSpc>
                <a:spcPct val="105000"/>
              </a:lnSpc>
              <a:spcAft>
                <a:spcPts val="600"/>
              </a:spcAft>
            </a:pPr>
            <a:r>
              <a:rPr sz="3000" b="0" i="0">
                <a:solidFill>
                  <a:srgbClr val="14171C"/>
                </a:solidFill>
                <a:latin typeface="Georgia"/>
              </a:rPr>
              <a:t>Finding 4 — Podcast news use carries the para-social signature</a:t>
            </a:r>
          </a:p>
        </p:txBody>
      </p:sp>
      <p:sp>
        <p:nvSpPr>
          <p:cNvPr id="6" name="Rectangle 5"/>
          <p:cNvSpPr/>
          <p:nvPr/>
        </p:nvSpPr>
        <p:spPr>
          <a:xfrm>
            <a:off x="731520" y="1874520"/>
            <a:ext cx="822960" cy="28000"/>
          </a:xfrm>
          <a:prstGeom prst="rect">
            <a:avLst/>
          </a:prstGeom>
          <a:solidFill>
            <a:srgbClr val="7A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31520" y="2011680"/>
          <a:ext cx="6766560" cy="3566160"/>
        </p:xfrm>
        <a:graphic>
          <a:graphicData uri="http://schemas.openxmlformats.org/drawingml/2006/chart">
            <c:chart xmlns:c="http://schemas.openxmlformats.org/drawingml/2006/chart" r:id="rId2"/>
          </a:graphicData>
        </a:graphic>
      </p:graphicFrame>
      <p:sp>
        <p:nvSpPr>
          <p:cNvPr id="8" name="TextBox 7"/>
          <p:cNvSpPr txBox="1"/>
          <p:nvPr/>
        </p:nvSpPr>
        <p:spPr>
          <a:xfrm>
            <a:off x="731520" y="5623560"/>
            <a:ext cx="6766560" cy="457200"/>
          </a:xfrm>
          <a:prstGeom prst="rect">
            <a:avLst/>
          </a:prstGeom>
          <a:noFill/>
        </p:spPr>
        <p:txBody>
          <a:bodyPr wrap="square" anchor="t" lIns="0" rIns="0" tIns="0" bIns="0">
            <a:spAutoFit/>
          </a:bodyPr>
          <a:lstStyle/>
          <a:p>
            <a:pPr algn="l">
              <a:lnSpc>
                <a:spcPct val="115000"/>
              </a:lnSpc>
              <a:spcAft>
                <a:spcPts val="600"/>
              </a:spcAft>
            </a:pPr>
            <a:r>
              <a:rPr sz="1100" b="0" i="0">
                <a:solidFill>
                  <a:srgbClr val="737B87"/>
                </a:solidFill>
                <a:latin typeface="Calibri"/>
              </a:rPr>
              <a:t>Pew W150, regular consumers of news from influencers (n = 2,012); BH-corrected. Grey: not significant (q = .19, .69).</a:t>
            </a:r>
          </a:p>
        </p:txBody>
      </p:sp>
      <p:sp>
        <p:nvSpPr>
          <p:cNvPr id="9" name="Rectangle 8"/>
          <p:cNvSpPr/>
          <p:nvPr/>
        </p:nvSpPr>
        <p:spPr>
          <a:xfrm>
            <a:off x="7863840" y="2011680"/>
            <a:ext cx="3657600" cy="3840480"/>
          </a:xfrm>
          <a:prstGeom prst="rect">
            <a:avLst/>
          </a:prstGeom>
          <a:solidFill>
            <a:srgbClr val="FAFBFC"/>
          </a:solidFill>
          <a:ln w="9525">
            <a:solidFill>
              <a:srgbClr val="D6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0" y="2194560"/>
            <a:ext cx="3200400" cy="3566160"/>
          </a:xfrm>
          <a:prstGeom prst="rect">
            <a:avLst/>
          </a:prstGeom>
          <a:noFill/>
        </p:spPr>
        <p:txBody>
          <a:bodyPr wrap="square" anchor="t" lIns="0" rIns="0" tIns="0" bIns="0">
            <a:spAutoFit/>
          </a:bodyPr>
          <a:lstStyle/>
          <a:p>
            <a:pPr algn="l">
              <a:lnSpc>
                <a:spcPct val="115000"/>
              </a:lnSpc>
              <a:spcAft>
                <a:spcPts val="800"/>
              </a:spcAft>
            </a:pPr>
            <a:r>
              <a:rPr sz="3400" b="0" i="0">
                <a:solidFill>
                  <a:srgbClr val="7A2E2E"/>
                </a:solidFill>
                <a:latin typeface="Georgia"/>
              </a:rPr>
              <a:t>26% → 39%</a:t>
            </a:r>
          </a:p>
          <a:p>
            <a:pPr algn="l">
              <a:lnSpc>
                <a:spcPct val="115000"/>
              </a:lnSpc>
              <a:spcAft>
                <a:spcPts val="800"/>
              </a:spcAft>
            </a:pPr>
            <a:r>
              <a:rPr sz="1300" b="0" i="0">
                <a:solidFill>
                  <a:srgbClr val="434A55"/>
                </a:solidFill>
                <a:latin typeface="Calibri"/>
              </a:rPr>
              <a:t>share who feel a personal connection to an influencer, from never to often getting news from podcasts; holds within both parties</a:t>
            </a:r>
          </a:p>
          <a:p>
            <a:pPr algn="l">
              <a:lnSpc>
                <a:spcPct val="115000"/>
              </a:lnSpc>
              <a:spcAft>
                <a:spcPts val="800"/>
              </a:spcAft>
            </a:pPr>
            <a:r>
              <a:rPr sz="1500" b="1" i="0">
                <a:solidFill>
                  <a:srgbClr val="14171C"/>
                </a:solidFill>
                <a:latin typeface="Calibri"/>
              </a:rPr>
              <a:t>The relational and opinion items move; the informational items do not.</a:t>
            </a:r>
          </a:p>
          <a:p>
            <a:pPr algn="l">
              <a:lnSpc>
                <a:spcPct val="115000"/>
              </a:lnSpc>
              <a:spcAft>
                <a:spcPts val="800"/>
              </a:spcAft>
            </a:pPr>
            <a:r>
              <a:rPr sz="1300" b="0" i="0">
                <a:solidFill>
                  <a:srgbClr val="434A55"/>
                </a:solidFill>
                <a:latin typeface="Calibri"/>
              </a:rPr>
              <a:t>That is the audience-side signature of direct, personal address.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731520" y="6400800"/>
            <a:ext cx="8229600" cy="274320"/>
          </a:xfrm>
          <a:prstGeom prst="rect">
            <a:avLst/>
          </a:prstGeom>
          <a:noFill/>
        </p:spPr>
        <p:txBody>
          <a:bodyPr wrap="square" anchor="t" lIns="0" rIns="0" tIns="0" bIns="0">
            <a:spAutoFit/>
          </a:bodyPr>
          <a:lstStyle/>
          <a:p>
            <a:pPr algn="l">
              <a:lnSpc>
                <a:spcPct val="115000"/>
              </a:lnSpc>
              <a:spcAft>
                <a:spcPts val="600"/>
              </a:spcAft>
            </a:pPr>
            <a:r>
              <a:rPr sz="1000" b="0" i="0">
                <a:solidFill>
                  <a:srgbClr val="737B87"/>
                </a:solidFill>
                <a:latin typeface="Calibri"/>
              </a:rPr>
              <a:t>Talking at the Audience  ·  Yang &amp; Alvarez  ·  Linde Center, Caltech</a:t>
            </a:r>
          </a:p>
        </p:txBody>
      </p:sp>
      <p:sp>
        <p:nvSpPr>
          <p:cNvPr id="3" name="TextBox 2"/>
          <p:cNvSpPr txBox="1"/>
          <p:nvPr/>
        </p:nvSpPr>
        <p:spPr>
          <a:xfrm>
            <a:off x="10545775" y="6400800"/>
            <a:ext cx="914400" cy="274320"/>
          </a:xfrm>
          <a:prstGeom prst="rect">
            <a:avLst/>
          </a:prstGeom>
          <a:noFill/>
        </p:spPr>
        <p:txBody>
          <a:bodyPr wrap="square" anchor="t" lIns="0" rIns="0" tIns="0" bIns="0">
            <a:spAutoFit/>
          </a:bodyPr>
          <a:lstStyle/>
          <a:p>
            <a:pPr algn="r">
              <a:lnSpc>
                <a:spcPct val="115000"/>
              </a:lnSpc>
              <a:spcAft>
                <a:spcPts val="600"/>
              </a:spcAft>
            </a:pPr>
            <a:r>
              <a:rPr sz="1000" b="0" i="0">
                <a:solidFill>
                  <a:srgbClr val="737B87"/>
                </a:solidFill>
                <a:latin typeface="Calibri"/>
              </a:rPr>
              <a:t>17</a:t>
            </a:r>
          </a:p>
        </p:txBody>
      </p:sp>
      <p:sp>
        <p:nvSpPr>
          <p:cNvPr id="4" name="TextBox 3"/>
          <p:cNvSpPr txBox="1"/>
          <p:nvPr/>
        </p:nvSpPr>
        <p:spPr>
          <a:xfrm>
            <a:off x="731520" y="411480"/>
            <a:ext cx="7315200" cy="274320"/>
          </a:xfrm>
          <a:prstGeom prst="rect">
            <a:avLst/>
          </a:prstGeom>
          <a:noFill/>
        </p:spPr>
        <p:txBody>
          <a:bodyPr wrap="square" anchor="t" lIns="0" rIns="0" tIns="0" bIns="0">
            <a:spAutoFit/>
          </a:bodyPr>
          <a:lstStyle/>
          <a:p>
            <a:pPr algn="l">
              <a:lnSpc>
                <a:spcPct val="115000"/>
              </a:lnSpc>
              <a:spcAft>
                <a:spcPts val="600"/>
              </a:spcAft>
            </a:pPr>
            <a:r>
              <a:rPr sz="1100" b="1" i="0">
                <a:solidFill>
                  <a:srgbClr val="CF7272"/>
                </a:solidFill>
                <a:latin typeface="Calibri"/>
              </a:rPr>
              <a:t>RESULTS · EXPLORATORY</a:t>
            </a:r>
          </a:p>
        </p:txBody>
      </p:sp>
      <p:sp>
        <p:nvSpPr>
          <p:cNvPr id="5" name="TextBox 4"/>
          <p:cNvSpPr txBox="1"/>
          <p:nvPr/>
        </p:nvSpPr>
        <p:spPr>
          <a:xfrm>
            <a:off x="731520" y="731520"/>
            <a:ext cx="10728655" cy="1097280"/>
          </a:xfrm>
          <a:prstGeom prst="rect">
            <a:avLst/>
          </a:prstGeom>
          <a:noFill/>
        </p:spPr>
        <p:txBody>
          <a:bodyPr wrap="square" anchor="t" lIns="0" rIns="0" tIns="0" bIns="0">
            <a:spAutoFit/>
          </a:bodyPr>
          <a:lstStyle/>
          <a:p>
            <a:pPr algn="l">
              <a:lnSpc>
                <a:spcPct val="105000"/>
              </a:lnSpc>
              <a:spcAft>
                <a:spcPts val="600"/>
              </a:spcAft>
            </a:pPr>
            <a:r>
              <a:rPr sz="3000" b="0" i="0">
                <a:solidFill>
                  <a:srgbClr val="E7E9EC"/>
                </a:solidFill>
                <a:latin typeface="Georgia"/>
              </a:rPr>
              <a:t>Finding 5 — Within political podcasts, address goes with election distrust</a:t>
            </a:r>
          </a:p>
        </p:txBody>
      </p:sp>
      <p:sp>
        <p:nvSpPr>
          <p:cNvPr id="6" name="Rectangle 5"/>
          <p:cNvSpPr/>
          <p:nvPr/>
        </p:nvSpPr>
        <p:spPr>
          <a:xfrm>
            <a:off x="731520" y="1874520"/>
            <a:ext cx="822960" cy="28000"/>
          </a:xfrm>
          <a:prstGeom prst="rect">
            <a:avLst/>
          </a:prstGeom>
          <a:solidFill>
            <a:srgbClr val="CF72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31520" y="2148840"/>
          <a:ext cx="6949440" cy="3108960"/>
        </p:xfrm>
        <a:graphic>
          <a:graphicData uri="http://schemas.openxmlformats.org/drawingml/2006/chart">
            <c:chart xmlns:c="http://schemas.openxmlformats.org/drawingml/2006/chart" r:id="rId2"/>
          </a:graphicData>
        </a:graphic>
      </p:graphicFrame>
      <p:graphicFrame>
        <p:nvGraphicFramePr>
          <p:cNvPr id="8" name="Table 7"/>
          <p:cNvGraphicFramePr>
            <a:graphicFrameLocks noGrp="1"/>
          </p:cNvGraphicFramePr>
          <p:nvPr/>
        </p:nvGraphicFramePr>
        <p:xfrm>
          <a:off x="8046720" y="2148840"/>
          <a:ext cx="3474720" cy="2194560"/>
        </p:xfrm>
        <a:graphic>
          <a:graphicData uri="http://schemas.openxmlformats.org/drawingml/2006/table">
            <a:tbl>
              <a:tblPr firstRow="1" bandRow="1">
                <a:tableStyleId>{5C22544A-7EE6-4342-B048-85BDC9FD1C3A}</a:tableStyleId>
              </a:tblPr>
              <a:tblGrid>
                <a:gridCol w="1737360"/>
                <a:gridCol w="731520"/>
                <a:gridCol w="1005840"/>
              </a:tblGrid>
              <a:tr h="365760">
                <a:tc>
                  <a:txBody>
                    <a:bodyPr wrap="square"/>
                    <a:lstStyle/>
                    <a:p>
                      <a:r>
                        <a:rPr sz="1000" b="1">
                          <a:solidFill>
                            <a:srgbClr val="B2B8C1"/>
                          </a:solidFill>
                          <a:latin typeface="Calibri"/>
                        </a:rPr>
                        <a:t>Pooled (56 shows, 792 listeners)</a:t>
                      </a:r>
                    </a:p>
                  </a:txBody>
                  <a:tcPr marL="73152" marR="73152" marT="27432" marB="27432">
                    <a:solidFill>
                      <a:srgbClr val="1F2932"/>
                    </a:solidFill>
                  </a:tcPr>
                </a:tc>
                <a:tc>
                  <a:txBody>
                    <a:bodyPr wrap="square"/>
                    <a:lstStyle/>
                    <a:p>
                      <a:pPr algn="l"/>
                      <a:r>
                        <a:rPr sz="1000" b="1">
                          <a:solidFill>
                            <a:srgbClr val="B2B8C1"/>
                          </a:solidFill>
                          <a:latin typeface="Calibri"/>
                        </a:rPr>
                        <a:t>b / SD</a:t>
                      </a:r>
                    </a:p>
                  </a:txBody>
                  <a:tcPr marL="73152" marR="73152" marT="27432" marB="27432">
                    <a:solidFill>
                      <a:srgbClr val="1F2932"/>
                    </a:solidFill>
                  </a:tcPr>
                </a:tc>
                <a:tc>
                  <a:txBody>
                    <a:bodyPr wrap="square"/>
                    <a:lstStyle/>
                    <a:p>
                      <a:pPr algn="l"/>
                      <a:r>
                        <a:rPr sz="1000" b="1">
                          <a:solidFill>
                            <a:srgbClr val="B2B8C1"/>
                          </a:solidFill>
                          <a:latin typeface="Calibri"/>
                        </a:rPr>
                        <a:t>CR2 / wild p</a:t>
                      </a:r>
                    </a:p>
                  </a:txBody>
                  <a:tcPr marL="73152" marR="73152" marT="27432" marB="27432">
                    <a:solidFill>
                      <a:srgbClr val="1F2932"/>
                    </a:solidFill>
                  </a:tcPr>
                </a:tc>
              </a:tr>
              <a:tr h="365760">
                <a:tc>
                  <a:txBody>
                    <a:bodyPr wrap="square"/>
                    <a:lstStyle/>
                    <a:p>
                      <a:r>
                        <a:rPr sz="1100" b="0">
                          <a:solidFill>
                            <a:srgbClr val="E7E9EC"/>
                          </a:solidFill>
                          <a:latin typeface="Calibri"/>
                        </a:rPr>
                        <a:t>Election distrust</a:t>
                      </a:r>
                    </a:p>
                  </a:txBody>
                  <a:tcPr marL="73152" marR="73152" marT="27432" marB="27432">
                    <a:solidFill>
                      <a:srgbClr val="1B1F25"/>
                    </a:solidFill>
                  </a:tcPr>
                </a:tc>
                <a:tc>
                  <a:txBody>
                    <a:bodyPr wrap="square"/>
                    <a:lstStyle/>
                    <a:p>
                      <a:pPr algn="r"/>
                      <a:r>
                        <a:rPr sz="1100" b="1">
                          <a:solidFill>
                            <a:srgbClr val="CF7272"/>
                          </a:solidFill>
                          <a:latin typeface="Calibri"/>
                        </a:rPr>
                        <a:t>+0.267</a:t>
                      </a:r>
                    </a:p>
                  </a:txBody>
                  <a:tcPr marL="73152" marR="73152" marT="27432" marB="27432">
                    <a:solidFill>
                      <a:srgbClr val="1B1F25"/>
                    </a:solidFill>
                  </a:tcPr>
                </a:tc>
                <a:tc>
                  <a:txBody>
                    <a:bodyPr wrap="square"/>
                    <a:lstStyle/>
                    <a:p>
                      <a:pPr algn="r"/>
                      <a:r>
                        <a:rPr sz="1100" b="0">
                          <a:solidFill>
                            <a:srgbClr val="E7E9EC"/>
                          </a:solidFill>
                          <a:latin typeface="Calibri"/>
                        </a:rPr>
                        <a:t>&lt; .001 / &lt; .001</a:t>
                      </a:r>
                    </a:p>
                  </a:txBody>
                  <a:tcPr marL="73152" marR="73152" marT="27432" marB="27432">
                    <a:solidFill>
                      <a:srgbClr val="1B1F25"/>
                    </a:solidFill>
                  </a:tcPr>
                </a:tc>
              </a:tr>
              <a:tr h="365760">
                <a:tc>
                  <a:txBody>
                    <a:bodyPr wrap="square"/>
                    <a:lstStyle/>
                    <a:p>
                      <a:r>
                        <a:rPr sz="1100" b="0">
                          <a:solidFill>
                            <a:srgbClr val="E7E9EC"/>
                          </a:solidFill>
                          <a:latin typeface="Calibri"/>
                        </a:rPr>
                        <a:t>Institutional cynicism</a:t>
                      </a:r>
                    </a:p>
                  </a:txBody>
                  <a:tcPr marL="73152" marR="73152" marT="27432" marB="27432">
                    <a:solidFill>
                      <a:srgbClr val="171B21"/>
                    </a:solidFill>
                  </a:tcPr>
                </a:tc>
                <a:tc>
                  <a:txBody>
                    <a:bodyPr wrap="square"/>
                    <a:lstStyle/>
                    <a:p>
                      <a:pPr algn="r"/>
                      <a:r>
                        <a:rPr sz="1100" b="1">
                          <a:solidFill>
                            <a:srgbClr val="CF7272"/>
                          </a:solidFill>
                          <a:latin typeface="Calibri"/>
                        </a:rPr>
                        <a:t>+0.221</a:t>
                      </a:r>
                    </a:p>
                  </a:txBody>
                  <a:tcPr marL="73152" marR="73152" marT="27432" marB="27432">
                    <a:solidFill>
                      <a:srgbClr val="171B21"/>
                    </a:solidFill>
                  </a:tcPr>
                </a:tc>
                <a:tc>
                  <a:txBody>
                    <a:bodyPr wrap="square"/>
                    <a:lstStyle/>
                    <a:p>
                      <a:pPr algn="r"/>
                      <a:r>
                        <a:rPr sz="1100" b="0">
                          <a:solidFill>
                            <a:srgbClr val="E7E9EC"/>
                          </a:solidFill>
                          <a:latin typeface="Calibri"/>
                        </a:rPr>
                        <a:t>.005 / &lt; .001</a:t>
                      </a:r>
                    </a:p>
                  </a:txBody>
                  <a:tcPr marL="73152" marR="73152" marT="27432" marB="27432">
                    <a:solidFill>
                      <a:srgbClr val="171B21"/>
                    </a:solidFill>
                  </a:tcPr>
                </a:tc>
              </a:tr>
              <a:tr h="365760">
                <a:tc>
                  <a:txBody>
                    <a:bodyPr wrap="square"/>
                    <a:lstStyle/>
                    <a:p>
                      <a:r>
                        <a:rPr sz="1100" b="0">
                          <a:solidFill>
                            <a:srgbClr val="E7E9EC"/>
                          </a:solidFill>
                          <a:latin typeface="Calibri"/>
                        </a:rPr>
                        <a:t>Disaffection</a:t>
                      </a:r>
                    </a:p>
                  </a:txBody>
                  <a:tcPr marL="73152" marR="73152" marT="27432" marB="27432">
                    <a:solidFill>
                      <a:srgbClr val="1B1F25"/>
                    </a:solidFill>
                  </a:tcPr>
                </a:tc>
                <a:tc>
                  <a:txBody>
                    <a:bodyPr wrap="square"/>
                    <a:lstStyle/>
                    <a:p>
                      <a:pPr algn="r"/>
                      <a:r>
                        <a:rPr sz="1100" b="1">
                          <a:solidFill>
                            <a:srgbClr val="CF7272"/>
                          </a:solidFill>
                          <a:latin typeface="Calibri"/>
                        </a:rPr>
                        <a:t>+0.159</a:t>
                      </a:r>
                    </a:p>
                  </a:txBody>
                  <a:tcPr marL="73152" marR="73152" marT="27432" marB="27432">
                    <a:solidFill>
                      <a:srgbClr val="1B1F25"/>
                    </a:solidFill>
                  </a:tcPr>
                </a:tc>
                <a:tc>
                  <a:txBody>
                    <a:bodyPr wrap="square"/>
                    <a:lstStyle/>
                    <a:p>
                      <a:pPr algn="r"/>
                      <a:r>
                        <a:rPr sz="1100" b="0">
                          <a:solidFill>
                            <a:srgbClr val="E7E9EC"/>
                          </a:solidFill>
                          <a:latin typeface="Calibri"/>
                        </a:rPr>
                        <a:t>&lt; .001 / .003</a:t>
                      </a:r>
                    </a:p>
                  </a:txBody>
                  <a:tcPr marL="73152" marR="73152" marT="27432" marB="27432">
                    <a:solidFill>
                      <a:srgbClr val="1B1F25"/>
                    </a:solidFill>
                  </a:tcPr>
                </a:tc>
              </a:tr>
              <a:tr h="365760">
                <a:tc>
                  <a:txBody>
                    <a:bodyPr wrap="square"/>
                    <a:lstStyle/>
                    <a:p>
                      <a:r>
                        <a:rPr sz="1100" b="0">
                          <a:solidFill>
                            <a:srgbClr val="E7E9EC"/>
                          </a:solidFill>
                          <a:latin typeface="Calibri"/>
                        </a:rPr>
                        <a:t>Economic grievance</a:t>
                      </a:r>
                    </a:p>
                  </a:txBody>
                  <a:tcPr marL="73152" marR="73152" marT="27432" marB="27432">
                    <a:solidFill>
                      <a:srgbClr val="171B21"/>
                    </a:solidFill>
                  </a:tcPr>
                </a:tc>
                <a:tc>
                  <a:txBody>
                    <a:bodyPr wrap="square"/>
                    <a:lstStyle/>
                    <a:p>
                      <a:pPr algn="r"/>
                      <a:r>
                        <a:rPr sz="1100" b="1">
                          <a:solidFill>
                            <a:srgbClr val="CF7272"/>
                          </a:solidFill>
                          <a:latin typeface="Calibri"/>
                        </a:rPr>
                        <a:t>+0.182</a:t>
                      </a:r>
                    </a:p>
                  </a:txBody>
                  <a:tcPr marL="73152" marR="73152" marT="27432" marB="27432">
                    <a:solidFill>
                      <a:srgbClr val="171B21"/>
                    </a:solidFill>
                  </a:tcPr>
                </a:tc>
                <a:tc>
                  <a:txBody>
                    <a:bodyPr wrap="square"/>
                    <a:lstStyle/>
                    <a:p>
                      <a:pPr algn="r"/>
                      <a:r>
                        <a:rPr sz="1100" b="0">
                          <a:solidFill>
                            <a:srgbClr val="E7E9EC"/>
                          </a:solidFill>
                          <a:latin typeface="Calibri"/>
                        </a:rPr>
                        <a:t>.007 / .005</a:t>
                      </a:r>
                    </a:p>
                  </a:txBody>
                  <a:tcPr marL="73152" marR="73152" marT="27432" marB="27432">
                    <a:solidFill>
                      <a:srgbClr val="171B21"/>
                    </a:solidFill>
                  </a:tcPr>
                </a:tc>
              </a:tr>
              <a:tr h="365760">
                <a:tc>
                  <a:txBody>
                    <a:bodyPr wrap="square"/>
                    <a:lstStyle/>
                    <a:p>
                      <a:r>
                        <a:rPr sz="1100" b="0">
                          <a:solidFill>
                            <a:srgbClr val="E7E9EC"/>
                          </a:solidFill>
                          <a:latin typeface="Calibri"/>
                        </a:rPr>
                        <a:t>Exclusivity</a:t>
                      </a:r>
                    </a:p>
                  </a:txBody>
                  <a:tcPr marL="73152" marR="73152" marT="27432" marB="27432">
                    <a:solidFill>
                      <a:srgbClr val="1B1F25"/>
                    </a:solidFill>
                  </a:tcPr>
                </a:tc>
                <a:tc>
                  <a:txBody>
                    <a:bodyPr wrap="square"/>
                    <a:lstStyle/>
                    <a:p>
                      <a:pPr algn="r"/>
                      <a:r>
                        <a:rPr sz="1100" b="1">
                          <a:solidFill>
                            <a:srgbClr val="CF7272"/>
                          </a:solidFill>
                          <a:latin typeface="Calibri"/>
                        </a:rPr>
                        <a:t>+0.089</a:t>
                      </a:r>
                    </a:p>
                  </a:txBody>
                  <a:tcPr marL="73152" marR="73152" marT="27432" marB="27432">
                    <a:solidFill>
                      <a:srgbClr val="1B1F25"/>
                    </a:solidFill>
                  </a:tcPr>
                </a:tc>
                <a:tc>
                  <a:txBody>
                    <a:bodyPr wrap="square"/>
                    <a:lstStyle/>
                    <a:p>
                      <a:pPr algn="r"/>
                      <a:r>
                        <a:rPr sz="1100" b="0">
                          <a:solidFill>
                            <a:srgbClr val="E7E9EC"/>
                          </a:solidFill>
                          <a:latin typeface="Calibri"/>
                        </a:rPr>
                        <a:t>.066 / .055</a:t>
                      </a:r>
                    </a:p>
                  </a:txBody>
                  <a:tcPr marL="73152" marR="73152" marT="27432" marB="27432">
                    <a:solidFill>
                      <a:srgbClr val="1B1F25"/>
                    </a:solidFill>
                  </a:tcPr>
                </a:tc>
              </a:tr>
            </a:tbl>
          </a:graphicData>
        </a:graphic>
      </p:graphicFrame>
      <p:sp>
        <p:nvSpPr>
          <p:cNvPr id="9" name="TextBox 8"/>
          <p:cNvSpPr txBox="1"/>
          <p:nvPr/>
        </p:nvSpPr>
        <p:spPr>
          <a:xfrm>
            <a:off x="8046720" y="4480560"/>
            <a:ext cx="3474720" cy="1463040"/>
          </a:xfrm>
          <a:prstGeom prst="rect">
            <a:avLst/>
          </a:prstGeom>
          <a:noFill/>
        </p:spPr>
        <p:txBody>
          <a:bodyPr wrap="square" anchor="t" lIns="0" rIns="0" tIns="0" bIns="0">
            <a:spAutoFit/>
          </a:bodyPr>
          <a:lstStyle/>
          <a:p>
            <a:pPr algn="l">
              <a:lnSpc>
                <a:spcPct val="115000"/>
              </a:lnSpc>
              <a:spcAft>
                <a:spcPts val="600"/>
              </a:spcAft>
            </a:pPr>
            <a:r>
              <a:rPr sz="1100" b="0" i="0">
                <a:solidFill>
                  <a:srgbClr val="B2B8C1"/>
                </a:solidFill>
                <a:latin typeface="Calibri"/>
              </a:rPr>
              <a:t>Political podcast = at least 15% of passages political (corpus 10th percentile), applied to corpus and out-of-frame shows alike. Election distrust stays +0.20 to +0.29 at every cutoff from 8% to 30% and survives dropping any show; the six out-of-frame shows carry only 1.7 effective df alone.</a:t>
            </a:r>
          </a:p>
        </p:txBody>
      </p:sp>
      <p:sp>
        <p:nvSpPr>
          <p:cNvPr id="10" name="TextBox 9"/>
          <p:cNvSpPr txBox="1"/>
          <p:nvPr/>
        </p:nvSpPr>
        <p:spPr>
          <a:xfrm>
            <a:off x="731520" y="5349240"/>
            <a:ext cx="6949440" cy="731520"/>
          </a:xfrm>
          <a:prstGeom prst="rect">
            <a:avLst/>
          </a:prstGeom>
          <a:noFill/>
        </p:spPr>
        <p:txBody>
          <a:bodyPr wrap="square" anchor="t" lIns="0" rIns="0" tIns="0" bIns="0">
            <a:spAutoFit/>
          </a:bodyPr>
          <a:lstStyle/>
          <a:p>
            <a:pPr algn="l">
              <a:lnSpc>
                <a:spcPct val="115000"/>
              </a:lnSpc>
              <a:spcAft>
                <a:spcPts val="600"/>
              </a:spcAft>
            </a:pPr>
            <a:r>
              <a:rPr sz="1100" b="0" i="0">
                <a:solidFill>
                  <a:srgbClr val="B2B8C1"/>
                </a:solidFill>
                <a:latin typeface="Calibri"/>
              </a:rPr>
              <a:t>SD per SD of listener-directed address; full controls (party, attention, age, education, gender, race, income, urbanicity, right-wing platforms, show lean, frame). Election distrust and cynicism are the two associations that survive populist vocabulary and ideological intensity in the same model.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1F3F5"/>
        </a:solidFill>
        <a:effectLst/>
      </p:bgPr>
    </p:bg>
    <p:spTree>
      <p:nvGrpSpPr>
        <p:cNvPr id="1" name=""/>
        <p:cNvGrpSpPr/>
        <p:nvPr/>
      </p:nvGrpSpPr>
      <p:grpSpPr/>
      <p:sp>
        <p:nvSpPr>
          <p:cNvPr id="2" name="TextBox 1"/>
          <p:cNvSpPr txBox="1"/>
          <p:nvPr/>
        </p:nvSpPr>
        <p:spPr>
          <a:xfrm>
            <a:off x="731520" y="6400800"/>
            <a:ext cx="8229600" cy="274320"/>
          </a:xfrm>
          <a:prstGeom prst="rect">
            <a:avLst/>
          </a:prstGeom>
          <a:noFill/>
        </p:spPr>
        <p:txBody>
          <a:bodyPr wrap="square" anchor="t" lIns="0" rIns="0" tIns="0" bIns="0">
            <a:spAutoFit/>
          </a:bodyPr>
          <a:lstStyle/>
          <a:p>
            <a:pPr algn="l">
              <a:lnSpc>
                <a:spcPct val="115000"/>
              </a:lnSpc>
              <a:spcAft>
                <a:spcPts val="600"/>
              </a:spcAft>
            </a:pPr>
            <a:r>
              <a:rPr sz="1000" b="0" i="0">
                <a:solidFill>
                  <a:srgbClr val="737B87"/>
                </a:solidFill>
                <a:latin typeface="Calibri"/>
              </a:rPr>
              <a:t>Talking at the Audience  ·  Yang &amp; Alvarez  ·  Linde Center, Caltech</a:t>
            </a:r>
          </a:p>
        </p:txBody>
      </p:sp>
      <p:sp>
        <p:nvSpPr>
          <p:cNvPr id="3" name="TextBox 2"/>
          <p:cNvSpPr txBox="1"/>
          <p:nvPr/>
        </p:nvSpPr>
        <p:spPr>
          <a:xfrm>
            <a:off x="10545775" y="6400800"/>
            <a:ext cx="914400" cy="274320"/>
          </a:xfrm>
          <a:prstGeom prst="rect">
            <a:avLst/>
          </a:prstGeom>
          <a:noFill/>
        </p:spPr>
        <p:txBody>
          <a:bodyPr wrap="square" anchor="t" lIns="0" rIns="0" tIns="0" bIns="0">
            <a:spAutoFit/>
          </a:bodyPr>
          <a:lstStyle/>
          <a:p>
            <a:pPr algn="r">
              <a:lnSpc>
                <a:spcPct val="115000"/>
              </a:lnSpc>
              <a:spcAft>
                <a:spcPts val="600"/>
              </a:spcAft>
            </a:pPr>
            <a:r>
              <a:rPr sz="1000" b="0" i="0">
                <a:solidFill>
                  <a:srgbClr val="737B87"/>
                </a:solidFill>
                <a:latin typeface="Calibri"/>
              </a:rPr>
              <a:t>18</a:t>
            </a:r>
          </a:p>
        </p:txBody>
      </p:sp>
      <p:sp>
        <p:nvSpPr>
          <p:cNvPr id="4" name="TextBox 3"/>
          <p:cNvSpPr txBox="1"/>
          <p:nvPr/>
        </p:nvSpPr>
        <p:spPr>
          <a:xfrm>
            <a:off x="731520" y="411480"/>
            <a:ext cx="7315200" cy="274320"/>
          </a:xfrm>
          <a:prstGeom prst="rect">
            <a:avLst/>
          </a:prstGeom>
          <a:noFill/>
        </p:spPr>
        <p:txBody>
          <a:bodyPr wrap="square" anchor="t" lIns="0" rIns="0" tIns="0" bIns="0">
            <a:spAutoFit/>
          </a:bodyPr>
          <a:lstStyle/>
          <a:p>
            <a:pPr algn="l">
              <a:lnSpc>
                <a:spcPct val="115000"/>
              </a:lnSpc>
              <a:spcAft>
                <a:spcPts val="600"/>
              </a:spcAft>
            </a:pPr>
            <a:r>
              <a:rPr sz="1100" b="1" i="0">
                <a:solidFill>
                  <a:srgbClr val="7A2E2E"/>
                </a:solidFill>
                <a:latin typeface="Calibri"/>
              </a:rPr>
              <a:t>DESIGN</a:t>
            </a:r>
          </a:p>
        </p:txBody>
      </p:sp>
      <p:sp>
        <p:nvSpPr>
          <p:cNvPr id="5" name="TextBox 4"/>
          <p:cNvSpPr txBox="1"/>
          <p:nvPr/>
        </p:nvSpPr>
        <p:spPr>
          <a:xfrm>
            <a:off x="731520" y="731520"/>
            <a:ext cx="10728655" cy="1097280"/>
          </a:xfrm>
          <a:prstGeom prst="rect">
            <a:avLst/>
          </a:prstGeom>
          <a:noFill/>
        </p:spPr>
        <p:txBody>
          <a:bodyPr wrap="square" anchor="t" lIns="0" rIns="0" tIns="0" bIns="0">
            <a:spAutoFit/>
          </a:bodyPr>
          <a:lstStyle/>
          <a:p>
            <a:pPr algn="l">
              <a:lnSpc>
                <a:spcPct val="105000"/>
              </a:lnSpc>
              <a:spcAft>
                <a:spcPts val="600"/>
              </a:spcAft>
            </a:pPr>
            <a:r>
              <a:rPr sz="3400" b="0" i="0">
                <a:solidFill>
                  <a:srgbClr val="14171C"/>
                </a:solidFill>
                <a:latin typeface="Georgia"/>
              </a:rPr>
              <a:t>What was pre-registered, and what happened</a:t>
            </a:r>
          </a:p>
        </p:txBody>
      </p:sp>
      <p:sp>
        <p:nvSpPr>
          <p:cNvPr id="6" name="Rectangle 5"/>
          <p:cNvSpPr/>
          <p:nvPr/>
        </p:nvSpPr>
        <p:spPr>
          <a:xfrm>
            <a:off x="731520" y="1417320"/>
            <a:ext cx="822960" cy="28000"/>
          </a:xfrm>
          <a:prstGeom prst="rect">
            <a:avLst/>
          </a:prstGeom>
          <a:solidFill>
            <a:srgbClr val="7A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731520" y="2011680"/>
          <a:ext cx="10698480" cy="2926080"/>
        </p:xfrm>
        <a:graphic>
          <a:graphicData uri="http://schemas.openxmlformats.org/drawingml/2006/table">
            <a:tbl>
              <a:tblPr firstRow="1" bandRow="1">
                <a:tableStyleId>{5C22544A-7EE6-4342-B048-85BDC9FD1C3A}</a:tableStyleId>
              </a:tblPr>
              <a:tblGrid>
                <a:gridCol w="4206240"/>
                <a:gridCol w="3657600"/>
                <a:gridCol w="2834640"/>
              </a:tblGrid>
              <a:tr h="731520">
                <a:tc>
                  <a:txBody>
                    <a:bodyPr wrap="square"/>
                    <a:lstStyle/>
                    <a:p>
                      <a:r>
                        <a:rPr sz="1100" b="1">
                          <a:solidFill>
                            <a:srgbClr val="434A55"/>
                          </a:solidFill>
                          <a:latin typeface="Calibri"/>
                        </a:rPr>
                        <a:t>Test</a:t>
                      </a:r>
                    </a:p>
                  </a:txBody>
                  <a:tcPr marL="73152" marR="73152" marT="27432" marB="27432">
                    <a:solidFill>
                      <a:srgbClr val="E4EAF0"/>
                    </a:solidFill>
                  </a:tcPr>
                </a:tc>
                <a:tc>
                  <a:txBody>
                    <a:bodyPr wrap="square"/>
                    <a:lstStyle/>
                    <a:p>
                      <a:pPr algn="l"/>
                      <a:r>
                        <a:rPr sz="1100" b="1">
                          <a:solidFill>
                            <a:srgbClr val="434A55"/>
                          </a:solidFill>
                          <a:latin typeface="Calibri"/>
                        </a:rPr>
                        <a:t>Frozen</a:t>
                      </a:r>
                    </a:p>
                  </a:txBody>
                  <a:tcPr marL="73152" marR="73152" marT="27432" marB="27432">
                    <a:solidFill>
                      <a:srgbClr val="E4EAF0"/>
                    </a:solidFill>
                  </a:tcPr>
                </a:tc>
                <a:tc>
                  <a:txBody>
                    <a:bodyPr wrap="square"/>
                    <a:lstStyle/>
                    <a:p>
                      <a:pPr algn="l"/>
                      <a:r>
                        <a:rPr sz="1100" b="1">
                          <a:solidFill>
                            <a:srgbClr val="434A55"/>
                          </a:solidFill>
                          <a:latin typeface="Calibri"/>
                        </a:rPr>
                        <a:t>Outcome</a:t>
                      </a:r>
                    </a:p>
                  </a:txBody>
                  <a:tcPr marL="73152" marR="73152" marT="27432" marB="27432">
                    <a:solidFill>
                      <a:srgbClr val="E4EAF0"/>
                    </a:solidFill>
                  </a:tcPr>
                </a:tc>
              </a:tr>
              <a:tr h="731520">
                <a:tc>
                  <a:txBody>
                    <a:bodyPr wrap="square"/>
                    <a:lstStyle/>
                    <a:p>
                      <a:r>
                        <a:rPr sz="1200" b="0">
                          <a:solidFill>
                            <a:srgbClr val="14171C"/>
                          </a:solidFill>
                          <a:latin typeface="Calibri"/>
                        </a:rPr>
                        <a:t>Out-of-frame generalization: address → cynicism among 749 fresh listeners of ten large chart-absent shows</a:t>
                      </a:r>
                    </a:p>
                  </a:txBody>
                  <a:tcPr marL="73152" marR="73152" marT="27432" marB="27432">
                    <a:solidFill>
                      <a:srgbClr val="FAFBFC"/>
                    </a:solidFill>
                  </a:tcPr>
                </a:tc>
                <a:tc>
                  <a:txBody>
                    <a:bodyPr wrap="square"/>
                    <a:lstStyle/>
                    <a:p>
                      <a:pPr algn="r"/>
                      <a:r>
                        <a:rPr sz="1200" b="0">
                          <a:solidFill>
                            <a:srgbClr val="14171C"/>
                          </a:solidFill>
                          <a:latin typeface="Calibri"/>
                        </a:rPr>
                        <a:t>2 Sept 2026, hashed, before any audio was fetched; two amendments filed before any outcome was opened</a:t>
                      </a:r>
                    </a:p>
                  </a:txBody>
                  <a:tcPr marL="73152" marR="73152" marT="27432" marB="27432">
                    <a:solidFill>
                      <a:srgbClr val="FAFBFC"/>
                    </a:solidFill>
                  </a:tcPr>
                </a:tc>
                <a:tc>
                  <a:txBody>
                    <a:bodyPr wrap="square"/>
                    <a:lstStyle/>
                    <a:p>
                      <a:pPr algn="l"/>
                      <a:r>
                        <a:rPr sz="1200" b="0">
                          <a:solidFill>
                            <a:srgbClr val="14171C"/>
                          </a:solidFill>
                          <a:latin typeface="Calibri"/>
                        </a:rPr>
                        <a:t>Did not pass (b = −0.001; Rogan-excluded +0.22, p = .08). Reported as a result.</a:t>
                      </a:r>
                    </a:p>
                  </a:txBody>
                  <a:tcPr marL="73152" marR="73152" marT="27432" marB="27432">
                    <a:solidFill>
                      <a:srgbClr val="FAFBFC"/>
                    </a:solidFill>
                  </a:tcPr>
                </a:tc>
              </a:tr>
              <a:tr h="731520">
                <a:tc>
                  <a:txBody>
                    <a:bodyPr wrap="square"/>
                    <a:lstStyle/>
                    <a:p>
                      <a:r>
                        <a:rPr sz="1200" b="0">
                          <a:solidFill>
                            <a:srgbClr val="14171C"/>
                          </a:solidFill>
                          <a:latin typeface="Calibri"/>
                        </a:rPr>
                        <a:t>Within-frame fresh-listener test: 150 corpus-show listeners recovered by re-scan</a:t>
                      </a:r>
                    </a:p>
                  </a:txBody>
                  <a:tcPr marL="73152" marR="73152" marT="27432" marB="27432">
                    <a:solidFill>
                      <a:srgbClr val="F1F3F5"/>
                    </a:solidFill>
                  </a:tcPr>
                </a:tc>
                <a:tc>
                  <a:txBody>
                    <a:bodyPr wrap="square"/>
                    <a:lstStyle/>
                    <a:p>
                      <a:pPr algn="r"/>
                      <a:r>
                        <a:rPr sz="1200" b="0">
                          <a:solidFill>
                            <a:srgbClr val="14171C"/>
                          </a:solidFill>
                          <a:latin typeface="Calibri"/>
                        </a:rPr>
                        <a:t>3 Sept 2026, before outcomes; Majority Report scored blind</a:t>
                      </a:r>
                    </a:p>
                  </a:txBody>
                  <a:tcPr marL="73152" marR="73152" marT="27432" marB="27432">
                    <a:solidFill>
                      <a:srgbClr val="F1F3F5"/>
                    </a:solidFill>
                  </a:tcPr>
                </a:tc>
                <a:tc>
                  <a:txBody>
                    <a:bodyPr wrap="square"/>
                    <a:lstStyle/>
                    <a:p>
                      <a:pPr algn="l"/>
                      <a:r>
                        <a:rPr sz="1200" b="0">
                          <a:solidFill>
                            <a:srgbClr val="14171C"/>
                          </a:solidFill>
                          <a:latin typeface="Calibri"/>
                        </a:rPr>
                        <a:t>Did not pass (b = −0.06).</a:t>
                      </a:r>
                    </a:p>
                  </a:txBody>
                  <a:tcPr marL="73152" marR="73152" marT="27432" marB="27432">
                    <a:solidFill>
                      <a:srgbClr val="F1F3F5"/>
                    </a:solidFill>
                  </a:tcPr>
                </a:tc>
              </a:tr>
              <a:tr h="731520">
                <a:tc>
                  <a:txBody>
                    <a:bodyPr wrap="square"/>
                    <a:lstStyle/>
                    <a:p>
                      <a:r>
                        <a:rPr sz="1200" b="0">
                          <a:solidFill>
                            <a:srgbClr val="14171C"/>
                          </a:solidFill>
                          <a:latin typeface="Calibri"/>
                        </a:rPr>
                        <a:t>Q28 free-text test (‘what does democracy mean to you’)</a:t>
                      </a:r>
                    </a:p>
                  </a:txBody>
                  <a:tcPr marL="73152" marR="73152" marT="27432" marB="27432">
                    <a:solidFill>
                      <a:srgbClr val="FAFBFC"/>
                    </a:solidFill>
                  </a:tcPr>
                </a:tc>
                <a:tc>
                  <a:txBody>
                    <a:bodyPr wrap="square"/>
                    <a:lstStyle/>
                    <a:p>
                      <a:pPr algn="l"/>
                      <a:r>
                        <a:rPr sz="1200" b="0">
                          <a:solidFill>
                            <a:srgbClr val="14171C"/>
                          </a:solidFill>
                          <a:latin typeface="Calibri"/>
                        </a:rPr>
                        <a:t>Timestamped before the variable was opened</a:t>
                      </a:r>
                    </a:p>
                  </a:txBody>
                  <a:tcPr marL="73152" marR="73152" marT="27432" marB="27432">
                    <a:solidFill>
                      <a:srgbClr val="FAFBFC"/>
                    </a:solidFill>
                  </a:tcPr>
                </a:tc>
                <a:tc>
                  <a:txBody>
                    <a:bodyPr wrap="square"/>
                    <a:lstStyle/>
                    <a:p>
                      <a:pPr algn="l"/>
                      <a:r>
                        <a:rPr sz="1200" b="0">
                          <a:solidFill>
                            <a:srgbClr val="14171C"/>
                          </a:solidFill>
                          <a:latin typeface="Calibri"/>
                        </a:rPr>
                        <a:t>Did not pass (p = .125).</a:t>
                      </a:r>
                    </a:p>
                  </a:txBody>
                  <a:tcPr marL="73152" marR="73152" marT="27432" marB="27432">
                    <a:solidFill>
                      <a:srgbClr val="FAFBFC"/>
                    </a:solidFill>
                  </a:tcPr>
                </a:tc>
              </a:tr>
            </a:tbl>
          </a:graphicData>
        </a:graphic>
      </p:graphicFrame>
      <p:sp>
        <p:nvSpPr>
          <p:cNvPr id="8" name="TextBox 7"/>
          <p:cNvSpPr txBox="1"/>
          <p:nvPr/>
        </p:nvSpPr>
        <p:spPr>
          <a:xfrm>
            <a:off x="731520" y="4754880"/>
            <a:ext cx="10728655" cy="1371600"/>
          </a:xfrm>
          <a:prstGeom prst="rect">
            <a:avLst/>
          </a:prstGeom>
          <a:noFill/>
        </p:spPr>
        <p:txBody>
          <a:bodyPr wrap="square" anchor="t" lIns="0" rIns="0" tIns="0" bIns="0">
            <a:spAutoFit/>
          </a:bodyPr>
          <a:lstStyle/>
          <a:p>
            <a:pPr algn="l">
              <a:lnSpc>
                <a:spcPct val="115000"/>
              </a:lnSpc>
              <a:spcAft>
                <a:spcPts val="1000"/>
              </a:spcAft>
            </a:pPr>
            <a:r>
              <a:rPr sz="1500" b="1" i="0">
                <a:solidFill>
                  <a:srgbClr val="14171C"/>
                </a:solidFill>
                <a:latin typeface="Calibri"/>
              </a:rPr>
              <a:t>Everything after those tests is labelled exploratory: </a:t>
            </a:r>
            <a:r>
              <a:rPr sz="1500" b="0" i="0">
                <a:solidFill>
                  <a:srgbClr val="14171C"/>
                </a:solidFill>
                <a:latin typeface="Calibri"/>
              </a:rPr>
              <a:t>the political-content frame, the education-composition result, and the comparison with populist vocabulary and ideological intensity were found by searching and are reported with the search disclosed (an outcome-scan family table is in the methods).</a:t>
            </a:r>
          </a:p>
          <a:p>
            <a:pPr algn="l">
              <a:lnSpc>
                <a:spcPct val="115000"/>
              </a:lnSpc>
              <a:spcAft>
                <a:spcPts val="1000"/>
              </a:spcAft>
            </a:pPr>
            <a:r>
              <a:rPr sz="1500" b="0" i="0">
                <a:solidFill>
                  <a:srgbClr val="434A55"/>
                </a:solidFill>
                <a:latin typeface="Calibri"/>
              </a:rPr>
              <a:t>The three content features inter-correlate at 0.4–0.5; with about 56 clusters we do not claim to have adjudicated among them beyond finding 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1F3F5"/>
        </a:solidFill>
        <a:effectLst/>
      </p:bgPr>
    </p:bg>
    <p:spTree>
      <p:nvGrpSpPr>
        <p:cNvPr id="1" name=""/>
        <p:cNvGrpSpPr/>
        <p:nvPr/>
      </p:nvGrpSpPr>
      <p:grpSpPr/>
      <p:sp>
        <p:nvSpPr>
          <p:cNvPr id="2" name="TextBox 1"/>
          <p:cNvSpPr txBox="1"/>
          <p:nvPr/>
        </p:nvSpPr>
        <p:spPr>
          <a:xfrm>
            <a:off x="731520" y="6400800"/>
            <a:ext cx="8229600" cy="274320"/>
          </a:xfrm>
          <a:prstGeom prst="rect">
            <a:avLst/>
          </a:prstGeom>
          <a:noFill/>
        </p:spPr>
        <p:txBody>
          <a:bodyPr wrap="square" anchor="t" lIns="0" rIns="0" tIns="0" bIns="0">
            <a:spAutoFit/>
          </a:bodyPr>
          <a:lstStyle/>
          <a:p>
            <a:pPr algn="l">
              <a:lnSpc>
                <a:spcPct val="115000"/>
              </a:lnSpc>
              <a:spcAft>
                <a:spcPts val="600"/>
              </a:spcAft>
            </a:pPr>
            <a:r>
              <a:rPr sz="1000" b="0" i="0">
                <a:solidFill>
                  <a:srgbClr val="737B87"/>
                </a:solidFill>
                <a:latin typeface="Calibri"/>
              </a:rPr>
              <a:t>Talking at the Audience  ·  Yang &amp; Alvarez  ·  Linde Center, Caltech</a:t>
            </a:r>
          </a:p>
        </p:txBody>
      </p:sp>
      <p:sp>
        <p:nvSpPr>
          <p:cNvPr id="3" name="TextBox 2"/>
          <p:cNvSpPr txBox="1"/>
          <p:nvPr/>
        </p:nvSpPr>
        <p:spPr>
          <a:xfrm>
            <a:off x="10545775" y="6400800"/>
            <a:ext cx="914400" cy="274320"/>
          </a:xfrm>
          <a:prstGeom prst="rect">
            <a:avLst/>
          </a:prstGeom>
          <a:noFill/>
        </p:spPr>
        <p:txBody>
          <a:bodyPr wrap="square" anchor="t" lIns="0" rIns="0" tIns="0" bIns="0">
            <a:spAutoFit/>
          </a:bodyPr>
          <a:lstStyle/>
          <a:p>
            <a:pPr algn="r">
              <a:lnSpc>
                <a:spcPct val="115000"/>
              </a:lnSpc>
              <a:spcAft>
                <a:spcPts val="600"/>
              </a:spcAft>
            </a:pPr>
            <a:r>
              <a:rPr sz="1000" b="0" i="0">
                <a:solidFill>
                  <a:srgbClr val="737B87"/>
                </a:solidFill>
                <a:latin typeface="Calibri"/>
              </a:rPr>
              <a:t>19</a:t>
            </a:r>
          </a:p>
        </p:txBody>
      </p:sp>
      <p:sp>
        <p:nvSpPr>
          <p:cNvPr id="4" name="TextBox 3"/>
          <p:cNvSpPr txBox="1"/>
          <p:nvPr/>
        </p:nvSpPr>
        <p:spPr>
          <a:xfrm>
            <a:off x="731520" y="411480"/>
            <a:ext cx="7315200" cy="274320"/>
          </a:xfrm>
          <a:prstGeom prst="rect">
            <a:avLst/>
          </a:prstGeom>
          <a:noFill/>
        </p:spPr>
        <p:txBody>
          <a:bodyPr wrap="square" anchor="t" lIns="0" rIns="0" tIns="0" bIns="0">
            <a:spAutoFit/>
          </a:bodyPr>
          <a:lstStyle/>
          <a:p>
            <a:pPr algn="l">
              <a:lnSpc>
                <a:spcPct val="115000"/>
              </a:lnSpc>
              <a:spcAft>
                <a:spcPts val="600"/>
              </a:spcAft>
            </a:pPr>
            <a:r>
              <a:rPr sz="1100" b="1" i="0">
                <a:solidFill>
                  <a:srgbClr val="7A2E2E"/>
                </a:solidFill>
                <a:latin typeface="Calibri"/>
              </a:rPr>
              <a:t>LIMITS</a:t>
            </a:r>
          </a:p>
        </p:txBody>
      </p:sp>
      <p:sp>
        <p:nvSpPr>
          <p:cNvPr id="5" name="TextBox 4"/>
          <p:cNvSpPr txBox="1"/>
          <p:nvPr/>
        </p:nvSpPr>
        <p:spPr>
          <a:xfrm>
            <a:off x="731520" y="731520"/>
            <a:ext cx="10728655" cy="1097280"/>
          </a:xfrm>
          <a:prstGeom prst="rect">
            <a:avLst/>
          </a:prstGeom>
          <a:noFill/>
        </p:spPr>
        <p:txBody>
          <a:bodyPr wrap="square" anchor="t" lIns="0" rIns="0" tIns="0" bIns="0">
            <a:spAutoFit/>
          </a:bodyPr>
          <a:lstStyle/>
          <a:p>
            <a:pPr algn="l">
              <a:lnSpc>
                <a:spcPct val="105000"/>
              </a:lnSpc>
              <a:spcAft>
                <a:spcPts val="600"/>
              </a:spcAft>
            </a:pPr>
            <a:r>
              <a:rPr sz="3400" b="0" i="0">
                <a:solidFill>
                  <a:srgbClr val="14171C"/>
                </a:solidFill>
                <a:latin typeface="Georgia"/>
              </a:rPr>
              <a:t>Scope and limitations</a:t>
            </a:r>
          </a:p>
        </p:txBody>
      </p:sp>
      <p:sp>
        <p:nvSpPr>
          <p:cNvPr id="6" name="Rectangle 5"/>
          <p:cNvSpPr/>
          <p:nvPr/>
        </p:nvSpPr>
        <p:spPr>
          <a:xfrm>
            <a:off x="731520" y="1417320"/>
            <a:ext cx="822960" cy="28000"/>
          </a:xfrm>
          <a:prstGeom prst="rect">
            <a:avLst/>
          </a:prstGeom>
          <a:solidFill>
            <a:srgbClr val="7A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011680"/>
            <a:ext cx="10698480" cy="4206240"/>
          </a:xfrm>
          <a:prstGeom prst="rect">
            <a:avLst/>
          </a:prstGeom>
          <a:noFill/>
        </p:spPr>
        <p:txBody>
          <a:bodyPr wrap="square" lIns="0" rIns="0" tIns="0" bIns="0">
            <a:spAutoFit/>
          </a:bodyPr>
          <a:lstStyle/>
          <a:p>
            <a:pPr>
              <a:lnSpc>
                <a:spcPct val="112000"/>
              </a:lnSpc>
              <a:spcAft>
                <a:spcPts val="1000"/>
              </a:spcAft>
            </a:pPr>
            <a:r>
              <a:rPr sz="1500">
                <a:solidFill>
                  <a:srgbClr val="7A2E2E"/>
                </a:solidFill>
                <a:latin typeface="Calibri"/>
              </a:rPr>
              <a:t>•  </a:t>
            </a:r>
            <a:r>
              <a:rPr sz="1500" b="1" i="0">
                <a:solidFill>
                  <a:srgbClr val="14171C"/>
                </a:solidFill>
                <a:latin typeface="Calibri"/>
              </a:rPr>
              <a:t>Association, not effect. </a:t>
            </a:r>
            <a:r>
              <a:rPr sz="1500" b="0" i="0">
                <a:solidFill>
                  <a:srgbClr val="14171C"/>
                </a:solidFill>
                <a:latin typeface="Calibri"/>
              </a:rPr>
              <a:t>People choose their podcasts. The Pew lag gives temporal order, not identification. No dose–response on any attitude; the education gradient sharpens with dose, which is what selection predicts.</a:t>
            </a:r>
          </a:p>
          <a:p>
            <a:pPr>
              <a:lnSpc>
                <a:spcPct val="112000"/>
              </a:lnSpc>
              <a:spcAft>
                <a:spcPts val="1000"/>
              </a:spcAft>
            </a:pPr>
            <a:r>
              <a:rPr sz="1500">
                <a:solidFill>
                  <a:srgbClr val="7A2E2E"/>
                </a:solidFill>
                <a:latin typeface="Calibri"/>
              </a:rPr>
              <a:t>•  </a:t>
            </a:r>
            <a:r>
              <a:rPr sz="1500" b="1" i="0">
                <a:solidFill>
                  <a:srgbClr val="14171C"/>
                </a:solidFill>
                <a:latin typeface="Calibri"/>
              </a:rPr>
              <a:t>Scope. </a:t>
            </a:r>
            <a:r>
              <a:rPr sz="1500" b="0" i="0">
                <a:solidFill>
                  <a:srgbClr val="14171C"/>
                </a:solidFill>
                <a:latin typeface="Calibri"/>
              </a:rPr>
              <a:t>Politics-chart shows plus the six largest political podcasts outside it; population defined by content. The content definition is post hoc and pre-registered for Year 2.</a:t>
            </a:r>
          </a:p>
          <a:p>
            <a:pPr>
              <a:lnSpc>
                <a:spcPct val="112000"/>
              </a:lnSpc>
              <a:spcAft>
                <a:spcPts val="1000"/>
              </a:spcAft>
            </a:pPr>
            <a:r>
              <a:rPr sz="1500">
                <a:solidFill>
                  <a:srgbClr val="7A2E2E"/>
                </a:solidFill>
                <a:latin typeface="Calibri"/>
              </a:rPr>
              <a:t>•  </a:t>
            </a:r>
            <a:r>
              <a:rPr sz="1500" b="1" i="0">
                <a:solidFill>
                  <a:srgbClr val="14171C"/>
                </a:solidFill>
                <a:latin typeface="Calibri"/>
              </a:rPr>
              <a:t>Address is format-sensitive. </a:t>
            </a:r>
            <a:r>
              <a:rPr sz="1500" b="0" i="0">
                <a:solidFill>
                  <a:srgbClr val="14171C"/>
                </a:solidFill>
                <a:latin typeface="Calibri"/>
              </a:rPr>
              <a:t>In interview shows the second person is often addressed to the guest. The partisan contrast survives removing the interrogative component; cross-format levels need diarization, which the archived audio permits.</a:t>
            </a:r>
          </a:p>
          <a:p>
            <a:pPr>
              <a:lnSpc>
                <a:spcPct val="112000"/>
              </a:lnSpc>
              <a:spcAft>
                <a:spcPts val="1000"/>
              </a:spcAft>
            </a:pPr>
            <a:r>
              <a:rPr sz="1500">
                <a:solidFill>
                  <a:srgbClr val="7A2E2E"/>
                </a:solidFill>
                <a:latin typeface="Calibri"/>
              </a:rPr>
              <a:t>•  </a:t>
            </a:r>
            <a:r>
              <a:rPr sz="1500" b="1" i="0">
                <a:solidFill>
                  <a:srgbClr val="14171C"/>
                </a:solidFill>
                <a:latin typeface="Calibri"/>
              </a:rPr>
              <a:t>Content features are collinear. </a:t>
            </a:r>
            <a:r>
              <a:rPr sz="1500" b="0" i="0">
                <a:solidFill>
                  <a:srgbClr val="14171C"/>
                </a:solidFill>
                <a:latin typeface="Calibri"/>
              </a:rPr>
              <a:t>Address, populist vocabulary and ideological intensity co-vary across shows and are jointly associated with audience disaffection; Year 1 ranks them only within the political frame.</a:t>
            </a:r>
          </a:p>
          <a:p>
            <a:pPr>
              <a:lnSpc>
                <a:spcPct val="112000"/>
              </a:lnSpc>
              <a:spcAft>
                <a:spcPts val="1000"/>
              </a:spcAft>
            </a:pPr>
            <a:r>
              <a:rPr sz="1500">
                <a:solidFill>
                  <a:srgbClr val="7A2E2E"/>
                </a:solidFill>
                <a:latin typeface="Calibri"/>
              </a:rPr>
              <a:t>•  </a:t>
            </a:r>
            <a:r>
              <a:rPr sz="1500" b="1" i="0">
                <a:solidFill>
                  <a:srgbClr val="14171C"/>
                </a:solidFill>
                <a:latin typeface="Calibri"/>
              </a:rPr>
              <a:t>Validation gaps. </a:t>
            </a:r>
            <a:r>
              <a:rPr sz="1500" b="0" i="0">
                <a:solidFill>
                  <a:srgbClr val="14171C"/>
                </a:solidFill>
                <a:latin typeface="Calibri"/>
              </a:rPr>
              <a:t>Show labels validated four ways; passage labels not yet human-coded. Ad-excision gold set annotated by an LLM, human re-annotation pending.</a:t>
            </a:r>
          </a:p>
          <a:p>
            <a:pPr>
              <a:lnSpc>
                <a:spcPct val="112000"/>
              </a:lnSpc>
              <a:spcAft>
                <a:spcPts val="1000"/>
              </a:spcAft>
            </a:pPr>
            <a:r>
              <a:rPr sz="1500">
                <a:solidFill>
                  <a:srgbClr val="7A2E2E"/>
                </a:solidFill>
                <a:latin typeface="Calibri"/>
              </a:rPr>
              <a:t>•  </a:t>
            </a:r>
            <a:r>
              <a:rPr sz="1500" b="1" i="0">
                <a:solidFill>
                  <a:srgbClr val="14171C"/>
                </a:solidFill>
                <a:latin typeface="Calibri"/>
              </a:rPr>
              <a:t>Small effective cluster counts, </a:t>
            </a:r>
            <a:r>
              <a:rPr sz="1500" b="0" i="0">
                <a:solidFill>
                  <a:srgbClr val="14171C"/>
                </a:solidFill>
                <a:latin typeface="Calibri"/>
              </a:rPr>
              <a:t>reported honestly through the Satterthwaite df.</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731520" y="6400800"/>
            <a:ext cx="8229600" cy="274320"/>
          </a:xfrm>
          <a:prstGeom prst="rect">
            <a:avLst/>
          </a:prstGeom>
          <a:noFill/>
        </p:spPr>
        <p:txBody>
          <a:bodyPr wrap="square" anchor="t" lIns="0" rIns="0" tIns="0" bIns="0">
            <a:spAutoFit/>
          </a:bodyPr>
          <a:lstStyle/>
          <a:p>
            <a:pPr algn="l">
              <a:lnSpc>
                <a:spcPct val="115000"/>
              </a:lnSpc>
              <a:spcAft>
                <a:spcPts val="600"/>
              </a:spcAft>
            </a:pPr>
            <a:r>
              <a:rPr sz="1000" b="0" i="0">
                <a:solidFill>
                  <a:srgbClr val="737B87"/>
                </a:solidFill>
                <a:latin typeface="Calibri"/>
              </a:rPr>
              <a:t>Talking at the Audience  ·  Yang &amp; Alvarez  ·  Linde Center, Caltech</a:t>
            </a:r>
          </a:p>
        </p:txBody>
      </p:sp>
      <p:sp>
        <p:nvSpPr>
          <p:cNvPr id="3" name="TextBox 2"/>
          <p:cNvSpPr txBox="1"/>
          <p:nvPr/>
        </p:nvSpPr>
        <p:spPr>
          <a:xfrm>
            <a:off x="10545775" y="6400800"/>
            <a:ext cx="914400" cy="274320"/>
          </a:xfrm>
          <a:prstGeom prst="rect">
            <a:avLst/>
          </a:prstGeom>
          <a:noFill/>
        </p:spPr>
        <p:txBody>
          <a:bodyPr wrap="square" anchor="t" lIns="0" rIns="0" tIns="0" bIns="0">
            <a:spAutoFit/>
          </a:bodyPr>
          <a:lstStyle/>
          <a:p>
            <a:pPr algn="r">
              <a:lnSpc>
                <a:spcPct val="115000"/>
              </a:lnSpc>
              <a:spcAft>
                <a:spcPts val="600"/>
              </a:spcAft>
            </a:pPr>
            <a:r>
              <a:rPr sz="1000" b="0" i="0">
                <a:solidFill>
                  <a:srgbClr val="737B87"/>
                </a:solidFill>
                <a:latin typeface="Calibri"/>
              </a:rPr>
              <a:t>20</a:t>
            </a:r>
          </a:p>
        </p:txBody>
      </p:sp>
      <p:sp>
        <p:nvSpPr>
          <p:cNvPr id="4" name="TextBox 3"/>
          <p:cNvSpPr txBox="1"/>
          <p:nvPr/>
        </p:nvSpPr>
        <p:spPr>
          <a:xfrm>
            <a:off x="731520" y="411480"/>
            <a:ext cx="7315200" cy="274320"/>
          </a:xfrm>
          <a:prstGeom prst="rect">
            <a:avLst/>
          </a:prstGeom>
          <a:noFill/>
        </p:spPr>
        <p:txBody>
          <a:bodyPr wrap="square" anchor="t" lIns="0" rIns="0" tIns="0" bIns="0">
            <a:spAutoFit/>
          </a:bodyPr>
          <a:lstStyle/>
          <a:p>
            <a:pPr algn="l">
              <a:lnSpc>
                <a:spcPct val="115000"/>
              </a:lnSpc>
              <a:spcAft>
                <a:spcPts val="600"/>
              </a:spcAft>
            </a:pPr>
            <a:r>
              <a:rPr sz="1100" b="1" i="0">
                <a:solidFill>
                  <a:srgbClr val="CF7272"/>
                </a:solidFill>
                <a:latin typeface="Calibri"/>
              </a:rPr>
              <a:t>TAKEAWAYS</a:t>
            </a:r>
          </a:p>
        </p:txBody>
      </p:sp>
      <p:sp>
        <p:nvSpPr>
          <p:cNvPr id="5" name="TextBox 4"/>
          <p:cNvSpPr txBox="1"/>
          <p:nvPr/>
        </p:nvSpPr>
        <p:spPr>
          <a:xfrm>
            <a:off x="731520" y="731520"/>
            <a:ext cx="10728655" cy="1097280"/>
          </a:xfrm>
          <a:prstGeom prst="rect">
            <a:avLst/>
          </a:prstGeom>
          <a:noFill/>
        </p:spPr>
        <p:txBody>
          <a:bodyPr wrap="square" anchor="t" lIns="0" rIns="0" tIns="0" bIns="0">
            <a:spAutoFit/>
          </a:bodyPr>
          <a:lstStyle/>
          <a:p>
            <a:pPr algn="l">
              <a:lnSpc>
                <a:spcPct val="105000"/>
              </a:lnSpc>
              <a:spcAft>
                <a:spcPts val="600"/>
              </a:spcAft>
            </a:pPr>
            <a:r>
              <a:rPr sz="3400" b="0" i="0">
                <a:solidFill>
                  <a:srgbClr val="E7E9EC"/>
                </a:solidFill>
                <a:latin typeface="Georgia"/>
              </a:rPr>
              <a:t>What the paper claims</a:t>
            </a:r>
          </a:p>
        </p:txBody>
      </p:sp>
      <p:sp>
        <p:nvSpPr>
          <p:cNvPr id="6" name="Rectangle 5"/>
          <p:cNvSpPr/>
          <p:nvPr/>
        </p:nvSpPr>
        <p:spPr>
          <a:xfrm>
            <a:off x="731520" y="1417320"/>
            <a:ext cx="822960" cy="28000"/>
          </a:xfrm>
          <a:prstGeom prst="rect">
            <a:avLst/>
          </a:prstGeom>
          <a:solidFill>
            <a:srgbClr val="CF72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011680"/>
            <a:ext cx="2743200" cy="457200"/>
          </a:xfrm>
          <a:prstGeom prst="rect">
            <a:avLst/>
          </a:prstGeom>
          <a:noFill/>
        </p:spPr>
        <p:txBody>
          <a:bodyPr wrap="square" anchor="t" lIns="0" rIns="0" tIns="0" bIns="0">
            <a:spAutoFit/>
          </a:bodyPr>
          <a:lstStyle/>
          <a:p>
            <a:pPr algn="l">
              <a:lnSpc>
                <a:spcPct val="115000"/>
              </a:lnSpc>
              <a:spcAft>
                <a:spcPts val="600"/>
              </a:spcAft>
            </a:pPr>
            <a:r>
              <a:rPr sz="1800" b="0" i="0">
                <a:solidFill>
                  <a:srgbClr val="CF7272"/>
                </a:solidFill>
                <a:latin typeface="Georgia"/>
              </a:rPr>
              <a:t>How the sides differ</a:t>
            </a:r>
          </a:p>
        </p:txBody>
      </p:sp>
      <p:sp>
        <p:nvSpPr>
          <p:cNvPr id="8" name="TextBox 7"/>
          <p:cNvSpPr txBox="1"/>
          <p:nvPr/>
        </p:nvSpPr>
        <p:spPr>
          <a:xfrm>
            <a:off x="3657600" y="2011680"/>
            <a:ext cx="7863840" cy="1188720"/>
          </a:xfrm>
          <a:prstGeom prst="rect">
            <a:avLst/>
          </a:prstGeom>
          <a:noFill/>
        </p:spPr>
        <p:txBody>
          <a:bodyPr wrap="square" anchor="t" lIns="0" rIns="0" tIns="0" bIns="0">
            <a:spAutoFit/>
          </a:bodyPr>
          <a:lstStyle/>
          <a:p>
            <a:pPr algn="l">
              <a:lnSpc>
                <a:spcPct val="115000"/>
              </a:lnSpc>
              <a:spcAft>
                <a:spcPts val="600"/>
              </a:spcAft>
            </a:pPr>
            <a:r>
              <a:rPr sz="1500" b="0" i="0">
                <a:solidFill>
                  <a:srgbClr val="E7E9EC"/>
                </a:solidFill>
                <a:latin typeface="Calibri"/>
              </a:rPr>
              <a:t>Partisan difference in political podcasting lies in how hosts address their audience — second person and instructions — not in how hostile they are. It is a stable trait of the show, validated against donations, experts and listeners’ own party.</a:t>
            </a:r>
          </a:p>
        </p:txBody>
      </p:sp>
      <p:sp>
        <p:nvSpPr>
          <p:cNvPr id="9" name="TextBox 8"/>
          <p:cNvSpPr txBox="1"/>
          <p:nvPr/>
        </p:nvSpPr>
        <p:spPr>
          <a:xfrm>
            <a:off x="731520" y="3337560"/>
            <a:ext cx="2743200" cy="457200"/>
          </a:xfrm>
          <a:prstGeom prst="rect">
            <a:avLst/>
          </a:prstGeom>
          <a:noFill/>
        </p:spPr>
        <p:txBody>
          <a:bodyPr wrap="square" anchor="t" lIns="0" rIns="0" tIns="0" bIns="0">
            <a:spAutoFit/>
          </a:bodyPr>
          <a:lstStyle/>
          <a:p>
            <a:pPr algn="l">
              <a:lnSpc>
                <a:spcPct val="115000"/>
              </a:lnSpc>
              <a:spcAft>
                <a:spcPts val="600"/>
              </a:spcAft>
            </a:pPr>
            <a:r>
              <a:rPr sz="1800" b="0" i="0">
                <a:solidFill>
                  <a:srgbClr val="CF7272"/>
                </a:solidFill>
                <a:latin typeface="Georgia"/>
              </a:rPr>
              <a:t>Who listens</a:t>
            </a:r>
          </a:p>
        </p:txBody>
      </p:sp>
      <p:sp>
        <p:nvSpPr>
          <p:cNvPr id="10" name="TextBox 9"/>
          <p:cNvSpPr txBox="1"/>
          <p:nvPr/>
        </p:nvSpPr>
        <p:spPr>
          <a:xfrm>
            <a:off x="3657600" y="3337560"/>
            <a:ext cx="7863840" cy="1188720"/>
          </a:xfrm>
          <a:prstGeom prst="rect">
            <a:avLst/>
          </a:prstGeom>
          <a:noFill/>
        </p:spPr>
        <p:txBody>
          <a:bodyPr wrap="square" anchor="t" lIns="0" rIns="0" tIns="0" bIns="0">
            <a:spAutoFit/>
          </a:bodyPr>
          <a:lstStyle/>
          <a:p>
            <a:pPr algn="l">
              <a:lnSpc>
                <a:spcPct val="115000"/>
              </a:lnSpc>
              <a:spcAft>
                <a:spcPts val="600"/>
              </a:spcAft>
            </a:pPr>
            <a:r>
              <a:rPr sz="1500" b="0" i="0">
                <a:solidFill>
                  <a:srgbClr val="E7E9EC"/>
                </a:solidFill>
                <a:latin typeface="Calibri"/>
              </a:rPr>
              <a:t>People who get political news from podcasts are about 0.22 SD more cynical about institutions than other news consumers, in two probability panels, one lagged, in both parties and at every education level — and they are civil-libertarian, not disengaged.</a:t>
            </a:r>
          </a:p>
        </p:txBody>
      </p:sp>
      <p:sp>
        <p:nvSpPr>
          <p:cNvPr id="11" name="TextBox 10"/>
          <p:cNvSpPr txBox="1"/>
          <p:nvPr/>
        </p:nvSpPr>
        <p:spPr>
          <a:xfrm>
            <a:off x="731520" y="4663440"/>
            <a:ext cx="2743200" cy="457200"/>
          </a:xfrm>
          <a:prstGeom prst="rect">
            <a:avLst/>
          </a:prstGeom>
          <a:noFill/>
        </p:spPr>
        <p:txBody>
          <a:bodyPr wrap="square" anchor="t" lIns="0" rIns="0" tIns="0" bIns="0">
            <a:spAutoFit/>
          </a:bodyPr>
          <a:lstStyle/>
          <a:p>
            <a:pPr algn="l">
              <a:lnSpc>
                <a:spcPct val="115000"/>
              </a:lnSpc>
              <a:spcAft>
                <a:spcPts val="600"/>
              </a:spcAft>
            </a:pPr>
            <a:r>
              <a:rPr sz="1800" b="0" i="0">
                <a:solidFill>
                  <a:srgbClr val="CF7272"/>
                </a:solidFill>
                <a:latin typeface="Georgia"/>
              </a:rPr>
              <a:t>What address predicts</a:t>
            </a:r>
          </a:p>
        </p:txBody>
      </p:sp>
      <p:sp>
        <p:nvSpPr>
          <p:cNvPr id="12" name="TextBox 11"/>
          <p:cNvSpPr txBox="1"/>
          <p:nvPr/>
        </p:nvSpPr>
        <p:spPr>
          <a:xfrm>
            <a:off x="3657600" y="4663440"/>
            <a:ext cx="7863840" cy="1188720"/>
          </a:xfrm>
          <a:prstGeom prst="rect">
            <a:avLst/>
          </a:prstGeom>
          <a:noFill/>
        </p:spPr>
        <p:txBody>
          <a:bodyPr wrap="square" anchor="t" lIns="0" rIns="0" tIns="0" bIns="0">
            <a:spAutoFit/>
          </a:bodyPr>
          <a:lstStyle/>
          <a:p>
            <a:pPr algn="l">
              <a:lnSpc>
                <a:spcPct val="115000"/>
              </a:lnSpc>
              <a:spcAft>
                <a:spcPts val="600"/>
              </a:spcAft>
            </a:pPr>
            <a:r>
              <a:rPr sz="1500" b="0" i="0">
                <a:solidFill>
                  <a:srgbClr val="E7E9EC"/>
                </a:solidFill>
                <a:latin typeface="Calibri"/>
              </a:rPr>
              <a:t>Within political podcasts, the hosts who talk at the listener reach less-educated audiences (robust) who distrust elections and institutions (exploratory, pre-registered for Year 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1F3F5"/>
        </a:solidFill>
        <a:effectLst/>
      </p:bgPr>
    </p:bg>
    <p:spTree>
      <p:nvGrpSpPr>
        <p:cNvPr id="1" name=""/>
        <p:cNvGrpSpPr/>
        <p:nvPr/>
      </p:nvGrpSpPr>
      <p:grpSpPr/>
      <p:sp>
        <p:nvSpPr>
          <p:cNvPr id="2" name="TextBox 1"/>
          <p:cNvSpPr txBox="1"/>
          <p:nvPr/>
        </p:nvSpPr>
        <p:spPr>
          <a:xfrm>
            <a:off x="731520" y="6400800"/>
            <a:ext cx="8229600" cy="274320"/>
          </a:xfrm>
          <a:prstGeom prst="rect">
            <a:avLst/>
          </a:prstGeom>
          <a:noFill/>
        </p:spPr>
        <p:txBody>
          <a:bodyPr wrap="square" anchor="t" lIns="0" rIns="0" tIns="0" bIns="0">
            <a:spAutoFit/>
          </a:bodyPr>
          <a:lstStyle/>
          <a:p>
            <a:pPr algn="l">
              <a:lnSpc>
                <a:spcPct val="115000"/>
              </a:lnSpc>
              <a:spcAft>
                <a:spcPts val="600"/>
              </a:spcAft>
            </a:pPr>
            <a:r>
              <a:rPr sz="1000" b="0" i="0">
                <a:solidFill>
                  <a:srgbClr val="737B87"/>
                </a:solidFill>
                <a:latin typeface="Calibri"/>
              </a:rPr>
              <a:t>Talking at the Audience  ·  Yang &amp; Alvarez  ·  Linde Center, Caltech</a:t>
            </a:r>
          </a:p>
        </p:txBody>
      </p:sp>
      <p:sp>
        <p:nvSpPr>
          <p:cNvPr id="3" name="TextBox 2"/>
          <p:cNvSpPr txBox="1"/>
          <p:nvPr/>
        </p:nvSpPr>
        <p:spPr>
          <a:xfrm>
            <a:off x="10545775" y="6400800"/>
            <a:ext cx="914400" cy="274320"/>
          </a:xfrm>
          <a:prstGeom prst="rect">
            <a:avLst/>
          </a:prstGeom>
          <a:noFill/>
        </p:spPr>
        <p:txBody>
          <a:bodyPr wrap="square" anchor="t" lIns="0" rIns="0" tIns="0" bIns="0">
            <a:spAutoFit/>
          </a:bodyPr>
          <a:lstStyle/>
          <a:p>
            <a:pPr algn="r">
              <a:lnSpc>
                <a:spcPct val="115000"/>
              </a:lnSpc>
              <a:spcAft>
                <a:spcPts val="600"/>
              </a:spcAft>
            </a:pPr>
            <a:r>
              <a:rPr sz="1000" b="0" i="0">
                <a:solidFill>
                  <a:srgbClr val="737B87"/>
                </a:solidFill>
                <a:latin typeface="Calibri"/>
              </a:rPr>
              <a:t>21</a:t>
            </a:r>
          </a:p>
        </p:txBody>
      </p:sp>
      <p:sp>
        <p:nvSpPr>
          <p:cNvPr id="4" name="TextBox 3"/>
          <p:cNvSpPr txBox="1"/>
          <p:nvPr/>
        </p:nvSpPr>
        <p:spPr>
          <a:xfrm>
            <a:off x="731520" y="411480"/>
            <a:ext cx="7315200" cy="274320"/>
          </a:xfrm>
          <a:prstGeom prst="rect">
            <a:avLst/>
          </a:prstGeom>
          <a:noFill/>
        </p:spPr>
        <p:txBody>
          <a:bodyPr wrap="square" anchor="t" lIns="0" rIns="0" tIns="0" bIns="0">
            <a:spAutoFit/>
          </a:bodyPr>
          <a:lstStyle/>
          <a:p>
            <a:pPr algn="l">
              <a:lnSpc>
                <a:spcPct val="115000"/>
              </a:lnSpc>
              <a:spcAft>
                <a:spcPts val="600"/>
              </a:spcAft>
            </a:pPr>
            <a:r>
              <a:rPr sz="1100" b="1" i="0">
                <a:solidFill>
                  <a:srgbClr val="7A2E2E"/>
                </a:solidFill>
                <a:latin typeface="Calibri"/>
              </a:rPr>
              <a:t>NEXT</a:t>
            </a:r>
          </a:p>
        </p:txBody>
      </p:sp>
      <p:sp>
        <p:nvSpPr>
          <p:cNvPr id="5" name="TextBox 4"/>
          <p:cNvSpPr txBox="1"/>
          <p:nvPr/>
        </p:nvSpPr>
        <p:spPr>
          <a:xfrm>
            <a:off x="731520" y="731520"/>
            <a:ext cx="10728655" cy="1097280"/>
          </a:xfrm>
          <a:prstGeom prst="rect">
            <a:avLst/>
          </a:prstGeom>
          <a:noFill/>
        </p:spPr>
        <p:txBody>
          <a:bodyPr wrap="square" anchor="t" lIns="0" rIns="0" tIns="0" bIns="0">
            <a:spAutoFit/>
          </a:bodyPr>
          <a:lstStyle/>
          <a:p>
            <a:pPr algn="l">
              <a:lnSpc>
                <a:spcPct val="105000"/>
              </a:lnSpc>
              <a:spcAft>
                <a:spcPts val="600"/>
              </a:spcAft>
            </a:pPr>
            <a:r>
              <a:rPr sz="3400" b="0" i="0">
                <a:solidFill>
                  <a:srgbClr val="14171C"/>
                </a:solidFill>
                <a:latin typeface="Georgia"/>
              </a:rPr>
              <a:t>What comes next</a:t>
            </a:r>
          </a:p>
        </p:txBody>
      </p:sp>
      <p:sp>
        <p:nvSpPr>
          <p:cNvPr id="6" name="Rectangle 5"/>
          <p:cNvSpPr/>
          <p:nvPr/>
        </p:nvSpPr>
        <p:spPr>
          <a:xfrm>
            <a:off x="731520" y="1417320"/>
            <a:ext cx="822960" cy="28000"/>
          </a:xfrm>
          <a:prstGeom prst="rect">
            <a:avLst/>
          </a:prstGeom>
          <a:solidFill>
            <a:srgbClr val="7A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011680"/>
            <a:ext cx="5486400" cy="4114800"/>
          </a:xfrm>
          <a:prstGeom prst="rect">
            <a:avLst/>
          </a:prstGeom>
          <a:noFill/>
        </p:spPr>
        <p:txBody>
          <a:bodyPr wrap="square" lIns="0" rIns="0" tIns="0" bIns="0">
            <a:spAutoFit/>
          </a:bodyPr>
          <a:lstStyle/>
          <a:p>
            <a:pPr>
              <a:lnSpc>
                <a:spcPct val="112000"/>
              </a:lnSpc>
              <a:spcAft>
                <a:spcPts val="600"/>
              </a:spcAft>
            </a:pPr>
            <a:r>
              <a:rPr sz="1500">
                <a:solidFill>
                  <a:srgbClr val="7A2E2E"/>
                </a:solidFill>
                <a:latin typeface="Calibri"/>
              </a:rPr>
              <a:t>•  </a:t>
            </a:r>
            <a:r>
              <a:rPr sz="1500" b="1" i="0">
                <a:solidFill>
                  <a:srgbClr val="7A2E2E"/>
                </a:solidFill>
                <a:latin typeface="Calibri"/>
              </a:rPr>
              <a:t>Before submission</a:t>
            </a:r>
          </a:p>
          <a:p>
            <a:pPr>
              <a:lnSpc>
                <a:spcPct val="112000"/>
              </a:lnSpc>
              <a:spcAft>
                <a:spcPts val="600"/>
              </a:spcAft>
            </a:pPr>
            <a:r>
              <a:rPr sz="1300">
                <a:solidFill>
                  <a:srgbClr val="737B87"/>
                </a:solidFill>
                <a:latin typeface="Calibri"/>
              </a:rPr>
              <a:t>      – </a:t>
            </a:r>
            <a:r>
              <a:rPr sz="1300" b="0" i="0">
                <a:solidFill>
                  <a:srgbClr val="434A55"/>
                </a:solidFill>
                <a:latin typeface="Calibri"/>
              </a:rPr>
              <a:t>200-passage, two-coder human check of ideology labels</a:t>
            </a:r>
          </a:p>
          <a:p>
            <a:pPr>
              <a:lnSpc>
                <a:spcPct val="112000"/>
              </a:lnSpc>
              <a:spcAft>
                <a:spcPts val="600"/>
              </a:spcAft>
            </a:pPr>
            <a:r>
              <a:rPr sz="1300">
                <a:solidFill>
                  <a:srgbClr val="737B87"/>
                </a:solidFill>
                <a:latin typeface="Calibri"/>
              </a:rPr>
              <a:t>      – </a:t>
            </a:r>
            <a:r>
              <a:rPr sz="1300" b="0" i="0">
                <a:solidFill>
                  <a:srgbClr val="434A55"/>
                </a:solidFill>
                <a:latin typeface="Calibri"/>
              </a:rPr>
              <a:t>Human re-annotation of the 886-sentence ad gold set</a:t>
            </a:r>
          </a:p>
          <a:p>
            <a:pPr>
              <a:lnSpc>
                <a:spcPct val="112000"/>
              </a:lnSpc>
              <a:spcAft>
                <a:spcPts val="600"/>
              </a:spcAft>
            </a:pPr>
            <a:r>
              <a:rPr sz="1300">
                <a:solidFill>
                  <a:srgbClr val="737B87"/>
                </a:solidFill>
                <a:latin typeface="Calibri"/>
              </a:rPr>
              <a:t>      – </a:t>
            </a:r>
            <a:r>
              <a:rPr sz="1300" b="0" i="0">
                <a:solidFill>
                  <a:srgbClr val="434A55"/>
                </a:solidFill>
                <a:latin typeface="Calibri"/>
              </a:rPr>
              <a:t>Disclosure paragraph and family table in the methods</a:t>
            </a:r>
          </a:p>
          <a:p>
            <a:pPr>
              <a:lnSpc>
                <a:spcPct val="112000"/>
              </a:lnSpc>
              <a:spcAft>
                <a:spcPts val="600"/>
              </a:spcAft>
            </a:pPr>
            <a:r>
              <a:rPr sz="1300">
                <a:solidFill>
                  <a:srgbClr val="737B87"/>
                </a:solidFill>
                <a:latin typeface="Calibri"/>
              </a:rPr>
              <a:t>      – </a:t>
            </a:r>
            <a:r>
              <a:rPr sz="1300" b="0" i="0">
                <a:solidFill>
                  <a:srgbClr val="434A55"/>
                </a:solidFill>
                <a:latin typeface="Calibri"/>
              </a:rPr>
              <a:t>Freeze corpus counts; binary outcomes in percentage points</a:t>
            </a:r>
          </a:p>
          <a:p>
            <a:pPr>
              <a:lnSpc>
                <a:spcPct val="112000"/>
              </a:lnSpc>
              <a:spcAft>
                <a:spcPts val="600"/>
              </a:spcAft>
            </a:pPr>
            <a:r>
              <a:rPr sz="1500">
                <a:solidFill>
                  <a:srgbClr val="7A2E2E"/>
                </a:solidFill>
                <a:latin typeface="Calibri"/>
              </a:rPr>
              <a:t>•  </a:t>
            </a:r>
            <a:r>
              <a:rPr sz="1500" b="1" i="0">
                <a:solidFill>
                  <a:srgbClr val="7A2E2E"/>
                </a:solidFill>
                <a:latin typeface="Calibri"/>
              </a:rPr>
              <a:t>Kettering Year 2 pre-registration</a:t>
            </a:r>
          </a:p>
          <a:p>
            <a:pPr>
              <a:lnSpc>
                <a:spcPct val="112000"/>
              </a:lnSpc>
              <a:spcAft>
                <a:spcPts val="600"/>
              </a:spcAft>
            </a:pPr>
            <a:r>
              <a:rPr sz="1300">
                <a:solidFill>
                  <a:srgbClr val="737B87"/>
                </a:solidFill>
                <a:latin typeface="Calibri"/>
              </a:rPr>
              <a:t>      – </a:t>
            </a:r>
            <a:r>
              <a:rPr sz="1300" b="0" i="0">
                <a:solidFill>
                  <a:srgbClr val="434A55"/>
                </a:solidFill>
                <a:latin typeface="Calibri"/>
              </a:rPr>
              <a:t>Content-defined frame stated in advance</a:t>
            </a:r>
          </a:p>
          <a:p>
            <a:pPr>
              <a:lnSpc>
                <a:spcPct val="112000"/>
              </a:lnSpc>
              <a:spcAft>
                <a:spcPts val="600"/>
              </a:spcAft>
            </a:pPr>
            <a:r>
              <a:rPr sz="1300">
                <a:solidFill>
                  <a:srgbClr val="737B87"/>
                </a:solidFill>
                <a:latin typeface="Calibri"/>
              </a:rPr>
              <a:t>      – </a:t>
            </a:r>
            <a:r>
              <a:rPr sz="1300" b="0" i="0">
                <a:solidFill>
                  <a:srgbClr val="434A55"/>
                </a:solidFill>
                <a:latin typeface="Calibri"/>
              </a:rPr>
              <a:t>Election distrust as the primary outcome for address</a:t>
            </a:r>
          </a:p>
          <a:p>
            <a:pPr>
              <a:lnSpc>
                <a:spcPct val="112000"/>
              </a:lnSpc>
              <a:spcAft>
                <a:spcPts val="600"/>
              </a:spcAft>
            </a:pPr>
            <a:r>
              <a:rPr sz="1300">
                <a:solidFill>
                  <a:srgbClr val="737B87"/>
                </a:solidFill>
                <a:latin typeface="Calibri"/>
              </a:rPr>
              <a:t>      – </a:t>
            </a:r>
            <a:r>
              <a:rPr sz="1300" b="0" i="0">
                <a:solidFill>
                  <a:srgbClr val="434A55"/>
                </a:solidFill>
                <a:latin typeface="Calibri"/>
              </a:rPr>
              <a:t>Populist vocabulary and intensity as covariates; interview dates requested for within-show designs</a:t>
            </a:r>
          </a:p>
        </p:txBody>
      </p:sp>
      <p:sp>
        <p:nvSpPr>
          <p:cNvPr id="8" name="TextBox 7"/>
          <p:cNvSpPr txBox="1"/>
          <p:nvPr/>
        </p:nvSpPr>
        <p:spPr>
          <a:xfrm>
            <a:off x="6583680" y="2011680"/>
            <a:ext cx="4846320" cy="4114800"/>
          </a:xfrm>
          <a:prstGeom prst="rect">
            <a:avLst/>
          </a:prstGeom>
          <a:noFill/>
        </p:spPr>
        <p:txBody>
          <a:bodyPr wrap="square" lIns="0" rIns="0" tIns="0" bIns="0">
            <a:spAutoFit/>
          </a:bodyPr>
          <a:lstStyle/>
          <a:p>
            <a:pPr>
              <a:lnSpc>
                <a:spcPct val="112000"/>
              </a:lnSpc>
              <a:spcAft>
                <a:spcPts val="600"/>
              </a:spcAft>
            </a:pPr>
            <a:r>
              <a:rPr sz="1500">
                <a:solidFill>
                  <a:srgbClr val="7A2E2E"/>
                </a:solidFill>
                <a:latin typeface="Calibri"/>
              </a:rPr>
              <a:t>•  </a:t>
            </a:r>
            <a:r>
              <a:rPr sz="1500" b="1" i="0">
                <a:solidFill>
                  <a:srgbClr val="7A2E2E"/>
                </a:solidFill>
                <a:latin typeface="Calibri"/>
              </a:rPr>
              <a:t>Measurement</a:t>
            </a:r>
          </a:p>
          <a:p>
            <a:pPr>
              <a:lnSpc>
                <a:spcPct val="112000"/>
              </a:lnSpc>
              <a:spcAft>
                <a:spcPts val="600"/>
              </a:spcAft>
            </a:pPr>
            <a:r>
              <a:rPr sz="1300">
                <a:solidFill>
                  <a:srgbClr val="737B87"/>
                </a:solidFill>
                <a:latin typeface="Calibri"/>
              </a:rPr>
              <a:t>      – </a:t>
            </a:r>
            <a:r>
              <a:rPr sz="1300" b="0" i="0">
                <a:solidFill>
                  <a:srgbClr val="434A55"/>
                </a:solidFill>
                <a:latin typeface="Calibri"/>
              </a:rPr>
              <a:t>Diarize archived audio for interview shows; rescore address on host turns only</a:t>
            </a:r>
          </a:p>
          <a:p>
            <a:pPr>
              <a:lnSpc>
                <a:spcPct val="112000"/>
              </a:lnSpc>
              <a:spcAft>
                <a:spcPts val="600"/>
              </a:spcAft>
            </a:pPr>
            <a:r>
              <a:rPr sz="1300">
                <a:solidFill>
                  <a:srgbClr val="737B87"/>
                </a:solidFill>
                <a:latin typeface="Calibri"/>
              </a:rPr>
              <a:t>      – </a:t>
            </a:r>
            <a:r>
              <a:rPr sz="1300" b="0" i="0">
                <a:solidFill>
                  <a:srgbClr val="434A55"/>
                </a:solidFill>
                <a:latin typeface="Calibri"/>
              </a:rPr>
              <a:t>Band 6–10 corpus extension (in progress) for quarter-level analyses</a:t>
            </a:r>
          </a:p>
          <a:p>
            <a:pPr>
              <a:lnSpc>
                <a:spcPct val="112000"/>
              </a:lnSpc>
              <a:spcAft>
                <a:spcPts val="600"/>
              </a:spcAft>
            </a:pPr>
            <a:r>
              <a:rPr sz="1500">
                <a:solidFill>
                  <a:srgbClr val="7A2E2E"/>
                </a:solidFill>
                <a:latin typeface="Calibri"/>
              </a:rPr>
              <a:t>•  </a:t>
            </a:r>
            <a:r>
              <a:rPr sz="1500" b="1" i="0">
                <a:solidFill>
                  <a:srgbClr val="7A2E2E"/>
                </a:solidFill>
                <a:latin typeface="Calibri"/>
              </a:rPr>
              <a:t>The causal study</a:t>
            </a:r>
          </a:p>
          <a:p>
            <a:pPr>
              <a:lnSpc>
                <a:spcPct val="112000"/>
              </a:lnSpc>
              <a:spcAft>
                <a:spcPts val="600"/>
              </a:spcAft>
            </a:pPr>
            <a:r>
              <a:rPr sz="1300">
                <a:solidFill>
                  <a:srgbClr val="737B87"/>
                </a:solidFill>
                <a:latin typeface="Calibri"/>
              </a:rPr>
              <a:t>      – </a:t>
            </a:r>
            <a:r>
              <a:rPr sz="1300" b="0" i="0">
                <a:solidFill>
                  <a:srgbClr val="434A55"/>
                </a:solidFill>
                <a:latin typeface="Calibri"/>
              </a:rPr>
              <a:t>Survey experiment: the same segment with and without second-person and imperative address, randomly assigned; efficacy and election-trust items after</a:t>
            </a:r>
          </a:p>
          <a:p>
            <a:pPr>
              <a:lnSpc>
                <a:spcPct val="112000"/>
              </a:lnSpc>
              <a:spcAft>
                <a:spcPts val="600"/>
              </a:spcAft>
            </a:pPr>
            <a:r>
              <a:rPr sz="1300">
                <a:solidFill>
                  <a:srgbClr val="737B87"/>
                </a:solidFill>
                <a:latin typeface="Calibri"/>
              </a:rPr>
              <a:t>      – </a:t>
            </a:r>
            <a:r>
              <a:rPr sz="1300" b="0" i="0">
                <a:solidFill>
                  <a:srgbClr val="434A55"/>
                </a:solidFill>
                <a:latin typeface="Calibri"/>
              </a:rPr>
              <a:t>The only design that answers whether address does anything to a listener rather than who it attracts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731520" y="6400800"/>
            <a:ext cx="8229600" cy="274320"/>
          </a:xfrm>
          <a:prstGeom prst="rect">
            <a:avLst/>
          </a:prstGeom>
          <a:noFill/>
        </p:spPr>
        <p:txBody>
          <a:bodyPr wrap="square" anchor="t" lIns="0" rIns="0" tIns="0" bIns="0">
            <a:spAutoFit/>
          </a:bodyPr>
          <a:lstStyle/>
          <a:p>
            <a:pPr algn="l">
              <a:lnSpc>
                <a:spcPct val="115000"/>
              </a:lnSpc>
              <a:spcAft>
                <a:spcPts val="600"/>
              </a:spcAft>
            </a:pPr>
            <a:r>
              <a:rPr sz="1000" b="0" i="0">
                <a:solidFill>
                  <a:srgbClr val="737B87"/>
                </a:solidFill>
                <a:latin typeface="Calibri"/>
              </a:rPr>
              <a:t>Talking at the Audience  ·  Yang &amp; Alvarez  ·  Linde Center, Caltech</a:t>
            </a:r>
          </a:p>
        </p:txBody>
      </p:sp>
      <p:sp>
        <p:nvSpPr>
          <p:cNvPr id="3" name="TextBox 2"/>
          <p:cNvSpPr txBox="1"/>
          <p:nvPr/>
        </p:nvSpPr>
        <p:spPr>
          <a:xfrm>
            <a:off x="10545775" y="6400800"/>
            <a:ext cx="914400" cy="274320"/>
          </a:xfrm>
          <a:prstGeom prst="rect">
            <a:avLst/>
          </a:prstGeom>
          <a:noFill/>
        </p:spPr>
        <p:txBody>
          <a:bodyPr wrap="square" anchor="t" lIns="0" rIns="0" tIns="0" bIns="0">
            <a:spAutoFit/>
          </a:bodyPr>
          <a:lstStyle/>
          <a:p>
            <a:pPr algn="r">
              <a:lnSpc>
                <a:spcPct val="115000"/>
              </a:lnSpc>
              <a:spcAft>
                <a:spcPts val="600"/>
              </a:spcAft>
            </a:pPr>
            <a:r>
              <a:rPr sz="1000" b="0" i="0">
                <a:solidFill>
                  <a:srgbClr val="737B87"/>
                </a:solidFill>
                <a:latin typeface="Calibri"/>
              </a:rPr>
              <a:t>22</a:t>
            </a:r>
          </a:p>
        </p:txBody>
      </p:sp>
      <p:sp>
        <p:nvSpPr>
          <p:cNvPr id="4" name="TextBox 3"/>
          <p:cNvSpPr txBox="1"/>
          <p:nvPr/>
        </p:nvSpPr>
        <p:spPr>
          <a:xfrm>
            <a:off x="731520" y="2377440"/>
            <a:ext cx="10058400" cy="1097280"/>
          </a:xfrm>
          <a:prstGeom prst="rect">
            <a:avLst/>
          </a:prstGeom>
          <a:noFill/>
        </p:spPr>
        <p:txBody>
          <a:bodyPr wrap="square" anchor="t" lIns="0" rIns="0" tIns="0" bIns="0">
            <a:spAutoFit/>
          </a:bodyPr>
          <a:lstStyle/>
          <a:p>
            <a:pPr algn="l">
              <a:lnSpc>
                <a:spcPct val="115000"/>
              </a:lnSpc>
              <a:spcAft>
                <a:spcPts val="600"/>
              </a:spcAft>
            </a:pPr>
            <a:r>
              <a:rPr sz="4800" b="0" i="0">
                <a:solidFill>
                  <a:srgbClr val="E7E9EC"/>
                </a:solidFill>
                <a:latin typeface="Georgia"/>
              </a:rPr>
              <a:t>Thank you</a:t>
            </a:r>
          </a:p>
        </p:txBody>
      </p:sp>
      <p:sp>
        <p:nvSpPr>
          <p:cNvPr id="5" name="TextBox 4"/>
          <p:cNvSpPr txBox="1"/>
          <p:nvPr/>
        </p:nvSpPr>
        <p:spPr>
          <a:xfrm>
            <a:off x="731520" y="3474720"/>
            <a:ext cx="10058400" cy="1280160"/>
          </a:xfrm>
          <a:prstGeom prst="rect">
            <a:avLst/>
          </a:prstGeom>
          <a:noFill/>
        </p:spPr>
        <p:txBody>
          <a:bodyPr wrap="square" anchor="t" lIns="0" rIns="0" tIns="0" bIns="0">
            <a:spAutoFit/>
          </a:bodyPr>
          <a:lstStyle/>
          <a:p>
            <a:pPr algn="l">
              <a:lnSpc>
                <a:spcPct val="115000"/>
              </a:lnSpc>
              <a:spcAft>
                <a:spcPts val="800"/>
              </a:spcAft>
            </a:pPr>
            <a:r>
              <a:rPr sz="1800" b="0" i="0">
                <a:solidFill>
                  <a:srgbClr val="E7E9EC"/>
                </a:solidFill>
                <a:latin typeface="Calibri"/>
              </a:rPr>
              <a:t>Danielle Yang · dsyang@caltech.edu</a:t>
            </a:r>
          </a:p>
          <a:p>
            <a:pPr algn="l">
              <a:lnSpc>
                <a:spcPct val="115000"/>
              </a:lnSpc>
              <a:spcAft>
                <a:spcPts val="800"/>
              </a:spcAft>
            </a:pPr>
            <a:r>
              <a:rPr sz="1500" b="0" i="0">
                <a:solidFill>
                  <a:srgbClr val="B2B8C1"/>
                </a:solidFill>
                <a:latin typeface="Calibri"/>
              </a:rPr>
              <a:t>Linde Center for Science, Society, and Policy, Caltech · with R. Michael Alvarez</a:t>
            </a:r>
          </a:p>
          <a:p>
            <a:pPr algn="l">
              <a:lnSpc>
                <a:spcPct val="115000"/>
              </a:lnSpc>
              <a:spcAft>
                <a:spcPts val="800"/>
              </a:spcAft>
            </a:pPr>
            <a:r>
              <a:rPr sz="1200" b="0" i="0">
                <a:solidFill>
                  <a:srgbClr val="7F8792"/>
                </a:solidFill>
                <a:latin typeface="Calibri"/>
              </a:rPr>
              <a:t>Corpus: 204 shows · 29,421 episodes · 1.38M passages · Kettering–Gallup Democracy for All Y1 · Pew ATP W150/155/165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1F3F5"/>
        </a:solidFill>
        <a:effectLst/>
      </p:bgPr>
    </p:bg>
    <p:spTree>
      <p:nvGrpSpPr>
        <p:cNvPr id="1" name=""/>
        <p:cNvGrpSpPr/>
        <p:nvPr/>
      </p:nvGrpSpPr>
      <p:grpSpPr/>
      <p:sp>
        <p:nvSpPr>
          <p:cNvPr id="2" name="TextBox 1"/>
          <p:cNvSpPr txBox="1"/>
          <p:nvPr/>
        </p:nvSpPr>
        <p:spPr>
          <a:xfrm>
            <a:off x="731520" y="6400800"/>
            <a:ext cx="8229600" cy="274320"/>
          </a:xfrm>
          <a:prstGeom prst="rect">
            <a:avLst/>
          </a:prstGeom>
          <a:noFill/>
        </p:spPr>
        <p:txBody>
          <a:bodyPr wrap="square" anchor="t" lIns="0" rIns="0" tIns="0" bIns="0">
            <a:spAutoFit/>
          </a:bodyPr>
          <a:lstStyle/>
          <a:p>
            <a:pPr algn="l">
              <a:lnSpc>
                <a:spcPct val="115000"/>
              </a:lnSpc>
              <a:spcAft>
                <a:spcPts val="600"/>
              </a:spcAft>
            </a:pPr>
            <a:r>
              <a:rPr sz="1000" b="0" i="0">
                <a:solidFill>
                  <a:srgbClr val="737B87"/>
                </a:solidFill>
                <a:latin typeface="Calibri"/>
              </a:rPr>
              <a:t>Talking at the Audience  ·  Yang &amp; Alvarez  ·  Linde Center, Caltech</a:t>
            </a:r>
          </a:p>
        </p:txBody>
      </p:sp>
      <p:sp>
        <p:nvSpPr>
          <p:cNvPr id="3" name="TextBox 2"/>
          <p:cNvSpPr txBox="1"/>
          <p:nvPr/>
        </p:nvSpPr>
        <p:spPr>
          <a:xfrm>
            <a:off x="10545775" y="6400800"/>
            <a:ext cx="914400" cy="274320"/>
          </a:xfrm>
          <a:prstGeom prst="rect">
            <a:avLst/>
          </a:prstGeom>
          <a:noFill/>
        </p:spPr>
        <p:txBody>
          <a:bodyPr wrap="square" anchor="t" lIns="0" rIns="0" tIns="0" bIns="0">
            <a:spAutoFit/>
          </a:bodyPr>
          <a:lstStyle/>
          <a:p>
            <a:pPr algn="r">
              <a:lnSpc>
                <a:spcPct val="115000"/>
              </a:lnSpc>
              <a:spcAft>
                <a:spcPts val="600"/>
              </a:spcAft>
            </a:pPr>
            <a:r>
              <a:rPr sz="1000" b="0" i="0">
                <a:solidFill>
                  <a:srgbClr val="737B87"/>
                </a:solidFill>
                <a:latin typeface="Calibri"/>
              </a:rPr>
              <a:t>23</a:t>
            </a:r>
          </a:p>
        </p:txBody>
      </p:sp>
      <p:sp>
        <p:nvSpPr>
          <p:cNvPr id="4" name="TextBox 3"/>
          <p:cNvSpPr txBox="1"/>
          <p:nvPr/>
        </p:nvSpPr>
        <p:spPr>
          <a:xfrm>
            <a:off x="731520" y="411480"/>
            <a:ext cx="7315200" cy="274320"/>
          </a:xfrm>
          <a:prstGeom prst="rect">
            <a:avLst/>
          </a:prstGeom>
          <a:noFill/>
        </p:spPr>
        <p:txBody>
          <a:bodyPr wrap="square" anchor="t" lIns="0" rIns="0" tIns="0" bIns="0">
            <a:spAutoFit/>
          </a:bodyPr>
          <a:lstStyle/>
          <a:p>
            <a:pPr algn="l">
              <a:lnSpc>
                <a:spcPct val="115000"/>
              </a:lnSpc>
              <a:spcAft>
                <a:spcPts val="600"/>
              </a:spcAft>
            </a:pPr>
            <a:r>
              <a:rPr sz="1100" b="1" i="0">
                <a:solidFill>
                  <a:srgbClr val="7A2E2E"/>
                </a:solidFill>
                <a:latin typeface="Calibri"/>
              </a:rPr>
              <a:t>BACKUP</a:t>
            </a:r>
          </a:p>
        </p:txBody>
      </p:sp>
      <p:sp>
        <p:nvSpPr>
          <p:cNvPr id="5" name="TextBox 4"/>
          <p:cNvSpPr txBox="1"/>
          <p:nvPr/>
        </p:nvSpPr>
        <p:spPr>
          <a:xfrm>
            <a:off x="731520" y="731520"/>
            <a:ext cx="10728655" cy="1097280"/>
          </a:xfrm>
          <a:prstGeom prst="rect">
            <a:avLst/>
          </a:prstGeom>
          <a:noFill/>
        </p:spPr>
        <p:txBody>
          <a:bodyPr wrap="square" anchor="t" lIns="0" rIns="0" tIns="0" bIns="0">
            <a:spAutoFit/>
          </a:bodyPr>
          <a:lstStyle/>
          <a:p>
            <a:pPr algn="l">
              <a:lnSpc>
                <a:spcPct val="105000"/>
              </a:lnSpc>
              <a:spcAft>
                <a:spcPts val="600"/>
              </a:spcAft>
            </a:pPr>
            <a:r>
              <a:rPr sz="3400" b="0" i="0">
                <a:solidFill>
                  <a:srgbClr val="14171C"/>
                </a:solidFill>
                <a:latin typeface="Georgia"/>
              </a:rPr>
              <a:t>Corpus construction and transcription, in detail</a:t>
            </a:r>
          </a:p>
        </p:txBody>
      </p:sp>
      <p:sp>
        <p:nvSpPr>
          <p:cNvPr id="6" name="Rectangle 5"/>
          <p:cNvSpPr/>
          <p:nvPr/>
        </p:nvSpPr>
        <p:spPr>
          <a:xfrm>
            <a:off x="731520" y="1417320"/>
            <a:ext cx="822960" cy="28000"/>
          </a:xfrm>
          <a:prstGeom prst="rect">
            <a:avLst/>
          </a:prstGeom>
          <a:solidFill>
            <a:srgbClr val="7A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011680"/>
            <a:ext cx="10698480" cy="4206240"/>
          </a:xfrm>
          <a:prstGeom prst="rect">
            <a:avLst/>
          </a:prstGeom>
          <a:noFill/>
        </p:spPr>
        <p:txBody>
          <a:bodyPr wrap="square" lIns="0" rIns="0" tIns="0" bIns="0">
            <a:spAutoFit/>
          </a:bodyPr>
          <a:lstStyle/>
          <a:p>
            <a:pPr>
              <a:lnSpc>
                <a:spcPct val="112000"/>
              </a:lnSpc>
              <a:spcAft>
                <a:spcPts val="800"/>
              </a:spcAft>
            </a:pPr>
            <a:r>
              <a:rPr sz="1400">
                <a:solidFill>
                  <a:srgbClr val="7A2E2E"/>
                </a:solidFill>
                <a:latin typeface="Calibri"/>
              </a:rPr>
              <a:t>•  </a:t>
            </a:r>
            <a:r>
              <a:rPr sz="1400" b="0" i="0">
                <a:solidFill>
                  <a:srgbClr val="14171C"/>
                </a:solidFill>
                <a:latin typeface="Calibri"/>
              </a:rPr>
              <a:t>Frame: Apple Podcasts US Politics chart, ranks 1–250, frozen 13 July 2026 (250 is as deep as Apple serves).</a:t>
            </a:r>
          </a:p>
          <a:p>
            <a:pPr>
              <a:lnSpc>
                <a:spcPct val="112000"/>
              </a:lnSpc>
              <a:spcAft>
                <a:spcPts val="800"/>
              </a:spcAft>
            </a:pPr>
            <a:r>
              <a:rPr sz="1400">
                <a:solidFill>
                  <a:srgbClr val="7A2E2E"/>
                </a:solidFill>
                <a:latin typeface="Calibri"/>
              </a:rPr>
              <a:t>•  </a:t>
            </a:r>
            <a:r>
              <a:rPr sz="1400" b="0" i="0">
                <a:solidFill>
                  <a:srgbClr val="14171C"/>
                </a:solidFill>
                <a:latin typeface="Calibri"/>
              </a:rPr>
              <a:t>Filter in fixed order: no feed URL (2), feed unreachable (2), unparseable (1), non-US-politics by blocklist/regex/language/curated list (14), under 10 hours of audio (12) → 219; 15 not in the topic-arm transcript sample → 204.</a:t>
            </a:r>
          </a:p>
          <a:p>
            <a:pPr>
              <a:lnSpc>
                <a:spcPct val="112000"/>
              </a:lnSpc>
              <a:spcAft>
                <a:spcPts val="800"/>
              </a:spcAft>
            </a:pPr>
            <a:r>
              <a:rPr sz="1400">
                <a:solidFill>
                  <a:srgbClr val="7A2E2E"/>
                </a:solidFill>
                <a:latin typeface="Calibri"/>
              </a:rPr>
              <a:t>•  </a:t>
            </a:r>
            <a:r>
              <a:rPr sz="1400" b="0" i="0">
                <a:solidFill>
                  <a:srgbClr val="14171C"/>
                </a:solidFill>
                <a:latin typeface="Calibri"/>
              </a:rPr>
              <a:t>Sampling: census of every episode before 2018, then a fixed number of episodes per show per quarter, ranked by a frozen hash so larger draws nest earlier ones.</a:t>
            </a:r>
          </a:p>
          <a:p>
            <a:pPr>
              <a:lnSpc>
                <a:spcPct val="112000"/>
              </a:lnSpc>
              <a:spcAft>
                <a:spcPts val="800"/>
              </a:spcAft>
            </a:pPr>
            <a:r>
              <a:rPr sz="1400">
                <a:solidFill>
                  <a:srgbClr val="7A2E2E"/>
                </a:solidFill>
                <a:latin typeface="Calibri"/>
              </a:rPr>
              <a:t>•  </a:t>
            </a:r>
            <a:r>
              <a:rPr sz="1400" b="0" i="0">
                <a:solidFill>
                  <a:srgbClr val="14171C"/>
                </a:solidFill>
                <a:latin typeface="Calibri"/>
              </a:rPr>
              <a:t>Transcription: faster-whisper batched pipeline, large-v3-turbo (CTranslate2, float16), batch 64, English fixed, Silero VAD, no diarization; two NVIDIA GB10 nodes at ~100× real time.</a:t>
            </a:r>
          </a:p>
          <a:p>
            <a:pPr>
              <a:lnSpc>
                <a:spcPct val="112000"/>
              </a:lnSpc>
              <a:spcAft>
                <a:spcPts val="800"/>
              </a:spcAft>
            </a:pPr>
            <a:r>
              <a:rPr sz="1400">
                <a:solidFill>
                  <a:srgbClr val="7A2E2E"/>
                </a:solidFill>
                <a:latin typeface="Calibri"/>
              </a:rPr>
              <a:t>•  </a:t>
            </a:r>
            <a:r>
              <a:rPr sz="1400" b="0" i="0">
                <a:solidFill>
                  <a:srgbClr val="14171C"/>
                </a:solidFill>
                <a:latin typeface="Calibri"/>
              </a:rPr>
              <a:t>Register arm: exhaustive 750-character chunks at sentence boundaries, nothing dropped; ads flagged. Topic arm: sentence-level ad/boilerplate excision (5.9% of words; gate ≥ .90 precision, ≤ 2% content false positives) then ~500-content-word passages.</a:t>
            </a:r>
          </a:p>
          <a:p>
            <a:pPr>
              <a:lnSpc>
                <a:spcPct val="112000"/>
              </a:lnSpc>
              <a:spcAft>
                <a:spcPts val="800"/>
              </a:spcAft>
            </a:pPr>
            <a:r>
              <a:rPr sz="1400">
                <a:solidFill>
                  <a:srgbClr val="7A2E2E"/>
                </a:solidFill>
                <a:latin typeface="Calibri"/>
              </a:rPr>
              <a:t>•  </a:t>
            </a:r>
            <a:r>
              <a:rPr sz="1400" b="0" i="0">
                <a:solidFill>
                  <a:srgbClr val="14171C"/>
                </a:solidFill>
                <a:latin typeface="Calibri"/>
              </a:rPr>
              <a:t>Ideology: two-stage gated LLM classifier at passage level; DIME cfscores for hosts via a three-stage matching cascade with logged manual resolution.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1F3F5"/>
        </a:solidFill>
        <a:effectLst/>
      </p:bgPr>
    </p:bg>
    <p:spTree>
      <p:nvGrpSpPr>
        <p:cNvPr id="1" name=""/>
        <p:cNvGrpSpPr/>
        <p:nvPr/>
      </p:nvGrpSpPr>
      <p:grpSpPr/>
      <p:sp>
        <p:nvSpPr>
          <p:cNvPr id="2" name="TextBox 1"/>
          <p:cNvSpPr txBox="1"/>
          <p:nvPr/>
        </p:nvSpPr>
        <p:spPr>
          <a:xfrm>
            <a:off x="731520" y="6400800"/>
            <a:ext cx="8229600" cy="274320"/>
          </a:xfrm>
          <a:prstGeom prst="rect">
            <a:avLst/>
          </a:prstGeom>
          <a:noFill/>
        </p:spPr>
        <p:txBody>
          <a:bodyPr wrap="square" anchor="t" lIns="0" rIns="0" tIns="0" bIns="0">
            <a:spAutoFit/>
          </a:bodyPr>
          <a:lstStyle/>
          <a:p>
            <a:pPr algn="l">
              <a:lnSpc>
                <a:spcPct val="115000"/>
              </a:lnSpc>
              <a:spcAft>
                <a:spcPts val="600"/>
              </a:spcAft>
            </a:pPr>
            <a:r>
              <a:rPr sz="1000" b="0" i="0">
                <a:solidFill>
                  <a:srgbClr val="737B87"/>
                </a:solidFill>
                <a:latin typeface="Calibri"/>
              </a:rPr>
              <a:t>Talking at the Audience  ·  Yang &amp; Alvarez  ·  Linde Center, Caltech</a:t>
            </a:r>
          </a:p>
        </p:txBody>
      </p:sp>
      <p:sp>
        <p:nvSpPr>
          <p:cNvPr id="3" name="TextBox 2"/>
          <p:cNvSpPr txBox="1"/>
          <p:nvPr/>
        </p:nvSpPr>
        <p:spPr>
          <a:xfrm>
            <a:off x="10545775" y="6400800"/>
            <a:ext cx="914400" cy="274320"/>
          </a:xfrm>
          <a:prstGeom prst="rect">
            <a:avLst/>
          </a:prstGeom>
          <a:noFill/>
        </p:spPr>
        <p:txBody>
          <a:bodyPr wrap="square" anchor="t" lIns="0" rIns="0" tIns="0" bIns="0">
            <a:spAutoFit/>
          </a:bodyPr>
          <a:lstStyle/>
          <a:p>
            <a:pPr algn="r">
              <a:lnSpc>
                <a:spcPct val="115000"/>
              </a:lnSpc>
              <a:spcAft>
                <a:spcPts val="600"/>
              </a:spcAft>
            </a:pPr>
            <a:r>
              <a:rPr sz="1000" b="0" i="0">
                <a:solidFill>
                  <a:srgbClr val="737B87"/>
                </a:solidFill>
                <a:latin typeface="Calibri"/>
              </a:rPr>
              <a:t>24</a:t>
            </a:r>
          </a:p>
        </p:txBody>
      </p:sp>
      <p:sp>
        <p:nvSpPr>
          <p:cNvPr id="4" name="TextBox 3"/>
          <p:cNvSpPr txBox="1"/>
          <p:nvPr/>
        </p:nvSpPr>
        <p:spPr>
          <a:xfrm>
            <a:off x="731520" y="411480"/>
            <a:ext cx="7315200" cy="274320"/>
          </a:xfrm>
          <a:prstGeom prst="rect">
            <a:avLst/>
          </a:prstGeom>
          <a:noFill/>
        </p:spPr>
        <p:txBody>
          <a:bodyPr wrap="square" anchor="t" lIns="0" rIns="0" tIns="0" bIns="0">
            <a:spAutoFit/>
          </a:bodyPr>
          <a:lstStyle/>
          <a:p>
            <a:pPr algn="l">
              <a:lnSpc>
                <a:spcPct val="115000"/>
              </a:lnSpc>
              <a:spcAft>
                <a:spcPts val="600"/>
              </a:spcAft>
            </a:pPr>
            <a:r>
              <a:rPr sz="1100" b="1" i="0">
                <a:solidFill>
                  <a:srgbClr val="7A2E2E"/>
                </a:solidFill>
                <a:latin typeface="Calibri"/>
              </a:rPr>
              <a:t>BACKUP</a:t>
            </a:r>
          </a:p>
        </p:txBody>
      </p:sp>
      <p:sp>
        <p:nvSpPr>
          <p:cNvPr id="5" name="TextBox 4"/>
          <p:cNvSpPr txBox="1"/>
          <p:nvPr/>
        </p:nvSpPr>
        <p:spPr>
          <a:xfrm>
            <a:off x="731520" y="731520"/>
            <a:ext cx="10728655" cy="1097280"/>
          </a:xfrm>
          <a:prstGeom prst="rect">
            <a:avLst/>
          </a:prstGeom>
          <a:noFill/>
        </p:spPr>
        <p:txBody>
          <a:bodyPr wrap="square" anchor="t" lIns="0" rIns="0" tIns="0" bIns="0">
            <a:spAutoFit/>
          </a:bodyPr>
          <a:lstStyle/>
          <a:p>
            <a:pPr algn="l">
              <a:lnSpc>
                <a:spcPct val="105000"/>
              </a:lnSpc>
              <a:spcAft>
                <a:spcPts val="600"/>
              </a:spcAft>
            </a:pPr>
            <a:r>
              <a:rPr sz="3400" b="0" i="0">
                <a:solidFill>
                  <a:srgbClr val="14171C"/>
                </a:solidFill>
                <a:latin typeface="Georgia"/>
              </a:rPr>
              <a:t>Why CR2 and the wild bootstrap</a:t>
            </a:r>
          </a:p>
        </p:txBody>
      </p:sp>
      <p:sp>
        <p:nvSpPr>
          <p:cNvPr id="6" name="Rectangle 5"/>
          <p:cNvSpPr/>
          <p:nvPr/>
        </p:nvSpPr>
        <p:spPr>
          <a:xfrm>
            <a:off x="731520" y="1417320"/>
            <a:ext cx="822960" cy="28000"/>
          </a:xfrm>
          <a:prstGeom prst="rect">
            <a:avLst/>
          </a:prstGeom>
          <a:solidFill>
            <a:srgbClr val="7A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011680"/>
            <a:ext cx="10698480" cy="4023360"/>
          </a:xfrm>
          <a:prstGeom prst="rect">
            <a:avLst/>
          </a:prstGeom>
          <a:noFill/>
        </p:spPr>
        <p:txBody>
          <a:bodyPr wrap="square" lIns="0" rIns="0" tIns="0" bIns="0">
            <a:spAutoFit/>
          </a:bodyPr>
          <a:lstStyle/>
          <a:p>
            <a:pPr>
              <a:lnSpc>
                <a:spcPct val="112000"/>
              </a:lnSpc>
              <a:spcAft>
                <a:spcPts val="1000"/>
              </a:spcAft>
            </a:pPr>
            <a:r>
              <a:rPr sz="1500">
                <a:solidFill>
                  <a:srgbClr val="7A2E2E"/>
                </a:solidFill>
                <a:latin typeface="Calibri"/>
              </a:rPr>
              <a:t>•  </a:t>
            </a:r>
            <a:r>
              <a:rPr sz="1500" b="0" i="0">
                <a:solidFill>
                  <a:srgbClr val="14171C"/>
                </a:solidFill>
                <a:latin typeface="Calibri"/>
              </a:rPr>
              <a:t>On the 56-show political-podcast frame, 57% of clusters hold fewer than five listeners and the four largest (MeidasTouch, Shapiro, NBC Nightly News, The Daily) hold 47%.</a:t>
            </a:r>
          </a:p>
          <a:p>
            <a:pPr>
              <a:lnSpc>
                <a:spcPct val="112000"/>
              </a:lnSpc>
              <a:spcAft>
                <a:spcPts val="1000"/>
              </a:spcAft>
            </a:pPr>
            <a:r>
              <a:rPr sz="1500">
                <a:solidFill>
                  <a:srgbClr val="7A2E2E"/>
                </a:solidFill>
                <a:latin typeface="Calibri"/>
              </a:rPr>
              <a:t>•  </a:t>
            </a:r>
            <a:r>
              <a:rPr sz="1500" b="0" i="0">
                <a:solidFill>
                  <a:srgbClr val="14171C"/>
                </a:solidFill>
                <a:latin typeface="Calibri"/>
              </a:rPr>
              <a:t>Conventional CR1 standard errors are anti-conservative in that regime (Cameron, Gelbach &amp; Miller 2008); a naive p of .0009 on one exclusivity estimate became .17 under the wild bootstrap.</a:t>
            </a:r>
          </a:p>
          <a:p>
            <a:pPr>
              <a:lnSpc>
                <a:spcPct val="112000"/>
              </a:lnSpc>
              <a:spcAft>
                <a:spcPts val="1000"/>
              </a:spcAft>
            </a:pPr>
            <a:r>
              <a:rPr sz="1500">
                <a:solidFill>
                  <a:srgbClr val="7A2E2E"/>
                </a:solidFill>
                <a:latin typeface="Calibri"/>
              </a:rPr>
              <a:t>•  </a:t>
            </a:r>
            <a:r>
              <a:rPr sz="1500" b="0" i="0">
                <a:solidFill>
                  <a:srgbClr val="14171C"/>
                </a:solidFill>
                <a:latin typeface="Calibri"/>
              </a:rPr>
              <a:t>Every show-clustered estimate therefore reports CR2 (Bell–McCaffrey) with Satterthwaite degrees of freedom (Pustejovsky &amp; Tipton 2018) as the primary p, and a Rademacher wild cluster bootstrap (1,000–2,000 replications) alongside. The two agree on every estimate in the paper.</a:t>
            </a:r>
          </a:p>
          <a:p>
            <a:pPr>
              <a:lnSpc>
                <a:spcPct val="112000"/>
              </a:lnSpc>
              <a:spcAft>
                <a:spcPts val="1000"/>
              </a:spcAft>
            </a:pPr>
            <a:r>
              <a:rPr sz="1500">
                <a:solidFill>
                  <a:srgbClr val="7A2E2E"/>
                </a:solidFill>
                <a:latin typeface="Calibri"/>
              </a:rPr>
              <a:t>•  </a:t>
            </a:r>
            <a:r>
              <a:rPr sz="1500" b="0" i="0">
                <a:solidFill>
                  <a:srgbClr val="14171C"/>
                </a:solidFill>
                <a:latin typeface="Calibri"/>
              </a:rPr>
              <a:t>A show-level precision-weighted permutation of the exposure is reported as a low-power third check; leave-one-show-out and content-threshold sensitivity accompany every headline.</a:t>
            </a:r>
          </a:p>
          <a:p>
            <a:pPr>
              <a:lnSpc>
                <a:spcPct val="112000"/>
              </a:lnSpc>
              <a:spcAft>
                <a:spcPts val="1000"/>
              </a:spcAft>
            </a:pPr>
            <a:r>
              <a:rPr sz="1500">
                <a:solidFill>
                  <a:srgbClr val="7A2E2E"/>
                </a:solidFill>
                <a:latin typeface="Calibri"/>
              </a:rPr>
              <a:t>•  </a:t>
            </a:r>
            <a:r>
              <a:rPr sz="1500" b="0" i="0">
                <a:solidFill>
                  <a:srgbClr val="14171C"/>
                </a:solidFill>
                <a:latin typeface="Calibri"/>
              </a:rPr>
              <a:t>Composites are standardized on the full Kettering sample, never on the listener subsample; address is standardized on the 194-show corpus reference, and out-of-frame shows are scored against that same reference.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